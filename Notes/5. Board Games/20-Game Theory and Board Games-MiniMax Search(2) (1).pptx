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22"/>
  </p:notesMasterIdLst>
  <p:sldIdLst>
    <p:sldId id="272" r:id="rId3"/>
    <p:sldId id="289" r:id="rId4"/>
    <p:sldId id="280" r:id="rId5"/>
    <p:sldId id="279" r:id="rId6"/>
    <p:sldId id="283" r:id="rId7"/>
    <p:sldId id="281" r:id="rId8"/>
    <p:sldId id="282" r:id="rId9"/>
    <p:sldId id="274" r:id="rId10"/>
    <p:sldId id="284" r:id="rId11"/>
    <p:sldId id="275" r:id="rId12"/>
    <p:sldId id="287" r:id="rId13"/>
    <p:sldId id="288" r:id="rId14"/>
    <p:sldId id="276" r:id="rId15"/>
    <p:sldId id="290" r:id="rId16"/>
    <p:sldId id="273" r:id="rId17"/>
    <p:sldId id="285" r:id="rId18"/>
    <p:sldId id="277" r:id="rId19"/>
    <p:sldId id="286" r:id="rId20"/>
    <p:sldId id="278" r:id="rId21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>
        <p:scale>
          <a:sx n="80" d="100"/>
          <a:sy n="80" d="100"/>
        </p:scale>
        <p:origin x="1890" y="2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8B5717EA-0550-4883-B252-A3FF6ACD5B83}"/>
  </pc:docChgLst>
  <pc:docChgLst>
    <pc:chgData name="Oisin Cawley" userId="6b66d80f-e52a-4eb8-b588-9059f489afa4" providerId="ADAL" clId="{BD402C44-448E-4E84-80DF-5D5ED3EC73C6}"/>
    <pc:docChg chg="custSel addSld modSld sldOrd">
      <pc:chgData name="Oisin Cawley" userId="6b66d80f-e52a-4eb8-b588-9059f489afa4" providerId="ADAL" clId="{BD402C44-448E-4E84-80DF-5D5ED3EC73C6}" dt="2025-11-03T12:55:33.427" v="77" actId="404"/>
      <pc:docMkLst>
        <pc:docMk/>
      </pc:docMkLst>
      <pc:sldChg chg="ord">
        <pc:chgData name="Oisin Cawley" userId="6b66d80f-e52a-4eb8-b588-9059f489afa4" providerId="ADAL" clId="{BD402C44-448E-4E84-80DF-5D5ED3EC73C6}" dt="2025-11-03T12:48:19.933" v="74"/>
        <pc:sldMkLst>
          <pc:docMk/>
          <pc:sldMk cId="0" sldId="275"/>
        </pc:sldMkLst>
      </pc:sldChg>
      <pc:sldChg chg="modSp">
        <pc:chgData name="Oisin Cawley" userId="6b66d80f-e52a-4eb8-b588-9059f489afa4" providerId="ADAL" clId="{BD402C44-448E-4E84-80DF-5D5ED3EC73C6}" dt="2025-11-03T12:52:40.128" v="75" actId="404"/>
        <pc:sldMkLst>
          <pc:docMk/>
          <pc:sldMk cId="0" sldId="276"/>
        </pc:sldMkLst>
        <pc:spChg chg="mod">
          <ac:chgData name="Oisin Cawley" userId="6b66d80f-e52a-4eb8-b588-9059f489afa4" providerId="ADAL" clId="{BD402C44-448E-4E84-80DF-5D5ED3EC73C6}" dt="2025-11-03T12:52:40.128" v="75" actId="404"/>
          <ac:spMkLst>
            <pc:docMk/>
            <pc:sldMk cId="0" sldId="276"/>
            <ac:spMk id="18434" creationId="{00000000-0000-0000-0000-000000000000}"/>
          </ac:spMkLst>
        </pc:spChg>
      </pc:sldChg>
      <pc:sldChg chg="modSp">
        <pc:chgData name="Oisin Cawley" userId="6b66d80f-e52a-4eb8-b588-9059f489afa4" providerId="ADAL" clId="{BD402C44-448E-4E84-80DF-5D5ED3EC73C6}" dt="2025-11-03T12:55:33.427" v="77" actId="404"/>
        <pc:sldMkLst>
          <pc:docMk/>
          <pc:sldMk cId="0" sldId="278"/>
        </pc:sldMkLst>
        <pc:spChg chg="mod">
          <ac:chgData name="Oisin Cawley" userId="6b66d80f-e52a-4eb8-b588-9059f489afa4" providerId="ADAL" clId="{BD402C44-448E-4E84-80DF-5D5ED3EC73C6}" dt="2025-11-03T12:55:33.427" v="77" actId="404"/>
          <ac:spMkLst>
            <pc:docMk/>
            <pc:sldMk cId="0" sldId="278"/>
            <ac:spMk id="20482" creationId="{00000000-0000-0000-0000-000000000000}"/>
          </ac:spMkLst>
        </pc:spChg>
      </pc:sldChg>
      <pc:sldChg chg="delSp modSp ord delAnim">
        <pc:chgData name="Oisin Cawley" userId="6b66d80f-e52a-4eb8-b588-9059f489afa4" providerId="ADAL" clId="{BD402C44-448E-4E84-80DF-5D5ED3EC73C6}" dt="2025-11-03T12:46:25.659" v="71" actId="478"/>
        <pc:sldMkLst>
          <pc:docMk/>
          <pc:sldMk cId="0" sldId="281"/>
        </pc:sldMkLst>
        <pc:spChg chg="del mod">
          <ac:chgData name="Oisin Cawley" userId="6b66d80f-e52a-4eb8-b588-9059f489afa4" providerId="ADAL" clId="{BD402C44-448E-4E84-80DF-5D5ED3EC73C6}" dt="2025-11-03T12:46:25.659" v="71" actId="478"/>
          <ac:spMkLst>
            <pc:docMk/>
            <pc:sldMk cId="0" sldId="281"/>
            <ac:spMk id="7" creationId="{00000000-0000-0000-0000-000000000000}"/>
          </ac:spMkLst>
        </pc:spChg>
      </pc:sldChg>
      <pc:sldChg chg="modSp modAnim">
        <pc:chgData name="Oisin Cawley" userId="6b66d80f-e52a-4eb8-b588-9059f489afa4" providerId="ADAL" clId="{BD402C44-448E-4E84-80DF-5D5ED3EC73C6}" dt="2025-11-03T12:43:38.928" v="66" actId="404"/>
        <pc:sldMkLst>
          <pc:docMk/>
          <pc:sldMk cId="286817935" sldId="289"/>
        </pc:sldMkLst>
        <pc:spChg chg="mod">
          <ac:chgData name="Oisin Cawley" userId="6b66d80f-e52a-4eb8-b588-9059f489afa4" providerId="ADAL" clId="{BD402C44-448E-4E84-80DF-5D5ED3EC73C6}" dt="2025-11-03T12:43:38.928" v="66" actId="404"/>
          <ac:spMkLst>
            <pc:docMk/>
            <pc:sldMk cId="286817935" sldId="289"/>
            <ac:spMk id="14338" creationId="{00000000-0000-0000-0000-000000000000}"/>
          </ac:spMkLst>
        </pc:spChg>
      </pc:sldChg>
      <pc:sldChg chg="add ord modAnim">
        <pc:chgData name="Oisin Cawley" userId="6b66d80f-e52a-4eb8-b588-9059f489afa4" providerId="ADAL" clId="{BD402C44-448E-4E84-80DF-5D5ED3EC73C6}" dt="2025-11-03T12:54:22.748" v="76"/>
        <pc:sldMkLst>
          <pc:docMk/>
          <pc:sldMk cId="589869124" sldId="290"/>
        </pc:sldMkLst>
      </pc:sldChg>
    </pc:docChg>
  </pc:docChgLst>
  <pc:docChgLst>
    <pc:chgData name="Oisin Cawley" userId="6b66d80f-e52a-4eb8-b588-9059f489afa4" providerId="ADAL" clId="{6FA00E64-C0C2-4F0E-AA7E-BB41141EC0E6}"/>
  </pc:docChgLst>
  <pc:docChgLst>
    <pc:chgData name="Oisin Cawley" userId="c7ebb277-34aa-421f-b739-032ced270c1a" providerId="ADAL" clId="{CE09718F-10B7-4385-A68B-E05A581FF0CA}"/>
  </pc:docChgLst>
  <pc:docChgLst>
    <pc:chgData name="Oisin Cawley" userId="c7ebb277-34aa-421f-b739-032ced270c1a" providerId="ADAL" clId="{45CA0C7B-615D-4DC5-94A5-2A96E28D5C2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652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7" tIns="45724" rIns="91447" bIns="4572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455" y="0"/>
            <a:ext cx="2946652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7" tIns="45724" rIns="91447" bIns="4572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7287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671" y="4716493"/>
            <a:ext cx="5440333" cy="446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7" tIns="45724" rIns="91447" bIns="457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861"/>
            <a:ext cx="2946652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7" tIns="45724" rIns="91447" bIns="4572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455" y="9429861"/>
            <a:ext cx="2946652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7" tIns="45724" rIns="91447" bIns="4572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 err="1"/>
              <a:t>Reversi</a:t>
            </a:r>
            <a:r>
              <a:rPr lang="en-IE" baseline="0" dirty="0"/>
              <a:t> = 60 (8x8 but middle 4 squares are setup)</a:t>
            </a:r>
          </a:p>
          <a:p>
            <a:r>
              <a:rPr lang="en-IE" baseline="0" dirty="0"/>
              <a:t>Chess = Almost Infinite (but limited to the 50 move rule in competition chess)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0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4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Integer arithmetic</a:t>
            </a:r>
            <a:r>
              <a:rPr lang="en-IE" baseline="0" dirty="0"/>
              <a:t> is faster than floating point arithmetic on most machines.</a:t>
            </a:r>
          </a:p>
          <a:p>
            <a:r>
              <a:rPr lang="en-IE" baseline="0" dirty="0"/>
              <a:t>The range of scores should be less than the scores for winning or loosing, otherwise the AI will not try to win the game because other moves seem more rewarding.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53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7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F952F0A5-1513-456D-B773-E781FA2CA2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9E6AA133-01DF-469A-9437-D199D06A1F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T-UZkiOLv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Game Theory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sz="2400" dirty="0">
                <a:ea typeface="ＭＳ Ｐゴシック" pitchFamily="34" charset="-128"/>
              </a:rPr>
              <a:t>Game theory is the study of mathematical models of strategic interaction among rational decision-makers.</a:t>
            </a:r>
          </a:p>
          <a:p>
            <a:pPr marL="0" indent="0" eaLnBrk="1" hangingPunct="1">
              <a:buNone/>
            </a:pPr>
            <a:endParaRPr lang="en-IE" sz="2400" dirty="0">
              <a:ea typeface="ＭＳ Ｐゴシック" pitchFamily="34" charset="-128"/>
            </a:endParaRPr>
          </a:p>
          <a:p>
            <a:pPr marL="0" indent="0" eaLnBrk="1" hangingPunct="1">
              <a:buNone/>
            </a:pPr>
            <a:r>
              <a:rPr lang="en-IE" sz="2400" dirty="0">
                <a:ea typeface="ＭＳ Ｐゴシック" pitchFamily="34" charset="-128"/>
              </a:rPr>
              <a:t>However, only weak application to real-time computer games, but terminology stems from it.</a:t>
            </a:r>
          </a:p>
          <a:p>
            <a:pPr marL="0" indent="0" eaLnBrk="1" hangingPunct="1">
              <a:buNone/>
            </a:pPr>
            <a:endParaRPr lang="en-IE" sz="2400" dirty="0">
              <a:ea typeface="ＭＳ Ｐゴシック" pitchFamily="34" charset="-128"/>
            </a:endParaRPr>
          </a:p>
          <a:p>
            <a:pPr eaLnBrk="1" hangingPunct="1"/>
            <a:r>
              <a:rPr lang="en-IE" sz="2400" dirty="0">
                <a:ea typeface="ＭＳ Ｐゴシック" pitchFamily="34" charset="-128"/>
              </a:rPr>
              <a:t>Number of players</a:t>
            </a:r>
          </a:p>
          <a:p>
            <a:pPr eaLnBrk="1" hangingPunct="1"/>
            <a:r>
              <a:rPr lang="en-IE" sz="2400" dirty="0">
                <a:ea typeface="ＭＳ Ｐゴシック" pitchFamily="34" charset="-128"/>
              </a:rPr>
              <a:t>Each player’s move called a ‘ply’</a:t>
            </a:r>
          </a:p>
          <a:p>
            <a:pPr eaLnBrk="1" hangingPunct="1"/>
            <a:r>
              <a:rPr lang="en-IE" sz="2400" dirty="0">
                <a:ea typeface="ＭＳ Ｐゴシック" pitchFamily="34" charset="-128"/>
              </a:rPr>
              <a:t>One round of each players’ turn called a ‘move’</a:t>
            </a:r>
          </a:p>
          <a:p>
            <a:pPr eaLnBrk="1" hangingPunct="1"/>
            <a:r>
              <a:rPr lang="en-IE" sz="2400" dirty="0">
                <a:ea typeface="ＭＳ Ｐゴシック" pitchFamily="34" charset="-128"/>
              </a:rPr>
              <a:t>Goal is typically to win (you win if your opponent loses)</a:t>
            </a:r>
          </a:p>
          <a:p>
            <a:pPr eaLnBrk="1" hangingPunct="1"/>
            <a:endParaRPr lang="en-IE" sz="2400" dirty="0">
              <a:ea typeface="ＭＳ Ｐゴシック" pitchFamily="34" charset="-128"/>
            </a:endParaRPr>
          </a:p>
          <a:p>
            <a:pPr eaLnBrk="1" hangingPunct="1"/>
            <a:endParaRPr lang="en-IE" sz="2400" dirty="0">
              <a:ea typeface="ＭＳ Ｐゴシック" pitchFamily="34" charset="-128"/>
            </a:endParaRPr>
          </a:p>
          <a:p>
            <a:pPr eaLnBrk="1" hangingPunct="1"/>
            <a:endParaRPr lang="en-US" sz="2400" dirty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Board Game Properties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>
          <a:xfrm>
            <a:off x="457200" y="1125538"/>
            <a:ext cx="8435280" cy="5000625"/>
          </a:xfrm>
        </p:spPr>
        <p:txBody>
          <a:bodyPr/>
          <a:lstStyle/>
          <a:p>
            <a:pPr eaLnBrk="1" hangingPunct="1"/>
            <a:r>
              <a:rPr lang="en-US" sz="2400" dirty="0">
                <a:ea typeface="ＭＳ Ｐゴシック" pitchFamily="34" charset="-128"/>
              </a:rPr>
              <a:t>Two or more players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Turn based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Zero sum games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Perfect versus Imperfect Information</a:t>
            </a:r>
          </a:p>
          <a:p>
            <a:pPr lvl="1" eaLnBrk="1" hangingPunct="1"/>
            <a:r>
              <a:rPr lang="en-US" sz="2000" dirty="0">
                <a:ea typeface="ＭＳ Ｐゴシック" pitchFamily="34" charset="-128"/>
              </a:rPr>
              <a:t>Chess, Poker, Monopoly, Checkers, Backgammon</a:t>
            </a:r>
          </a:p>
          <a:p>
            <a:pPr eaLnBrk="1" hangingPunct="1"/>
            <a:endParaRPr lang="en-US" sz="2400" dirty="0">
              <a:ea typeface="ＭＳ Ｐゴシック" pitchFamily="34" charset="-128"/>
            </a:endParaRP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We will focus on two-player, zero-sum, perfect information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Transposition of games states is possible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State space is usually too large to search exhaustively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681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Game Tree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Any turn-based game can be represented as a game tree.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Each node represents a board position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Each branch represents one possible move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Each player gets to move at alternating levels on the tree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Board only changes when a player moves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Game Tree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Branching Factor</a:t>
            </a:r>
          </a:p>
          <a:p>
            <a:pPr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Number of branches = Number of possible moves</a:t>
            </a:r>
          </a:p>
          <a:p>
            <a:pPr lvl="1" eaLnBrk="1" hangingPunct="1"/>
            <a:r>
              <a:rPr lang="en-US" sz="1800" dirty="0">
                <a:ea typeface="ＭＳ Ｐゴシック" pitchFamily="34" charset="-128"/>
                <a:cs typeface="Courier New" pitchFamily="49" charset="0"/>
              </a:rPr>
              <a:t>e.g. in X’s and O’s its 9 for first move …</a:t>
            </a:r>
          </a:p>
          <a:p>
            <a:pPr lvl="1" eaLnBrk="1" hangingPunct="1"/>
            <a:r>
              <a:rPr lang="en-US" sz="1800" dirty="0">
                <a:ea typeface="ＭＳ Ｐゴシック" pitchFamily="34" charset="-128"/>
                <a:cs typeface="Courier New" pitchFamily="49" charset="0"/>
              </a:rPr>
              <a:t>Some games this can be very large</a:t>
            </a:r>
          </a:p>
          <a:p>
            <a:pPr lvl="1" eaLnBrk="1" hangingPunct="1"/>
            <a:r>
              <a:rPr lang="en-US" sz="1800" dirty="0">
                <a:ea typeface="ＭＳ Ｐゴシック" pitchFamily="34" charset="-128"/>
                <a:cs typeface="Courier New" pitchFamily="49" charset="0"/>
              </a:rPr>
              <a:t>When this = 0 (Terminal Position) game over</a:t>
            </a:r>
          </a:p>
          <a:p>
            <a:pPr eaLnBrk="1" hangingPunct="1"/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Depth Factor</a:t>
            </a:r>
          </a:p>
          <a:p>
            <a:pPr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Maximum number of turns</a:t>
            </a:r>
          </a:p>
          <a:p>
            <a:pPr lvl="1" eaLnBrk="1" hangingPunct="1"/>
            <a:r>
              <a:rPr lang="en-US" sz="1800" dirty="0">
                <a:ea typeface="ＭＳ Ｐゴシック" pitchFamily="34" charset="-128"/>
                <a:cs typeface="Courier New" pitchFamily="49" charset="0"/>
              </a:rPr>
              <a:t>X’s and O’s = 9</a:t>
            </a:r>
          </a:p>
          <a:p>
            <a:pPr lvl="1" eaLnBrk="1" hangingPunct="1"/>
            <a:r>
              <a:rPr lang="en-US" sz="1800" dirty="0" err="1">
                <a:ea typeface="ＭＳ Ｐゴシック" pitchFamily="34" charset="-128"/>
                <a:cs typeface="Courier New" pitchFamily="49" charset="0"/>
              </a:rPr>
              <a:t>Reversi</a:t>
            </a:r>
            <a:r>
              <a:rPr lang="en-US" sz="1800" dirty="0">
                <a:ea typeface="ＭＳ Ｐゴシック" pitchFamily="34" charset="-128"/>
                <a:cs typeface="Courier New" pitchFamily="49" charset="0"/>
              </a:rPr>
              <a:t> (Othello) ?</a:t>
            </a:r>
          </a:p>
          <a:p>
            <a:pPr lvl="1" eaLnBrk="1" hangingPunct="1"/>
            <a:r>
              <a:rPr lang="en-US" sz="1800" dirty="0">
                <a:ea typeface="ＭＳ Ｐゴシック" pitchFamily="34" charset="-128"/>
                <a:cs typeface="Courier New" pitchFamily="49" charset="0"/>
              </a:rPr>
              <a:t>Chess ?</a:t>
            </a:r>
          </a:p>
          <a:p>
            <a:pPr eaLnBrk="1" hangingPunct="1"/>
            <a:endParaRPr lang="en-US" sz="20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Preference is for small branching factor with deep tree, over shallow tree with huge branching factor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Game Tree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Transposition</a:t>
            </a:r>
          </a:p>
          <a:p>
            <a:pPr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Sometimes we get to the same board position several times in the same game</a:t>
            </a:r>
          </a:p>
          <a:p>
            <a:pPr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Sometimes we get to the same board position via different routes</a:t>
            </a:r>
          </a:p>
          <a:p>
            <a:pPr eaLnBrk="1" hangingPunct="1">
              <a:buFont typeface="Symbol" pitchFamily="18" charset="2"/>
              <a:buChar char="Þ"/>
            </a:pPr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Game Tree is not a real Tree at all !</a:t>
            </a:r>
          </a:p>
          <a:p>
            <a:pPr lvl="1"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Branches can merge as well as split</a:t>
            </a:r>
          </a:p>
          <a:p>
            <a:pPr lvl="1" eaLnBrk="1" hangingPunct="1"/>
            <a:r>
              <a:rPr lang="en-US" sz="2000" dirty="0">
                <a:ea typeface="ＭＳ Ｐゴシック" pitchFamily="34" charset="-128"/>
                <a:cs typeface="Courier New" pitchFamily="49" charset="0"/>
              </a:rPr>
              <a:t>e.g. </a:t>
            </a:r>
            <a:r>
              <a:rPr lang="en-US" sz="2000" dirty="0" err="1">
                <a:ea typeface="ＭＳ Ｐゴシック" pitchFamily="34" charset="-128"/>
                <a:cs typeface="Courier New" pitchFamily="49" charset="0"/>
              </a:rPr>
              <a:t>Nim</a:t>
            </a:r>
            <a:endParaRPr lang="en-US" sz="2000" dirty="0">
              <a:ea typeface="ＭＳ Ｐゴシック" pitchFamily="34" charset="-128"/>
              <a:cs typeface="Courier New" pitchFamily="49" charset="0"/>
            </a:endParaRPr>
          </a:p>
          <a:p>
            <a:pPr lvl="1" eaLnBrk="1" hangingPunct="1"/>
            <a:endParaRPr lang="en-US" sz="20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Algorithms should be adjusted to handle transposition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Game Tree - Example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Example: X’s and O’s</a:t>
            </a: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marL="360363" indent="-360363" eaLnBrk="1" hangingPunct="1"/>
            <a:r>
              <a:rPr lang="en-IE" sz="2000" b="1" dirty="0">
                <a:ea typeface="ＭＳ Ｐゴシック" pitchFamily="34" charset="-128"/>
                <a:cs typeface="Courier New" pitchFamily="49" charset="0"/>
              </a:rPr>
              <a:t>255,168</a:t>
            </a:r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 unique games of Tic Tac Toe to be played. </a:t>
            </a:r>
          </a:p>
          <a:p>
            <a:pPr marL="360363" indent="-360363" eaLnBrk="1" hangingPunct="1"/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131,184 are won by the first player</a:t>
            </a:r>
          </a:p>
          <a:p>
            <a:pPr marL="360363" indent="-360363" eaLnBrk="1" hangingPunct="1"/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77,904 are won by the second player</a:t>
            </a:r>
          </a:p>
          <a:p>
            <a:pPr marL="360363" indent="-360363" eaLnBrk="1" hangingPunct="1"/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46,080 are drawn.</a:t>
            </a:r>
          </a:p>
          <a:p>
            <a:pPr eaLnBrk="1" hangingPunct="1">
              <a:buNone/>
            </a:pPr>
            <a:endParaRPr lang="en-US" sz="2000" dirty="0">
              <a:ea typeface="ＭＳ Ｐゴシック" pitchFamily="34" charset="-128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616" y="1556792"/>
            <a:ext cx="7880768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Search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dirty="0">
                <a:ea typeface="ＭＳ Ｐゴシック" pitchFamily="34" charset="-128"/>
              </a:rPr>
              <a:t>Has dominated turn-based AI</a:t>
            </a:r>
          </a:p>
          <a:p>
            <a:pPr eaLnBrk="1" hangingPunct="1">
              <a:lnSpc>
                <a:spcPct val="80000"/>
              </a:lnSpc>
            </a:pPr>
            <a:r>
              <a:rPr lang="en-GB" dirty="0">
                <a:ea typeface="ＭＳ Ｐゴシック" pitchFamily="34" charset="-128"/>
              </a:rPr>
              <a:t>Assume two players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1900" dirty="0">
                <a:ea typeface="ＭＳ Ｐゴシック" pitchFamily="34" charset="-128"/>
              </a:rPr>
              <a:t>Called Min and Max</a:t>
            </a:r>
          </a:p>
          <a:p>
            <a:pPr eaLnBrk="1" hangingPunct="1">
              <a:lnSpc>
                <a:spcPct val="80000"/>
              </a:lnSpc>
            </a:pPr>
            <a:r>
              <a:rPr lang="en-GB" dirty="0">
                <a:ea typeface="ＭＳ Ｐゴシック" pitchFamily="34" charset="-128"/>
              </a:rPr>
              <a:t>Max is trying to win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1900" dirty="0">
                <a:ea typeface="ＭＳ Ｐゴシック" pitchFamily="34" charset="-128"/>
              </a:rPr>
              <a:t>We want to MAXIMIZE her advantage</a:t>
            </a:r>
          </a:p>
          <a:p>
            <a:pPr eaLnBrk="1" hangingPunct="1">
              <a:lnSpc>
                <a:spcPct val="80000"/>
              </a:lnSpc>
            </a:pPr>
            <a:r>
              <a:rPr lang="en-GB" dirty="0">
                <a:ea typeface="ＭＳ Ｐゴシック" pitchFamily="34" charset="-128"/>
              </a:rPr>
              <a:t>Min is the opponent (also trying to win)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1900" dirty="0">
                <a:ea typeface="ＭＳ Ｐゴシック" pitchFamily="34" charset="-128"/>
              </a:rPr>
              <a:t>She wants to MINIMIZE Max</a:t>
            </a:r>
            <a:r>
              <a:rPr lang="en-GB" altLang="en-US" sz="1900" dirty="0">
                <a:ea typeface="ＭＳ Ｐゴシック" pitchFamily="34" charset="-128"/>
              </a:rPr>
              <a:t>’</a:t>
            </a:r>
            <a:r>
              <a:rPr lang="en-GB" sz="1900" dirty="0">
                <a:ea typeface="ＭＳ Ｐゴシック" pitchFamily="34" charset="-128"/>
              </a:rPr>
              <a:t>s advantage</a:t>
            </a:r>
          </a:p>
          <a:p>
            <a:pPr eaLnBrk="1" hangingPunct="1">
              <a:lnSpc>
                <a:spcPct val="80000"/>
              </a:lnSpc>
            </a:pPr>
            <a:r>
              <a:rPr lang="en-GB" dirty="0">
                <a:ea typeface="ＭＳ Ｐゴシック" pitchFamily="34" charset="-128"/>
              </a:rPr>
              <a:t>Assume: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1900" dirty="0">
                <a:ea typeface="ＭＳ Ｐゴシック" pitchFamily="34" charset="-128"/>
              </a:rPr>
              <a:t>Both players have the same knowledge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1900" dirty="0">
                <a:ea typeface="ＭＳ Ｐゴシック" pitchFamily="34" charset="-128"/>
              </a:rPr>
              <a:t>Min will always move to a state that is worst for Max</a:t>
            </a:r>
          </a:p>
          <a:p>
            <a:pPr lvl="2" eaLnBrk="1" hangingPunct="1">
              <a:lnSpc>
                <a:spcPct val="80000"/>
              </a:lnSpc>
            </a:pPr>
            <a:r>
              <a:rPr lang="en-GB" sz="1500" dirty="0">
                <a:ea typeface="ＭＳ Ｐゴシック" pitchFamily="34" charset="-128"/>
              </a:rPr>
              <a:t>When I search for responses to my move I must remember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Search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 dirty="0">
                <a:ea typeface="ＭＳ Ｐゴシック" pitchFamily="34" charset="-128"/>
              </a:rPr>
              <a:t>Assume we can score each state in some manner</a:t>
            </a:r>
          </a:p>
          <a:p>
            <a:pPr lvl="1" eaLnBrk="1" hangingPunct="1"/>
            <a:r>
              <a:rPr lang="en-GB" sz="2400" dirty="0" err="1">
                <a:ea typeface="ＭＳ Ｐゴシック" pitchFamily="34" charset="-128"/>
              </a:rPr>
              <a:t>Board.Evaluate</a:t>
            </a:r>
            <a:r>
              <a:rPr lang="en-GB" sz="2400" dirty="0">
                <a:ea typeface="ＭＳ Ｐゴシック" pitchFamily="34" charset="-128"/>
              </a:rPr>
              <a:t>(player);</a:t>
            </a:r>
          </a:p>
          <a:p>
            <a:pPr eaLnBrk="1" hangingPunct="1"/>
            <a:r>
              <a:rPr lang="en-GB" sz="2800" dirty="0">
                <a:ea typeface="ＭＳ Ｐゴシック" pitchFamily="34" charset="-128"/>
              </a:rPr>
              <a:t>Label each level on the search tree according to whose move it is</a:t>
            </a:r>
          </a:p>
          <a:p>
            <a:pPr lvl="1" eaLnBrk="1" hangingPunct="1"/>
            <a:r>
              <a:rPr lang="en-GB" sz="2400" dirty="0">
                <a:ea typeface="ＭＳ Ｐゴシック" pitchFamily="34" charset="-128"/>
              </a:rPr>
              <a:t>Each level is called a ply! (represents one player move)</a:t>
            </a:r>
          </a:p>
          <a:p>
            <a:pPr eaLnBrk="1" hangingPunct="1"/>
            <a:r>
              <a:rPr lang="en-GB" sz="2800" dirty="0">
                <a:ea typeface="ＭＳ Ｐゴシック" pitchFamily="34" charset="-128"/>
              </a:rPr>
              <a:t>If Max is parent then choose maximum value state (node) from the child nodes</a:t>
            </a:r>
          </a:p>
          <a:p>
            <a:pPr eaLnBrk="1" hangingPunct="1"/>
            <a:r>
              <a:rPr lang="en-GB" sz="2800" dirty="0">
                <a:ea typeface="ＭＳ Ｐゴシック" pitchFamily="34" charset="-128"/>
              </a:rPr>
              <a:t>If Min is the parent then choose minimum value state (node) from the child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Algorithm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/>
          <a:lstStyle/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function MINIMAX(N)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begin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N is deep enough then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the estimated score of this leaf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else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Let N1, N2, .., Nm be the successors of N;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N is a Min node then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min{MINIMAX(N1), .., MINIMAX(Nm)}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else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max{MINIMAX(N1), .., MINIMAX(Nm)}</a:t>
            </a:r>
          </a:p>
          <a:p>
            <a:pPr eaLnBrk="1" hangingPunct="1">
              <a:buNone/>
            </a:pPr>
            <a:r>
              <a:rPr lang="en-GB" sz="20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end MINIMAX;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Example – 7 Split-</a:t>
            </a:r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Nim</a:t>
            </a:r>
            <a:endParaRPr lang="en-GB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>
                <a:ea typeface="ＭＳ Ｐゴシック" pitchFamily="34" charset="-128"/>
              </a:rPr>
              <a:t>7 matches/coins </a:t>
            </a:r>
            <a:r>
              <a:rPr lang="en-GB" sz="2400" dirty="0">
                <a:ea typeface="ＭＳ Ｐゴシック" pitchFamily="34" charset="-128"/>
              </a:rPr>
              <a:t>are placed in a heap between two players</a:t>
            </a:r>
          </a:p>
          <a:p>
            <a:pPr eaLnBrk="1" hangingPunct="1"/>
            <a:r>
              <a:rPr lang="en-GB" sz="2400" dirty="0">
                <a:ea typeface="ＭＳ Ｐゴシック" pitchFamily="34" charset="-128"/>
              </a:rPr>
              <a:t>At each move a player must divide a heap into two heaps with unequal number of matches in each</a:t>
            </a:r>
          </a:p>
          <a:p>
            <a:pPr eaLnBrk="1" hangingPunct="1"/>
            <a:r>
              <a:rPr lang="en-GB" sz="2400" dirty="0">
                <a:ea typeface="ＭＳ Ｐゴシック" pitchFamily="34" charset="-128"/>
              </a:rPr>
              <a:t>Assertion: The first player to make a move loses!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Map space for 7 matches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Draw Game Tree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Mark all final states as 0 for loss and 1 for win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Work backwards to 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3933056"/>
            <a:ext cx="3899759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547664" y="5157192"/>
            <a:ext cx="2138536" cy="33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Transposition</a:t>
            </a:r>
          </a:p>
        </p:txBody>
      </p:sp>
      <p:cxnSp>
        <p:nvCxnSpPr>
          <p:cNvPr id="8" name="Straight Arrow Connector 7"/>
          <p:cNvCxnSpPr>
            <a:stCxn id="6" idx="3"/>
          </p:cNvCxnSpPr>
          <p:nvPr/>
        </p:nvCxnSpPr>
        <p:spPr>
          <a:xfrm flipV="1">
            <a:off x="3686200" y="5229200"/>
            <a:ext cx="2253952" cy="97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- Example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MAX is the player (initial best value move set to -</a:t>
            </a:r>
            <a:r>
              <a:rPr lang="en-US" sz="2800" dirty="0">
                <a:ea typeface="ＭＳ Ｐゴシック" pitchFamily="34" charset="-128"/>
                <a:cs typeface="Courier New" pitchFamily="49" charset="0"/>
              </a:rPr>
              <a:t>∞</a:t>
            </a: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)</a:t>
            </a:r>
          </a:p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MIN is the computer (initial best </a:t>
            </a:r>
            <a:r>
              <a:rPr lang="en-US" sz="2400">
                <a:ea typeface="ＭＳ Ｐゴシック" pitchFamily="34" charset="-128"/>
                <a:cs typeface="Courier New" pitchFamily="49" charset="0"/>
              </a:rPr>
              <a:t>value move set </a:t>
            </a: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to +</a:t>
            </a:r>
            <a:r>
              <a:rPr lang="en-US" sz="2800" dirty="0">
                <a:ea typeface="ＭＳ Ｐゴシック" pitchFamily="34" charset="-128"/>
                <a:cs typeface="Courier New" pitchFamily="49" charset="0"/>
              </a:rPr>
              <a:t>∞</a:t>
            </a: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2239863"/>
            <a:ext cx="70199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- Performance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Algorithm is: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O(d) in memory</a:t>
            </a:r>
          </a:p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	where d = maximum depth of search or depth of tree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O(</a:t>
            </a:r>
            <a:r>
              <a:rPr lang="en-US" sz="2400" dirty="0" err="1">
                <a:ea typeface="ＭＳ Ｐゴシック" pitchFamily="34" charset="-128"/>
                <a:cs typeface="Courier New" pitchFamily="49" charset="0"/>
              </a:rPr>
              <a:t>nd</a:t>
            </a: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) in time</a:t>
            </a:r>
          </a:p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	where n is the number of possible moves at each position</a:t>
            </a: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Very inefficient with wide and deep trees.</a:t>
            </a: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In Reality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800" dirty="0">
                <a:ea typeface="ＭＳ Ｐゴシック" pitchFamily="34" charset="-128"/>
              </a:rPr>
              <a:t>In most games an exhaustive look ahead is impossible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ea typeface="ＭＳ Ｐゴシック" pitchFamily="34" charset="-128"/>
              </a:rPr>
              <a:t>Instead we rely on N-move look-ahead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ea typeface="ＭＳ Ｐゴシック" pitchFamily="34" charset="-128"/>
              </a:rPr>
              <a:t>Set a depth level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ea typeface="ＭＳ Ｐゴシック" pitchFamily="34" charset="-128"/>
              </a:rPr>
              <a:t>We cannot mark end point as win or lose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ea typeface="ＭＳ Ｐゴシック" pitchFamily="34" charset="-128"/>
              </a:rPr>
              <a:t>So we estimate it</a:t>
            </a:r>
            <a:r>
              <a:rPr lang="en-GB" altLang="en-US" sz="2400" dirty="0">
                <a:ea typeface="ＭＳ Ｐゴシック" pitchFamily="34" charset="-128"/>
              </a:rPr>
              <a:t>’</a:t>
            </a:r>
            <a:r>
              <a:rPr lang="en-GB" sz="2400" dirty="0">
                <a:ea typeface="ＭＳ Ｐゴシック" pitchFamily="34" charset="-128"/>
              </a:rPr>
              <a:t>s worth using a heuristic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ea typeface="ＭＳ Ｐゴシック" pitchFamily="34" charset="-128"/>
              </a:rPr>
              <a:t>Game graphs are searched by PLY (level)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ea typeface="ＭＳ Ｐゴシック" pitchFamily="34" charset="-128"/>
              </a:rPr>
              <a:t>This is determined by space and time considerations</a:t>
            </a:r>
          </a:p>
          <a:p>
            <a:pPr eaLnBrk="1" hangingPunct="1">
              <a:lnSpc>
                <a:spcPct val="90000"/>
              </a:lnSpc>
            </a:pPr>
            <a:endParaRPr lang="en-GB" sz="2800" dirty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Game Tree - Example</a:t>
            </a:r>
          </a:p>
        </p:txBody>
      </p:sp>
      <p:sp>
        <p:nvSpPr>
          <p:cNvPr id="1433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>
                <a:ea typeface="ＭＳ Ｐゴシック" pitchFamily="34" charset="-128"/>
                <a:cs typeface="Courier New" pitchFamily="49" charset="0"/>
              </a:rPr>
              <a:t>Example: X’s and O’s</a:t>
            </a: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eaLnBrk="1" hangingPunct="1">
              <a:buNone/>
            </a:pPr>
            <a:endParaRPr lang="en-US" sz="2400" dirty="0">
              <a:ea typeface="ＭＳ Ｐゴシック" pitchFamily="34" charset="-128"/>
              <a:cs typeface="Courier New" pitchFamily="49" charset="0"/>
            </a:endParaRPr>
          </a:p>
          <a:p>
            <a:pPr marL="360363" indent="-360363" eaLnBrk="1" hangingPunct="1"/>
            <a:r>
              <a:rPr lang="en-IE" sz="2000" b="1" dirty="0">
                <a:ea typeface="ＭＳ Ｐゴシック" pitchFamily="34" charset="-128"/>
                <a:cs typeface="Courier New" pitchFamily="49" charset="0"/>
              </a:rPr>
              <a:t>255,168</a:t>
            </a:r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 unique games of Tic Tac Toe to be played. </a:t>
            </a:r>
          </a:p>
          <a:p>
            <a:pPr marL="360363" indent="-360363" eaLnBrk="1" hangingPunct="1"/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131,184 are won by the first player</a:t>
            </a:r>
          </a:p>
          <a:p>
            <a:pPr marL="360363" indent="-360363" eaLnBrk="1" hangingPunct="1"/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77,904 are won by the second player</a:t>
            </a:r>
          </a:p>
          <a:p>
            <a:pPr marL="360363" indent="-360363" eaLnBrk="1" hangingPunct="1"/>
            <a:r>
              <a:rPr lang="en-IE" sz="2000" dirty="0">
                <a:ea typeface="ＭＳ Ｐゴシック" pitchFamily="34" charset="-128"/>
                <a:cs typeface="Courier New" pitchFamily="49" charset="0"/>
              </a:rPr>
              <a:t>46,080 are drawn.</a:t>
            </a:r>
          </a:p>
          <a:p>
            <a:pPr eaLnBrk="1" hangingPunct="1">
              <a:buNone/>
            </a:pPr>
            <a:endParaRPr lang="en-US" sz="2000" dirty="0">
              <a:ea typeface="ＭＳ Ｐゴシック" pitchFamily="34" charset="-128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616" y="1556792"/>
            <a:ext cx="7880768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5"/>
          <p:cNvSpPr txBox="1">
            <a:spLocks/>
          </p:cNvSpPr>
          <p:nvPr/>
        </p:nvSpPr>
        <p:spPr bwMode="auto">
          <a:xfrm rot="20998838">
            <a:off x="5655317" y="5301060"/>
            <a:ext cx="3281104" cy="1152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pitchFamily="34" charset="0"/>
              <a:buNone/>
            </a:pPr>
            <a:r>
              <a:rPr lang="en-IE" sz="2400" dirty="0">
                <a:ea typeface="ＭＳ Ｐゴシック" pitchFamily="34" charset="-128"/>
                <a:cs typeface="Courier New" pitchFamily="49" charset="0"/>
              </a:rPr>
              <a:t>Using minimax how might we evaluate the leaf nodes?</a:t>
            </a:r>
            <a:endParaRPr lang="en-US" sz="2000" dirty="0">
              <a:ea typeface="ＭＳ Ｐゴシック" pitchFamily="34" charset="-128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86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3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Static Evaluation Function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sz="2400" dirty="0">
                <a:ea typeface="ＭＳ Ｐゴシック" pitchFamily="34" charset="-128"/>
              </a:rPr>
              <a:t>Look at the current state of play and score it from one player’s point of view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>
                <a:ea typeface="ＭＳ Ｐゴシック" pitchFamily="34" charset="-128"/>
              </a:rPr>
              <a:t>Typically a signed integer (why </a:t>
            </a:r>
            <a:r>
              <a:rPr lang="en-GB" sz="2000" dirty="0" err="1">
                <a:ea typeface="ＭＳ Ｐゴシック" pitchFamily="34" charset="-128"/>
              </a:rPr>
              <a:t>int</a:t>
            </a:r>
            <a:r>
              <a:rPr lang="en-GB" sz="2000" dirty="0">
                <a:ea typeface="ＭＳ Ｐゴシック" pitchFamily="34" charset="-128"/>
              </a:rPr>
              <a:t> not float?)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>
                <a:ea typeface="ＭＳ Ｐゴシック" pitchFamily="34" charset="-128"/>
              </a:rPr>
              <a:t>But within what range?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ea typeface="ＭＳ Ｐゴシック" pitchFamily="34" charset="-128"/>
              </a:rPr>
              <a:t>If board in terminal position then 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GB" sz="2000" dirty="0">
                <a:ea typeface="ＭＳ Ｐゴシック" pitchFamily="34" charset="-128"/>
              </a:rPr>
              <a:t>	score = final score </a:t>
            </a:r>
          </a:p>
          <a:p>
            <a:pPr eaLnBrk="1" hangingPunct="1">
              <a:lnSpc>
                <a:spcPct val="80000"/>
              </a:lnSpc>
            </a:pPr>
            <a:endParaRPr lang="en-GB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ea typeface="ＭＳ Ｐゴシック" pitchFamily="34" charset="-128"/>
              </a:rPr>
              <a:t>Simple Move Choice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>
                <a:ea typeface="ＭＳ Ｐゴシック" pitchFamily="34" charset="-128"/>
              </a:rPr>
              <a:t>Highest evaluation score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>
                <a:ea typeface="ＭＳ Ｐゴシック" pitchFamily="34" charset="-128"/>
              </a:rPr>
              <a:t>But it’s not that simple !!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ea typeface="ＭＳ Ｐゴシック" pitchFamily="34" charset="-128"/>
              </a:rPr>
              <a:t>Harder to score mid way through game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 err="1">
                <a:ea typeface="ＭＳ Ｐゴシック" pitchFamily="34" charset="-128"/>
              </a:rPr>
              <a:t>Reversi</a:t>
            </a:r>
            <a:r>
              <a:rPr lang="en-GB" sz="2000" dirty="0">
                <a:ea typeface="ＭＳ Ｐゴシック" pitchFamily="34" charset="-128"/>
              </a:rPr>
              <a:t> ?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>
                <a:ea typeface="ＭＳ Ｐゴシック" pitchFamily="34" charset="-128"/>
              </a:rPr>
              <a:t>Chess ?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dirty="0">
                <a:ea typeface="ＭＳ Ｐゴシック" pitchFamily="34" charset="-128"/>
              </a:rPr>
              <a:t>GO (see </a:t>
            </a:r>
            <a:r>
              <a:rPr lang="en-IE" sz="2000" dirty="0">
                <a:ea typeface="ＭＳ Ｐゴシック" pitchFamily="34" charset="-128"/>
                <a:hlinkClick r:id="rId3"/>
              </a:rPr>
              <a:t>Lee Sedol vs AlphaGo Move 37 reactions and analysis</a:t>
            </a:r>
            <a:r>
              <a:rPr lang="en-IE" sz="2000" dirty="0">
                <a:ea typeface="ＭＳ Ｐゴシック" pitchFamily="34" charset="-128"/>
              </a:rPr>
              <a:t>)</a:t>
            </a:r>
            <a:endParaRPr lang="en-GB" sz="20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ea typeface="ＭＳ Ｐゴシック" pitchFamily="34" charset="-128"/>
              </a:rPr>
              <a:t>We need to look ahead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Example – Chess Evaluate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Checkmate – worth more than rest combined</a:t>
            </a:r>
          </a:p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Simplest is point value for material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Pawn 1, Knight 3, Bishop 3, Rook 4, Queen 9, King </a:t>
            </a:r>
            <a:r>
              <a:rPr lang="en-IE" dirty="0">
                <a:ea typeface="ＭＳ Ｐゴシック" pitchFamily="34" charset="-128"/>
              </a:rPr>
              <a:t>∞</a:t>
            </a:r>
            <a:r>
              <a:rPr lang="en-IE" sz="2000" dirty="0">
                <a:ea typeface="ＭＳ Ｐゴシック" pitchFamily="34" charset="-128"/>
              </a:rPr>
              <a:t>?</a:t>
            </a:r>
          </a:p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But also piece combinations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Rook and a bishop 8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Pair of rooks 10</a:t>
            </a:r>
          </a:p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Typically, use weighted function: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c1*material + c2*mobility + c3*king safety + c4*centre control + ... </a:t>
            </a:r>
          </a:p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What </a:t>
            </a:r>
            <a:r>
              <a:rPr lang="en-IE" sz="2400">
                <a:ea typeface="ＭＳ Ｐゴシック" pitchFamily="34" charset="-128"/>
              </a:rPr>
              <a:t>about playing for a </a:t>
            </a:r>
            <a:r>
              <a:rPr lang="en-IE" sz="2400" dirty="0">
                <a:ea typeface="ＭＳ Ｐゴシック" pitchFamily="34" charset="-128"/>
              </a:rPr>
              <a:t>draw?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Can be good (i.e. if opponent is strong)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Can be bad (i.e. if opponent is weak)</a:t>
            </a:r>
          </a:p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Adjust with contempt heuristic factor</a:t>
            </a:r>
          </a:p>
          <a:p>
            <a:pPr lvl="1" eaLnBrk="1" hangingPunct="1">
              <a:lnSpc>
                <a:spcPct val="80000"/>
              </a:lnSpc>
            </a:pPr>
            <a:r>
              <a:rPr lang="en-IE" sz="2000" dirty="0">
                <a:ea typeface="ＭＳ Ｐゴシック" pitchFamily="34" charset="-128"/>
              </a:rPr>
              <a:t>Makes a draw (0) slightly lower (play to win)</a:t>
            </a:r>
          </a:p>
          <a:p>
            <a:pPr eaLnBrk="1" hangingPunct="1">
              <a:lnSpc>
                <a:spcPct val="80000"/>
              </a:lnSpc>
            </a:pPr>
            <a:r>
              <a:rPr lang="en-IE" sz="2400" dirty="0">
                <a:ea typeface="ＭＳ Ｐゴシック" pitchFamily="34" charset="-128"/>
              </a:rPr>
              <a:t>Is the objective really to win??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Horizon Effect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 dirty="0">
                <a:ea typeface="ＭＳ Ｐゴシック" pitchFamily="34" charset="-128"/>
              </a:rPr>
              <a:t>Sometimes our end state is estimated to be very good 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But if we looked another ply ahead we would see that it is disastrous</a:t>
            </a:r>
          </a:p>
          <a:p>
            <a:pPr eaLnBrk="1" hangingPunct="1"/>
            <a:endParaRPr lang="en-GB" sz="2400" dirty="0">
              <a:ea typeface="ＭＳ Ｐゴシック" pitchFamily="34" charset="-128"/>
            </a:endParaRPr>
          </a:p>
          <a:p>
            <a:pPr eaLnBrk="1" hangingPunct="1"/>
            <a:r>
              <a:rPr lang="en-GB" sz="2400" dirty="0">
                <a:ea typeface="ＭＳ Ｐゴシック" pitchFamily="34" charset="-128"/>
              </a:rPr>
              <a:t>One solution is to use Extensions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A form of iterative deepening on the most promising nodes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In states that look exceptionally good we look deeper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We can look a number of plies ahead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Not perfect since we are really just moving the horizon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Heavily reliant on a good evaluation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Quiescence Pruning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 dirty="0">
                <a:ea typeface="ＭＳ Ｐゴシック" pitchFamily="34" charset="-128"/>
              </a:rPr>
              <a:t>When play becomes relatively stable then don’t bother with deep searches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They won’t give us much better information</a:t>
            </a:r>
          </a:p>
          <a:p>
            <a:pPr eaLnBrk="1" hangingPunct="1"/>
            <a:r>
              <a:rPr lang="en-GB" sz="2400" dirty="0">
                <a:ea typeface="ＭＳ Ｐゴシック" pitchFamily="34" charset="-128"/>
              </a:rPr>
              <a:t>Instead use time to search wider or most promising nodes</a:t>
            </a:r>
          </a:p>
          <a:p>
            <a:pPr eaLnBrk="1" hangingPunct="1"/>
            <a:r>
              <a:rPr lang="en-GB" sz="2400" dirty="0">
                <a:ea typeface="ＭＳ Ｐゴシック" pitchFamily="34" charset="-128"/>
              </a:rPr>
              <a:t>Prune a branch if its heuristic value does not change much over successive searches</a:t>
            </a:r>
          </a:p>
          <a:p>
            <a:pPr lvl="1" eaLnBrk="1" hangingPunct="1"/>
            <a:r>
              <a:rPr lang="en-GB" sz="2000" dirty="0">
                <a:ea typeface="ＭＳ Ｐゴシック" pitchFamily="34" charset="-128"/>
              </a:rPr>
              <a:t>Heuristic value probably very accurate</a:t>
            </a:r>
          </a:p>
          <a:p>
            <a:pPr eaLnBrk="1" hangingPunct="1"/>
            <a:r>
              <a:rPr lang="en-GB" sz="2400" dirty="0">
                <a:ea typeface="ＭＳ Ｐゴシック" pitchFamily="34" charset="-128"/>
              </a:rPr>
              <a:t>Combined with Extensions focuses on most promising  branches of the </a:t>
            </a:r>
            <a:r>
              <a:rPr lang="en-GB" sz="2400">
                <a:ea typeface="ＭＳ Ｐゴシック" pitchFamily="34" charset="-128"/>
              </a:rPr>
              <a:t>search tree</a:t>
            </a:r>
            <a:endParaRPr lang="en-GB" sz="2400" dirty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18</a:t>
            </a:fld>
            <a:endParaRPr lang="en-I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Conclusion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 dirty="0">
                <a:ea typeface="ＭＳ Ｐゴシック" pitchFamily="34" charset="-128"/>
              </a:rPr>
              <a:t>Min-Max is good</a:t>
            </a:r>
          </a:p>
          <a:p>
            <a:pPr lvl="1" eaLnBrk="1" hangingPunct="1"/>
            <a:r>
              <a:rPr lang="en-GB" sz="2400" dirty="0">
                <a:ea typeface="ＭＳ Ｐゴシック" pitchFamily="34" charset="-128"/>
              </a:rPr>
              <a:t>It works</a:t>
            </a:r>
          </a:p>
          <a:p>
            <a:pPr lvl="1" eaLnBrk="1" hangingPunct="1"/>
            <a:r>
              <a:rPr lang="en-GB" sz="2400" dirty="0">
                <a:ea typeface="ＭＳ Ｐゴシック" pitchFamily="34" charset="-128"/>
              </a:rPr>
              <a:t>It is simple</a:t>
            </a:r>
          </a:p>
          <a:p>
            <a:pPr eaLnBrk="1" hangingPunct="1"/>
            <a:r>
              <a:rPr lang="en-GB" sz="2800" dirty="0">
                <a:ea typeface="ＭＳ Ｐゴシック" pitchFamily="34" charset="-128"/>
              </a:rPr>
              <a:t>However we need to reduce our search space as much as possible</a:t>
            </a:r>
          </a:p>
          <a:p>
            <a:pPr lvl="1" eaLnBrk="1" hangingPunct="1"/>
            <a:r>
              <a:rPr lang="en-GB" sz="2400" dirty="0">
                <a:ea typeface="ＭＳ Ｐゴシック" pitchFamily="34" charset="-128"/>
              </a:rPr>
              <a:t>Because it is so large</a:t>
            </a:r>
          </a:p>
          <a:p>
            <a:pPr eaLnBrk="1" hangingPunct="1"/>
            <a:r>
              <a:rPr lang="en-GB" sz="2800" dirty="0">
                <a:ea typeface="ＭＳ Ｐゴシック" pitchFamily="34" charset="-128"/>
              </a:rPr>
              <a:t>We need a way to prune our search space....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19</a:t>
            </a:fld>
            <a:endParaRPr lang="en-I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9450</TotalTime>
  <Words>1311</Words>
  <Application>Microsoft Office PowerPoint</Application>
  <PresentationFormat>On-screen Show (4:3)</PresentationFormat>
  <Paragraphs>219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Calibri</vt:lpstr>
      <vt:lpstr>Courier New</vt:lpstr>
      <vt:lpstr>Symbol</vt:lpstr>
      <vt:lpstr>Wingdings 2</vt:lpstr>
      <vt:lpstr>Custom Design</vt:lpstr>
      <vt:lpstr>1_Custom Design</vt:lpstr>
      <vt:lpstr>Game Theory</vt:lpstr>
      <vt:lpstr>Board Game Properties</vt:lpstr>
      <vt:lpstr>The Game Tree</vt:lpstr>
      <vt:lpstr>The Game Tree</vt:lpstr>
      <vt:lpstr>The Game Tree</vt:lpstr>
      <vt:lpstr>The Game Tree - Example</vt:lpstr>
      <vt:lpstr>MiniMax Search</vt:lpstr>
      <vt:lpstr>MiniMax Search</vt:lpstr>
      <vt:lpstr>MiniMax Algorithm</vt:lpstr>
      <vt:lpstr>Example – 7 Split-Nim</vt:lpstr>
      <vt:lpstr>Minimax - Example</vt:lpstr>
      <vt:lpstr>Minimax - Performance</vt:lpstr>
      <vt:lpstr>In Reality</vt:lpstr>
      <vt:lpstr>The Game Tree - Example</vt:lpstr>
      <vt:lpstr>The Static Evaluation Function</vt:lpstr>
      <vt:lpstr>Example – Chess Evaluate</vt:lpstr>
      <vt:lpstr>Horizon Effect</vt:lpstr>
      <vt:lpstr>Quiescence Pruning</vt:lpstr>
      <vt:lpstr>Conclusion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952</cp:revision>
  <cp:lastPrinted>2017-12-07T10:45:51Z</cp:lastPrinted>
  <dcterms:created xsi:type="dcterms:W3CDTF">2007-05-08T17:20:09Z</dcterms:created>
  <dcterms:modified xsi:type="dcterms:W3CDTF">2025-11-03T12:55:35Z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