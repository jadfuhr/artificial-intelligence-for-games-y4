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5"/>
  </p:notesMasterIdLst>
  <p:sldIdLst>
    <p:sldId id="273" r:id="rId3"/>
    <p:sldId id="279" r:id="rId4"/>
    <p:sldId id="296" r:id="rId5"/>
    <p:sldId id="297" r:id="rId6"/>
    <p:sldId id="298" r:id="rId7"/>
    <p:sldId id="274" r:id="rId8"/>
    <p:sldId id="275" r:id="rId9"/>
    <p:sldId id="277" r:id="rId10"/>
    <p:sldId id="280" r:id="rId11"/>
    <p:sldId id="281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04" autoAdjust="0"/>
  </p:normalViewPr>
  <p:slideViewPr>
    <p:cSldViewPr>
      <p:cViewPr varScale="1">
        <p:scale>
          <a:sx n="98" d="100"/>
          <a:sy n="98" d="100"/>
        </p:scale>
        <p:origin x="13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29F142CD-F62B-42C7-9608-9EFEB66BE1F1}"/>
  </pc:docChgLst>
  <pc:docChgLst>
    <pc:chgData name="Oisin Cawley" userId="6b66d80f-e52a-4eb8-b588-9059f489afa4" providerId="ADAL" clId="{8DB1B689-D4A3-407C-B2D5-10ED7284C81A}"/>
    <pc:docChg chg="modSld">
      <pc:chgData name="Oisin Cawley" userId="6b66d80f-e52a-4eb8-b588-9059f489afa4" providerId="ADAL" clId="{8DB1B689-D4A3-407C-B2D5-10ED7284C81A}" dt="2025-11-06T09:53:32.282" v="6" actId="404"/>
      <pc:docMkLst>
        <pc:docMk/>
      </pc:docMkLst>
      <pc:sldChg chg="modSp">
        <pc:chgData name="Oisin Cawley" userId="6b66d80f-e52a-4eb8-b588-9059f489afa4" providerId="ADAL" clId="{8DB1B689-D4A3-407C-B2D5-10ED7284C81A}" dt="2025-11-06T09:53:32.282" v="6" actId="404"/>
        <pc:sldMkLst>
          <pc:docMk/>
          <pc:sldMk cId="0" sldId="277"/>
        </pc:sldMkLst>
        <pc:spChg chg="mod">
          <ac:chgData name="Oisin Cawley" userId="6b66d80f-e52a-4eb8-b588-9059f489afa4" providerId="ADAL" clId="{8DB1B689-D4A3-407C-B2D5-10ED7284C81A}" dt="2025-11-06T09:53:32.282" v="6" actId="404"/>
          <ac:spMkLst>
            <pc:docMk/>
            <pc:sldMk cId="0" sldId="277"/>
            <ac:spMk id="7170" creationId="{00000000-0000-0000-0000-000000000000}"/>
          </ac:spMkLst>
        </pc:spChg>
      </pc:sldChg>
      <pc:sldChg chg="modSp modAnim">
        <pc:chgData name="Oisin Cawley" userId="6b66d80f-e52a-4eb8-b588-9059f489afa4" providerId="ADAL" clId="{8DB1B689-D4A3-407C-B2D5-10ED7284C81A}" dt="2025-11-06T09:50:23.251" v="5"/>
        <pc:sldMkLst>
          <pc:docMk/>
          <pc:sldMk cId="0" sldId="279"/>
        </pc:sldMkLst>
        <pc:spChg chg="mod">
          <ac:chgData name="Oisin Cawley" userId="6b66d80f-e52a-4eb8-b588-9059f489afa4" providerId="ADAL" clId="{8DB1B689-D4A3-407C-B2D5-10ED7284C81A}" dt="2025-11-06T09:49:16.651" v="0" actId="404"/>
          <ac:spMkLst>
            <pc:docMk/>
            <pc:sldMk cId="0" sldId="279"/>
            <ac:spMk id="18435" creationId="{00000000-0000-0000-0000-000000000000}"/>
          </ac:spMkLst>
        </pc:spChg>
      </pc:sldChg>
    </pc:docChg>
  </pc:docChgLst>
  <pc:docChgLst>
    <pc:chgData name="Oisin Cawley" userId="c7ebb277-34aa-421f-b739-032ced270c1a" providerId="ADAL" clId="{E434AE1B-7630-491E-A3C2-A5729E4C58AC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2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9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Checkout: </a:t>
            </a:r>
          </a:p>
          <a:p>
            <a:r>
              <a:rPr lang="en-IE" dirty="0"/>
              <a:t>http://will.thimbleby.net/algorithms/doku.php?id=minimax_search_with_alpha-beta_pruning</a:t>
            </a:r>
          </a:p>
          <a:p>
            <a:r>
              <a:rPr lang="en-IE" dirty="0"/>
              <a:t>For an</a:t>
            </a:r>
            <a:r>
              <a:rPr lang="en-IE" baseline="0" dirty="0"/>
              <a:t> animated walk through.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5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762000"/>
            <a:ext cx="7924800" cy="5324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35683FD9-A1E7-42C4-A9C9-79B5CF02C3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4E59B40E-7335-44A5-BC08-D2147CA456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B80D6278-E98C-4872-9AAD-BF249A313E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  <p:sldLayoutId id="214748415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Impossible Tree Sizes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indent="-274320" fontAlgn="auto">
              <a:spcAft>
                <a:spcPts val="0"/>
              </a:spcAft>
              <a:defRPr/>
            </a:pPr>
            <a:r>
              <a:rPr lang="en-GB" sz="2800">
                <a:ea typeface="+mn-ea"/>
                <a:cs typeface="Arial" charset="0"/>
              </a:rPr>
              <a:t>We saw </a:t>
            </a:r>
            <a:r>
              <a:rPr lang="en-GB" sz="2800" dirty="0">
                <a:ea typeface="+mn-ea"/>
                <a:cs typeface="Arial" charset="0"/>
              </a:rPr>
              <a:t>with a simple game like X’s and O’s how the Tree size can be very large.</a:t>
            </a:r>
          </a:p>
          <a:p>
            <a:pPr indent="-274320" fontAlgn="auto">
              <a:spcAft>
                <a:spcPts val="0"/>
              </a:spcAft>
              <a:defRPr/>
            </a:pPr>
            <a:r>
              <a:rPr lang="en-GB" sz="2800" dirty="0">
                <a:cs typeface="Arial" charset="0"/>
              </a:rPr>
              <a:t>Larger games can have an infinite number of possible moves.</a:t>
            </a:r>
          </a:p>
          <a:p>
            <a:pPr lvl="1" indent="-274320" fontAlgn="auto">
              <a:spcAft>
                <a:spcPts val="0"/>
              </a:spcAft>
              <a:buNone/>
              <a:defRPr/>
            </a:pPr>
            <a:r>
              <a:rPr lang="en-GB" sz="2400" dirty="0">
                <a:ea typeface="+mn-ea"/>
                <a:cs typeface="Arial" charset="0"/>
              </a:rPr>
              <a:t>=&gt;  We have to cut down the search space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Alpha-Beta Principle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 rtlCol="0">
            <a:normAutofit/>
          </a:bodyPr>
          <a:lstStyle/>
          <a:p>
            <a:pPr indent="-274320" fontAlgn="auto">
              <a:spcAft>
                <a:spcPts val="0"/>
              </a:spcAft>
              <a:defRPr/>
            </a:pPr>
            <a:r>
              <a:rPr lang="en-GB" sz="2400" dirty="0">
                <a:ea typeface="+mn-ea"/>
                <a:cs typeface="Arial" charset="0"/>
              </a:rPr>
              <a:t>If you have an idea </a:t>
            </a:r>
            <a:r>
              <a:rPr lang="en-GB" sz="2400" b="1" dirty="0">
                <a:ea typeface="+mn-ea"/>
                <a:cs typeface="Arial" charset="0"/>
              </a:rPr>
              <a:t>and</a:t>
            </a:r>
            <a:r>
              <a:rPr lang="en-GB" sz="2400" dirty="0">
                <a:ea typeface="+mn-ea"/>
                <a:cs typeface="Arial" charset="0"/>
              </a:rPr>
              <a:t> that idea is definitely bad</a:t>
            </a:r>
          </a:p>
          <a:p>
            <a:pPr indent="-274320" fontAlgn="auto">
              <a:spcAft>
                <a:spcPts val="0"/>
              </a:spcAft>
              <a:buNone/>
              <a:defRPr/>
            </a:pPr>
            <a:r>
              <a:rPr lang="en-GB" sz="2000" dirty="0">
                <a:cs typeface="Arial" charset="0"/>
              </a:rPr>
              <a:t>	Then</a:t>
            </a:r>
          </a:p>
          <a:p>
            <a:pPr marL="981075" indent="17463" fontAlgn="auto">
              <a:spcAft>
                <a:spcPts val="0"/>
              </a:spcAft>
              <a:buNone/>
              <a:defRPr/>
            </a:pPr>
            <a:r>
              <a:rPr lang="en-GB" sz="2000" dirty="0">
                <a:cs typeface="Arial" charset="0"/>
              </a:rPr>
              <a:t>Do not waste time finding out exactly how bad that idea is!</a:t>
            </a:r>
          </a:p>
          <a:p>
            <a:pPr marL="640080" lvl="1" indent="-274320" fontAlgn="auto">
              <a:spcAft>
                <a:spcPts val="0"/>
              </a:spcAft>
              <a:defRPr/>
            </a:pPr>
            <a:endParaRPr lang="en-GB" sz="2000" dirty="0">
              <a:cs typeface="Arial" charset="0"/>
            </a:endParaRPr>
          </a:p>
          <a:p>
            <a:pPr marL="240030" indent="-274320" fontAlgn="auto">
              <a:spcAft>
                <a:spcPts val="0"/>
              </a:spcAft>
              <a:defRPr/>
            </a:pPr>
            <a:r>
              <a:rPr lang="en-GB" sz="2400" dirty="0">
                <a:cs typeface="Arial" charset="0"/>
              </a:rPr>
              <a:t>If we know a branch will not provide a better path then we do not search it</a:t>
            </a:r>
          </a:p>
          <a:p>
            <a:pPr marL="640080" lvl="1" indent="-274320" fontAlgn="auto">
              <a:spcAft>
                <a:spcPts val="0"/>
              </a:spcAft>
              <a:defRPr/>
            </a:pPr>
            <a:r>
              <a:rPr lang="en-GB" sz="2000" dirty="0">
                <a:cs typeface="Arial" charset="0"/>
              </a:rPr>
              <a:t>The sooner we work this out the more pruning we can do</a:t>
            </a:r>
          </a:p>
          <a:p>
            <a:pPr marL="240030" indent="-274320" fontAlgn="auto">
              <a:spcAft>
                <a:spcPts val="0"/>
              </a:spcAft>
              <a:defRPr/>
            </a:pPr>
            <a:endParaRPr lang="en-GB" sz="2400" dirty="0">
              <a:cs typeface="Arial" charset="0"/>
            </a:endParaRPr>
          </a:p>
          <a:p>
            <a:pPr marL="240030" indent="-274320" fontAlgn="auto">
              <a:spcAft>
                <a:spcPts val="0"/>
              </a:spcAft>
              <a:defRPr/>
            </a:pPr>
            <a:r>
              <a:rPr lang="en-GB" sz="2400" dirty="0">
                <a:cs typeface="Arial" charset="0"/>
              </a:rPr>
              <a:t>The Alpha-Beta search is a refinement of the Minimax algorithm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68760"/>
            <a:ext cx="7620000" cy="3267075"/>
          </a:xfrm>
          <a:prstGeom prst="rect">
            <a:avLst/>
          </a:prstGeom>
        </p:spPr>
      </p:pic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Alpha-Beta Pruning Example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85800" y="4648200"/>
            <a:ext cx="7772400" cy="1447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standard Minimax routine.</a:t>
            </a:r>
          </a:p>
        </p:txBody>
      </p:sp>
      <p:sp>
        <p:nvSpPr>
          <p:cNvPr id="4" name="Oval 3"/>
          <p:cNvSpPr/>
          <p:nvPr/>
        </p:nvSpPr>
        <p:spPr>
          <a:xfrm>
            <a:off x="5436096" y="3717032"/>
            <a:ext cx="72008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1129" y="6324426"/>
            <a:ext cx="587375" cy="488950"/>
          </a:xfrm>
        </p:spPr>
        <p:txBody>
          <a:bodyPr/>
          <a:lstStyle/>
          <a:p>
            <a:fld id="{35683FD9-A1E7-42C4-A9C9-79B5CF02C3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19672" y="261963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535" y="263691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326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68760"/>
            <a:ext cx="7620000" cy="3267075"/>
          </a:xfrm>
          <a:prstGeom prst="rect">
            <a:avLst/>
          </a:prstGeom>
        </p:spPr>
      </p:pic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Alpha-Beta Pruning Example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85800" y="4648200"/>
            <a:ext cx="7772400" cy="1447800"/>
          </a:xfrm>
          <a:prstGeom prst="rect">
            <a:avLst/>
          </a:prstGeom>
        </p:spPr>
        <p:txBody>
          <a:bodyPr/>
          <a:lstStyle/>
          <a:p>
            <a:pPr marL="342900" lvl="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/>
              <a:t>From Max point of view, 3 is already lower than 4 or 5, so no need to evaluate 2 and 1 (bottom right) </a:t>
            </a:r>
            <a:r>
              <a:rPr lang="en-US" sz="2800" dirty="0">
                <a:sym typeface="Wingdings" pitchFamily="2" charset="2"/>
              </a:rPr>
              <a:t> Prune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10905" y="6369050"/>
            <a:ext cx="587375" cy="488950"/>
          </a:xfrm>
        </p:spPr>
        <p:txBody>
          <a:bodyPr/>
          <a:lstStyle/>
          <a:p>
            <a:fld id="{35683FD9-A1E7-42C4-A9C9-79B5CF02C3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436096" y="3717032"/>
            <a:ext cx="720080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300192" y="3345522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6323128" y="3401705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660232" y="3322873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6695190" y="3379056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19672" y="261963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7535" y="263691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399" y="264606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538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Alpha-Beta Pruning Example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85800" y="4648200"/>
            <a:ext cx="7772400" cy="1447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Move immediately </a:t>
            </a:r>
            <a:r>
              <a:rPr lang="en-US" sz="2800" dirty="0">
                <a:latin typeface="+mn-lt"/>
              </a:rPr>
              <a:t>to 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valuate max value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10905" y="6365582"/>
            <a:ext cx="587375" cy="488950"/>
          </a:xfrm>
        </p:spPr>
        <p:txBody>
          <a:bodyPr/>
          <a:lstStyle/>
          <a:p>
            <a:fld id="{35683FD9-A1E7-42C4-A9C9-79B5CF02C3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68760"/>
            <a:ext cx="7620000" cy="32670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6300192" y="3345522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323128" y="3401705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660232" y="3322873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695190" y="3379056"/>
            <a:ext cx="288032" cy="216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19672" y="261963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7535" y="263691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399" y="264606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535" y="149117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1375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Alpha-Beta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rbel" pitchFamily="34" charset="0"/>
                <a:cs typeface="Arial" pitchFamily="34" charset="0"/>
              </a:rPr>
              <a:t>We use two bounds to mark out our worst solutions so far</a:t>
            </a:r>
          </a:p>
          <a:p>
            <a:pPr lvl="1"/>
            <a:r>
              <a:rPr lang="en-GB" dirty="0">
                <a:latin typeface="Corbel" pitchFamily="34" charset="0"/>
                <a:cs typeface="Arial" pitchFamily="34" charset="0"/>
              </a:rPr>
              <a:t>Alpha (</a:t>
            </a:r>
            <a:r>
              <a:rPr lang="el-GR" dirty="0">
                <a:latin typeface="Corbel" pitchFamily="34" charset="0"/>
                <a:cs typeface="Arial" pitchFamily="34" charset="0"/>
              </a:rPr>
              <a:t>α</a:t>
            </a:r>
            <a:r>
              <a:rPr lang="en-GB" dirty="0">
                <a:latin typeface="Corbel" pitchFamily="34" charset="0"/>
                <a:cs typeface="Arial" pitchFamily="34" charset="0"/>
              </a:rPr>
              <a:t>) is the worst that Max can do </a:t>
            </a:r>
          </a:p>
          <a:p>
            <a:pPr lvl="2"/>
            <a:r>
              <a:rPr lang="en-GB" dirty="0">
                <a:latin typeface="Corbel" pitchFamily="34" charset="0"/>
                <a:cs typeface="Arial" pitchFamily="34" charset="0"/>
              </a:rPr>
              <a:t>Given that Min will do his best</a:t>
            </a:r>
          </a:p>
          <a:p>
            <a:pPr lvl="1"/>
            <a:r>
              <a:rPr lang="en-GB" dirty="0">
                <a:latin typeface="Corbel" pitchFamily="34" charset="0"/>
                <a:cs typeface="Arial" pitchFamily="34" charset="0"/>
              </a:rPr>
              <a:t>Beta (</a:t>
            </a:r>
            <a:r>
              <a:rPr lang="el-GR" dirty="0">
                <a:latin typeface="Corbel" pitchFamily="34" charset="0"/>
                <a:cs typeface="Arial" pitchFamily="34" charset="0"/>
              </a:rPr>
              <a:t>β</a:t>
            </a:r>
            <a:r>
              <a:rPr lang="en-GB" dirty="0">
                <a:latin typeface="Corbel" pitchFamily="34" charset="0"/>
                <a:cs typeface="Arial" pitchFamily="34" charset="0"/>
              </a:rPr>
              <a:t>) is the worst that Min can do</a:t>
            </a:r>
          </a:p>
          <a:p>
            <a:pPr lvl="2"/>
            <a:r>
              <a:rPr lang="en-GB" dirty="0">
                <a:latin typeface="Corbel" pitchFamily="34" charset="0"/>
                <a:cs typeface="Arial" pitchFamily="34" charset="0"/>
              </a:rPr>
              <a:t>Given that Max will do his best</a:t>
            </a:r>
          </a:p>
          <a:p>
            <a:pPr lvl="1"/>
            <a:r>
              <a:rPr lang="en-GB" dirty="0">
                <a:latin typeface="Corbel" pitchFamily="34" charset="0"/>
                <a:cs typeface="Arial" pitchFamily="34" charset="0"/>
              </a:rPr>
              <a:t>Alpha (</a:t>
            </a:r>
            <a:r>
              <a:rPr lang="el-GR" dirty="0">
                <a:latin typeface="Corbel" pitchFamily="34" charset="0"/>
                <a:cs typeface="Arial" pitchFamily="34" charset="0"/>
              </a:rPr>
              <a:t>α</a:t>
            </a:r>
            <a:r>
              <a:rPr lang="en-GB" dirty="0">
                <a:latin typeface="Corbel" pitchFamily="34" charset="0"/>
                <a:cs typeface="Arial" pitchFamily="34" charset="0"/>
              </a:rPr>
              <a:t>) can never decrease</a:t>
            </a:r>
          </a:p>
          <a:p>
            <a:pPr lvl="1"/>
            <a:r>
              <a:rPr lang="en-GB">
                <a:latin typeface="Corbel" pitchFamily="34" charset="0"/>
                <a:cs typeface="Arial" pitchFamily="34" charset="0"/>
              </a:rPr>
              <a:t>Beta (</a:t>
            </a:r>
            <a:r>
              <a:rPr lang="el-GR" dirty="0">
                <a:latin typeface="Corbel" pitchFamily="34" charset="0"/>
                <a:cs typeface="Arial" pitchFamily="34" charset="0"/>
              </a:rPr>
              <a:t>β</a:t>
            </a:r>
            <a:r>
              <a:rPr lang="en-GB" dirty="0">
                <a:latin typeface="Corbel" pitchFamily="34" charset="0"/>
                <a:cs typeface="Arial" pitchFamily="34" charset="0"/>
              </a:rPr>
              <a:t>) can never increase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Alpha-Beta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>
                <a:latin typeface="Corbel" pitchFamily="34" charset="0"/>
                <a:cs typeface="Arial" pitchFamily="34" charset="0"/>
              </a:rPr>
              <a:t>Max need not consider any value less than Alpha(</a:t>
            </a:r>
            <a:r>
              <a:rPr lang="el-GR" sz="2200" dirty="0">
                <a:latin typeface="Corbel" pitchFamily="34" charset="0"/>
                <a:cs typeface="Arial" pitchFamily="34" charset="0"/>
              </a:rPr>
              <a:t>α</a:t>
            </a:r>
            <a:r>
              <a:rPr lang="en-GB" sz="2200" dirty="0">
                <a:latin typeface="Corbe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en-GB" sz="2000" dirty="0">
                <a:latin typeface="Corbel" pitchFamily="34" charset="0"/>
                <a:cs typeface="Arial" pitchFamily="34" charset="0"/>
              </a:rPr>
              <a:t>Because it is worse than the worst possible move I have already found!</a:t>
            </a:r>
          </a:p>
          <a:p>
            <a:r>
              <a:rPr lang="en-GB" sz="2200" dirty="0">
                <a:latin typeface="Corbel" pitchFamily="34" charset="0"/>
                <a:cs typeface="Arial" pitchFamily="34" charset="0"/>
              </a:rPr>
              <a:t>Min need not consider any value greater than Beta(</a:t>
            </a:r>
            <a:r>
              <a:rPr lang="el-GR" sz="2200" dirty="0">
                <a:latin typeface="Corbel" pitchFamily="34" charset="0"/>
                <a:cs typeface="Arial" pitchFamily="34" charset="0"/>
              </a:rPr>
              <a:t>β</a:t>
            </a:r>
            <a:r>
              <a:rPr lang="en-GB" sz="2200" dirty="0">
                <a:latin typeface="Corbe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en-GB" sz="2000" dirty="0">
                <a:latin typeface="Corbel" pitchFamily="34" charset="0"/>
                <a:cs typeface="Arial" pitchFamily="34" charset="0"/>
              </a:rPr>
              <a:t>Because it scores higher than the highest scoring move I have already found</a:t>
            </a:r>
          </a:p>
          <a:p>
            <a:r>
              <a:rPr lang="en-GB" sz="2200" dirty="0">
                <a:latin typeface="Corbel" pitchFamily="34" charset="0"/>
                <a:cs typeface="Arial" pitchFamily="34" charset="0"/>
              </a:rPr>
              <a:t>Alpha-Beta contains the range of values we accept</a:t>
            </a:r>
          </a:p>
          <a:p>
            <a:pPr lvl="1"/>
            <a:r>
              <a:rPr lang="en-GB" sz="2000" dirty="0">
                <a:latin typeface="Corbel" pitchFamily="34" charset="0"/>
                <a:cs typeface="Arial" pitchFamily="34" charset="0"/>
              </a:rPr>
              <a:t>Values outside this range can be pruned</a:t>
            </a:r>
          </a:p>
          <a:p>
            <a:endParaRPr lang="en-GB" sz="2400" dirty="0">
              <a:latin typeface="Corbe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latin typeface="Corbel" pitchFamily="34" charset="0"/>
                <a:cs typeface="Arial" pitchFamily="34" charset="0"/>
                <a:sym typeface="Wingdings" pitchFamily="2" charset="2"/>
              </a:rPr>
              <a:t>It d</a:t>
            </a:r>
            <a:r>
              <a:rPr lang="en-US" sz="2200" dirty="0">
                <a:latin typeface="Corbel" pitchFamily="34" charset="0"/>
                <a:cs typeface="Arial" pitchFamily="34" charset="0"/>
              </a:rPr>
              <a:t>oes not benefit the player to play any move outside this range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200" dirty="0">
                <a:latin typeface="Corbe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n-US" sz="2200" dirty="0">
                <a:latin typeface="Corbel" pitchFamily="34" charset="0"/>
                <a:cs typeface="Arial" pitchFamily="34" charset="0"/>
              </a:rPr>
              <a:t>Saves processing time without affecting final result</a:t>
            </a:r>
          </a:p>
          <a:p>
            <a:endParaRPr lang="en-GB" sz="2200" dirty="0">
              <a:latin typeface="Corbe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Algorithm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Corbel" pitchFamily="34" charset="0"/>
                <a:cs typeface="Arial" pitchFamily="34" charset="0"/>
              </a:rPr>
              <a:t>When we begin, we set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α</a:t>
            </a:r>
            <a:r>
              <a:rPr lang="en-GB" sz="2800" dirty="0">
                <a:latin typeface="Corbel" pitchFamily="34" charset="0"/>
                <a:cs typeface="Arial" pitchFamily="34" charset="0"/>
              </a:rPr>
              <a:t> to -∞ and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β</a:t>
            </a:r>
            <a:r>
              <a:rPr lang="en-GB" sz="2800" dirty="0">
                <a:latin typeface="Corbel" pitchFamily="34" charset="0"/>
                <a:cs typeface="Arial" pitchFamily="34" charset="0"/>
              </a:rPr>
              <a:t> to +∞</a:t>
            </a:r>
          </a:p>
          <a:p>
            <a:r>
              <a:rPr lang="en-GB" sz="2800" dirty="0">
                <a:latin typeface="Corbel" pitchFamily="34" charset="0"/>
                <a:cs typeface="Arial" pitchFamily="34" charset="0"/>
              </a:rPr>
              <a:t>We do a depth first search to a prefixed maximum bound</a:t>
            </a:r>
          </a:p>
          <a:p>
            <a:pPr lvl="1"/>
            <a:r>
              <a:rPr lang="en-GB" sz="2400" dirty="0">
                <a:latin typeface="Corbel" pitchFamily="34" charset="0"/>
                <a:cs typeface="Arial" pitchFamily="34" charset="0"/>
              </a:rPr>
              <a:t>Use iterative deepening to improve this later (how?)</a:t>
            </a:r>
          </a:p>
          <a:p>
            <a:r>
              <a:rPr lang="en-GB" sz="2800" dirty="0">
                <a:latin typeface="Corbel" pitchFamily="34" charset="0"/>
                <a:cs typeface="Arial" pitchFamily="34" charset="0"/>
              </a:rPr>
              <a:t>MAX nodes modify the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α </a:t>
            </a:r>
            <a:r>
              <a:rPr lang="en-GB" sz="2800" dirty="0">
                <a:latin typeface="Corbel" pitchFamily="34" charset="0"/>
                <a:cs typeface="Arial" pitchFamily="34" charset="0"/>
              </a:rPr>
              <a:t>value</a:t>
            </a:r>
          </a:p>
          <a:p>
            <a:r>
              <a:rPr lang="en-GB" sz="2800" dirty="0">
                <a:latin typeface="Corbel" pitchFamily="34" charset="0"/>
                <a:cs typeface="Arial" pitchFamily="34" charset="0"/>
              </a:rPr>
              <a:t>MIN nodes modify the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β </a:t>
            </a:r>
            <a:r>
              <a:rPr lang="en-GB" sz="2800" dirty="0">
                <a:latin typeface="Corbel" pitchFamily="34" charset="0"/>
                <a:cs typeface="Arial" pitchFamily="34" charset="0"/>
              </a:rPr>
              <a:t>value</a:t>
            </a:r>
          </a:p>
          <a:p>
            <a:r>
              <a:rPr lang="en-GB" sz="2800" dirty="0">
                <a:latin typeface="Corbel" pitchFamily="34" charset="0"/>
                <a:cs typeface="Arial" pitchFamily="34" charset="0"/>
              </a:rPr>
              <a:t>When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α</a:t>
            </a:r>
            <a:r>
              <a:rPr lang="en-IE" sz="2800" dirty="0">
                <a:latin typeface="Corbel" pitchFamily="34" charset="0"/>
                <a:cs typeface="Arial" pitchFamily="34" charset="0"/>
              </a:rPr>
              <a:t> &gt;= </a:t>
            </a:r>
            <a:r>
              <a:rPr lang="el-GR" sz="2800" dirty="0">
                <a:latin typeface="Corbel" pitchFamily="34" charset="0"/>
                <a:cs typeface="Arial" pitchFamily="34" charset="0"/>
              </a:rPr>
              <a:t>β</a:t>
            </a:r>
            <a:r>
              <a:rPr lang="en-IE" sz="2800" dirty="0">
                <a:latin typeface="Corbel" pitchFamily="34" charset="0"/>
                <a:cs typeface="Arial" pitchFamily="34" charset="0"/>
              </a:rPr>
              <a:t> we prune the next branch</a:t>
            </a:r>
            <a:endParaRPr lang="en-GB" sz="2800" dirty="0">
              <a:latin typeface="Corbel" pitchFamily="34" charset="0"/>
              <a:cs typeface="Arial" pitchFamily="34" charset="0"/>
            </a:endParaRPr>
          </a:p>
          <a:p>
            <a:endParaRPr lang="en-GB" sz="2800" dirty="0">
              <a:latin typeface="Corbe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28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Algorithm with Alpha-Beta Pruning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function MINIMAX-AB(N, Depth, Alpha, Beta)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begin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leaf(N) or Depth = 0 then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Estimate(N)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N is a Min node then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For each successor Ni of N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Beta = min{Beta, MINIMAX-AB(Ni, Depth-1, Alpha, Beta)}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Alpha &gt;= Beta then 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Beta	//Prune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end for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return beta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</a:t>
            </a: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else		//Max node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For each successor Ni of N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Alpha = max{Alpha, MINIMAX-AB(Ni, Depth-1, Alpha, Beta)}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Alpha &gt;= Beta then 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Alpha		//Prune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end for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alpha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end if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772816"/>
            <a:ext cx="70199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98884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909317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57301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29309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772816"/>
            <a:ext cx="70199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98884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909317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57301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29309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293096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043608" y="4941168"/>
            <a:ext cx="43204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107504" y="4797152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α≥β</a:t>
            </a:r>
            <a:r>
              <a:rPr lang="en-IE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772816"/>
            <a:ext cx="70199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98884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909317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57301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29309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293096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475656" y="4941168"/>
            <a:ext cx="43204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1640" y="4365104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772816"/>
            <a:ext cx="70199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98884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909317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57301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293096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293096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691680" y="3501008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1640" y="4365104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9592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395536" y="3140968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α≥β</a:t>
            </a:r>
            <a:r>
              <a:rPr lang="en-IE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1619672" y="5301208"/>
            <a:ext cx="43204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1835696" y="4077072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α≥β</a:t>
            </a:r>
            <a:r>
              <a:rPr lang="en-IE" dirty="0">
                <a:solidFill>
                  <a:schemeClr val="tx1"/>
                </a:solidFill>
              </a:rPr>
              <a:t> ?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1331640" y="3573016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2483768" y="2708920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/>
          <p:cNvSpPr/>
          <p:nvPr/>
        </p:nvSpPr>
        <p:spPr>
          <a:xfrm>
            <a:off x="1763688" y="2204864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α≥β</a:t>
            </a:r>
            <a:r>
              <a:rPr lang="en-IE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2627784" y="5301208"/>
            <a:ext cx="43204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3203848" y="5301208"/>
            <a:ext cx="43204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2915816" y="4437112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87825" y="4581128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3419872" y="3573016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87825" y="4581128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99792" y="3645024"/>
            <a:ext cx="6191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/>
        </p:nvSpPr>
        <p:spPr>
          <a:xfrm>
            <a:off x="3059832" y="3140968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α≥β</a:t>
            </a:r>
            <a:r>
              <a:rPr lang="en-IE" dirty="0">
                <a:solidFill>
                  <a:schemeClr val="tx1"/>
                </a:solidFill>
              </a:rPr>
              <a:t> ?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3851920" y="4365104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91880" y="3717032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 walk through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2483768" y="2708920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87825" y="4581128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99792" y="3645024"/>
            <a:ext cx="6191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" name="Straight Connector 25"/>
          <p:cNvCxnSpPr/>
          <p:nvPr/>
        </p:nvCxnSpPr>
        <p:spPr>
          <a:xfrm flipV="1">
            <a:off x="3851920" y="4365104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91880" y="3717032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2852936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Finish this..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6214"/>
            <a:ext cx="8424936" cy="469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7218" y="162880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986" y="27089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66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09120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4581128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3573016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581128"/>
            <a:ext cx="529040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31641" y="4555713"/>
            <a:ext cx="504056" cy="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2123728" y="5157192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79712" y="4581128"/>
            <a:ext cx="200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1738" y="3717032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47664" y="2708920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19214" y="3638922"/>
            <a:ext cx="6286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1060" y="4581128"/>
            <a:ext cx="525334" cy="36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4499992" y="1628800"/>
            <a:ext cx="5040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87825" y="4581128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99792" y="3645024"/>
            <a:ext cx="6191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" name="Straight Connector 25"/>
          <p:cNvCxnSpPr/>
          <p:nvPr/>
        </p:nvCxnSpPr>
        <p:spPr>
          <a:xfrm flipV="1">
            <a:off x="3851920" y="4365104"/>
            <a:ext cx="216024" cy="72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91880" y="3717032"/>
            <a:ext cx="33039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2852936"/>
            <a:ext cx="289942" cy="24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35896" y="1628800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35896" y="1628800"/>
            <a:ext cx="68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3FD9-A1E7-42C4-A9C9-79B5CF02C3E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7037E-6 L 0.2441 0.15741 " pathEditMode="relative" ptsTypes="AA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9626</TotalTime>
  <Words>648</Words>
  <Application>Microsoft Office PowerPoint</Application>
  <PresentationFormat>On-screen Show (4:3)</PresentationFormat>
  <Paragraphs>120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ＭＳ Ｐゴシック</vt:lpstr>
      <vt:lpstr>Arial</vt:lpstr>
      <vt:lpstr>Calibri</vt:lpstr>
      <vt:lpstr>Corbel</vt:lpstr>
      <vt:lpstr>Courier New</vt:lpstr>
      <vt:lpstr>Wingdings</vt:lpstr>
      <vt:lpstr>Custom Design</vt:lpstr>
      <vt:lpstr>1_Custom Design</vt:lpstr>
      <vt:lpstr>Impossible Tree Sizes</vt:lpstr>
      <vt:lpstr>Alpha-Beta Principle</vt:lpstr>
      <vt:lpstr>PowerPoint Presentation</vt:lpstr>
      <vt:lpstr>PowerPoint Presentation</vt:lpstr>
      <vt:lpstr>PowerPoint Presentation</vt:lpstr>
      <vt:lpstr>Alpha-Beta</vt:lpstr>
      <vt:lpstr>Alpha-Beta</vt:lpstr>
      <vt:lpstr>Algorithm</vt:lpstr>
      <vt:lpstr>MiniMax Algorithm with Alpha-Beta Pruning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995</cp:revision>
  <dcterms:created xsi:type="dcterms:W3CDTF">2007-05-08T17:20:09Z</dcterms:created>
  <dcterms:modified xsi:type="dcterms:W3CDTF">2025-11-06T09:53:33Z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