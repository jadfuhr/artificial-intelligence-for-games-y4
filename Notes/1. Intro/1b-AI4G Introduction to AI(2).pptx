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  <p:sldMasterId id="2147483869" r:id="rId5"/>
  </p:sldMasterIdLst>
  <p:notesMasterIdLst>
    <p:notesMasterId r:id="rId24"/>
  </p:notesMasterIdLst>
  <p:sldIdLst>
    <p:sldId id="258" r:id="rId6"/>
    <p:sldId id="259" r:id="rId7"/>
    <p:sldId id="260" r:id="rId8"/>
    <p:sldId id="268" r:id="rId9"/>
    <p:sldId id="261" r:id="rId10"/>
    <p:sldId id="262" r:id="rId11"/>
    <p:sldId id="270" r:id="rId12"/>
    <p:sldId id="271" r:id="rId13"/>
    <p:sldId id="272" r:id="rId14"/>
    <p:sldId id="274" r:id="rId15"/>
    <p:sldId id="273" r:id="rId16"/>
    <p:sldId id="266" r:id="rId17"/>
    <p:sldId id="263" r:id="rId18"/>
    <p:sldId id="275" r:id="rId19"/>
    <p:sldId id="267" r:id="rId20"/>
    <p:sldId id="264" r:id="rId21"/>
    <p:sldId id="269" r:id="rId22"/>
    <p:sldId id="265" r:id="rId23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CAB735E4-E4AA-40FA-A3E5-DC795FA144C9}"/>
  </pc:docChgLst>
  <pc:docChgLst>
    <pc:chgData name="Oisin Cawley" userId="c7ebb277-34aa-421f-b739-032ced270c1a" providerId="ADAL" clId="{C982C5BD-584D-41C6-BB20-61C79EC202E1}"/>
  </pc:docChgLst>
  <pc:docChgLst>
    <pc:chgData name="Oisin Cawley" userId="6b66d80f-e52a-4eb8-b588-9059f489afa4" providerId="ADAL" clId="{1CF31B32-FB87-47D8-8787-5A544F016BCD}"/>
    <pc:docChg chg="modSld">
      <pc:chgData name="Oisin Cawley" userId="6b66d80f-e52a-4eb8-b588-9059f489afa4" providerId="ADAL" clId="{1CF31B32-FB87-47D8-8787-5A544F016BCD}" dt="2025-09-11T08:34:06.615" v="88" actId="20577"/>
      <pc:docMkLst>
        <pc:docMk/>
      </pc:docMkLst>
      <pc:sldChg chg="modSp">
        <pc:chgData name="Oisin Cawley" userId="6b66d80f-e52a-4eb8-b588-9059f489afa4" providerId="ADAL" clId="{1CF31B32-FB87-47D8-8787-5A544F016BCD}" dt="2025-09-11T08:34:06.615" v="88" actId="20577"/>
        <pc:sldMkLst>
          <pc:docMk/>
          <pc:sldMk cId="3194943059" sldId="263"/>
        </pc:sldMkLst>
        <pc:spChg chg="mod">
          <ac:chgData name="Oisin Cawley" userId="6b66d80f-e52a-4eb8-b588-9059f489afa4" providerId="ADAL" clId="{1CF31B32-FB87-47D8-8787-5A544F016BCD}" dt="2025-09-11T08:34:06.615" v="88" actId="20577"/>
          <ac:spMkLst>
            <pc:docMk/>
            <pc:sldMk cId="3194943059" sldId="263"/>
            <ac:spMk id="28674" creationId="{00000000-0000-0000-0000-000000000000}"/>
          </ac:spMkLst>
        </pc:spChg>
      </pc:sldChg>
      <pc:sldChg chg="modSp modAnim">
        <pc:chgData name="Oisin Cawley" userId="6b66d80f-e52a-4eb8-b588-9059f489afa4" providerId="ADAL" clId="{1CF31B32-FB87-47D8-8787-5A544F016BCD}" dt="2025-09-08T09:30:53.361" v="87"/>
        <pc:sldMkLst>
          <pc:docMk/>
          <pc:sldMk cId="1891504259" sldId="270"/>
        </pc:sldMkLst>
        <pc:spChg chg="mod">
          <ac:chgData name="Oisin Cawley" userId="6b66d80f-e52a-4eb8-b588-9059f489afa4" providerId="ADAL" clId="{1CF31B32-FB87-47D8-8787-5A544F016BCD}" dt="2025-09-08T09:30:15.333" v="86" actId="20577"/>
          <ac:spMkLst>
            <pc:docMk/>
            <pc:sldMk cId="1891504259" sldId="270"/>
            <ac:spMk id="266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rpa.mil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6C21327B-E740-3C48-8E47-9C13C9DC80D2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2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1507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01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20CA9D62-DEB1-9349-BC83-54D061EA4FD0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3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355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 </a:t>
            </a:r>
            <a:r>
              <a:rPr lang="en-IE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cerebrum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fills up most of your skull. It is involved in remembering, problem solving, thinking, and feeling. It also controls movement.</a:t>
            </a:r>
          </a:p>
          <a:p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 </a:t>
            </a:r>
            <a:r>
              <a:rPr lang="en-IE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cerebellum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sits at the back of your head, under the cerebrum. It controls coordination and balance.</a:t>
            </a:r>
          </a:p>
          <a:p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 </a:t>
            </a:r>
            <a:r>
              <a:rPr lang="en-IE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brain stem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sits beneath your cerebrum in front of your cerebellum. It connects the brain to the spinal cord and controls automatic functions such as breathing, digestion, heart rate and blood pressure.</a:t>
            </a:r>
          </a:p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542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20CA9D62-DEB1-9349-BC83-54D061EA4FD0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4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355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542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B5CC0BC0-E89B-034A-84C8-2A3686D53A48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5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5603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4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84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6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498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7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498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8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41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9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r>
              <a:rPr lang="en-US" dirty="0">
                <a:latin typeface="Times New Roman" charset="0"/>
              </a:rPr>
              <a:t>http://plato.stanford.edu/entries/chinese-room/</a:t>
            </a:r>
          </a:p>
        </p:txBody>
      </p:sp>
    </p:spTree>
    <p:extLst>
      <p:ext uri="{BB962C8B-B14F-4D97-AF65-F5344CB8AC3E}">
        <p14:creationId xmlns:p14="http://schemas.microsoft.com/office/powerpoint/2010/main" val="2632372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10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95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11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773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924F17D9-7C01-FB4B-931D-9C37CF4CFC5B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12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765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419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A6D79DEA-F932-8E4D-9965-7630EF581CE4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13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9699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Defense</a:t>
            </a:r>
            <a:r>
              <a:rPr lang="en-IE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 Advanced Research Projects Agency</a:t>
            </a:r>
            <a:endParaRPr lang="en-IE" sz="1200" b="0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23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A6D79DEA-F932-8E4D-9965-7630EF581CE4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14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9699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E" sz="1200" b="0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086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A6D79DEA-F932-8E4D-9965-7630EF581CE4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15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29699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75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48DB8577-DB5E-C442-94A3-73CE22B8C17C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16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31747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IE" sz="1200" b="0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342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48DB8577-DB5E-C442-94A3-73CE22B8C17C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17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31747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 </a:t>
            </a:r>
            <a:r>
              <a:rPr lang="en-IE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Singularity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is an era in which our intelligence will become increasingly </a:t>
            </a:r>
            <a:r>
              <a:rPr lang="en-IE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nonbiological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trillions of times more powerful than it is today—the dawning of a new civilization that will enable us to transcend our biological limitations and amplify our creativity.</a:t>
            </a:r>
          </a:p>
          <a:p>
            <a:r>
              <a:rPr lang="en-IE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Grey goo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(also spelled </a:t>
            </a:r>
            <a:r>
              <a:rPr lang="en-IE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gray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goo) is a hypothetical end-of-the-world scenario involving </a:t>
            </a:r>
            <a:r>
              <a:rPr lang="en-IE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molecular nanotechnology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in which out-of-control self-replicating robots consume all matter on Earth while building more of themselves, a scenario that has been called </a:t>
            </a:r>
            <a:r>
              <a:rPr lang="en-IE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ecophagy</a:t>
            </a:r>
            <a:r>
              <a:rPr lang="en-IE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("eating the environment").</a:t>
            </a:r>
          </a:p>
        </p:txBody>
      </p:sp>
    </p:spTree>
    <p:extLst>
      <p:ext uri="{BB962C8B-B14F-4D97-AF65-F5344CB8AC3E}">
        <p14:creationId xmlns:p14="http://schemas.microsoft.com/office/powerpoint/2010/main" val="1981342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/>
            <a:fld id="{CDF8B99A-5B19-3B49-BC04-84F50D3730ED}" type="slidenum">
              <a:rPr lang="en-IE" sz="1400">
                <a:solidFill>
                  <a:srgbClr val="000000"/>
                </a:solidFill>
                <a:latin typeface="Times New Roman" charset="0"/>
                <a:cs typeface="Arial Unicode MS" charset="0"/>
              </a:rPr>
              <a:pPr eaLnBrk="1"/>
              <a:t>18</a:t>
            </a:fld>
            <a:endParaRPr lang="en-IE" sz="1400">
              <a:solidFill>
                <a:srgbClr val="000000"/>
              </a:solidFill>
              <a:latin typeface="Times New Roman" charset="0"/>
              <a:cs typeface="Arial Unicode MS" charset="0"/>
            </a:endParaRPr>
          </a:p>
        </p:txBody>
      </p:sp>
      <p:sp>
        <p:nvSpPr>
          <p:cNvPr id="3379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r>
              <a:rPr lang="en-US" dirty="0">
                <a:latin typeface="Times New Roman" charset="0"/>
              </a:rPr>
              <a:t>Do you think AI will eventually evolve to a point where it may develop psychological problems?</a:t>
            </a:r>
          </a:p>
        </p:txBody>
      </p:sp>
    </p:spTree>
    <p:extLst>
      <p:ext uri="{BB962C8B-B14F-4D97-AF65-F5344CB8AC3E}">
        <p14:creationId xmlns:p14="http://schemas.microsoft.com/office/powerpoint/2010/main" val="130948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B951AB00-DC88-4CDE-859C-668D4D327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11" name="Picture 6" descr="SETU logo">
            <a:extLst>
              <a:ext uri="{FF2B5EF4-FFF2-40B4-BE49-F238E27FC236}">
                <a16:creationId xmlns:a16="http://schemas.microsoft.com/office/drawing/2014/main" id="{EFE48D18-4172-43B6-BAC2-1875FF680E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plato.stanford.edu/entries/chinese-ro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5.xml"/><Relationship Id="rId1" Type="http://schemas.openxmlformats.org/officeDocument/2006/relationships/video" Target="https://www.youtube.com/embed/WcbGRBPkrps" TargetMode="External"/><Relationship Id="rId5" Type="http://schemas.openxmlformats.org/officeDocument/2006/relationships/hyperlink" Target="https://www.youtube.com/watch?v=WcbGRBPkrps" TargetMode="Externa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db.com/name/nm0706937/?ref_=tt_trv_qu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Artificial Intelligence in Games?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A.I.</a:t>
            </a:r>
          </a:p>
          <a:p>
            <a:pPr lvl="1"/>
            <a:r>
              <a:rPr lang="en-US" dirty="0"/>
              <a:t>Understanding the nature of Intelligence</a:t>
            </a:r>
          </a:p>
          <a:p>
            <a:pPr lvl="1"/>
            <a:r>
              <a:rPr lang="en-US" dirty="0"/>
              <a:t>The creation of intelligent programs or machines</a:t>
            </a:r>
          </a:p>
          <a:p>
            <a:pPr lvl="0"/>
            <a:r>
              <a:rPr lang="en-US" dirty="0"/>
              <a:t>In</a:t>
            </a:r>
            <a:r>
              <a:rPr lang="en-US" baseline="0" dirty="0"/>
              <a:t> Games</a:t>
            </a:r>
            <a:endParaRPr lang="en-US" dirty="0"/>
          </a:p>
          <a:p>
            <a:pPr lvl="1"/>
            <a:r>
              <a:rPr lang="en-US" dirty="0"/>
              <a:t>Application of AI techniques to Games</a:t>
            </a:r>
          </a:p>
          <a:p>
            <a:pPr lvl="1"/>
            <a:r>
              <a:rPr lang="en-US" dirty="0"/>
              <a:t>AI for Games</a:t>
            </a:r>
            <a:r>
              <a:rPr lang="en-US" baseline="0" dirty="0"/>
              <a:t> sake only (a little easier)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585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604521"/>
            <a:ext cx="8228160" cy="4525920"/>
          </a:xfrm>
        </p:spPr>
        <p:txBody>
          <a:bodyPr/>
          <a:lstStyle/>
          <a:p>
            <a:r>
              <a:rPr lang="en-IE" dirty="0">
                <a:latin typeface="Corbel" charset="0"/>
              </a:rPr>
              <a:t>Artificial</a:t>
            </a:r>
          </a:p>
          <a:p>
            <a:r>
              <a:rPr lang="en-IE" dirty="0">
                <a:latin typeface="Corbel" charset="0"/>
              </a:rPr>
              <a:t>Intelligence</a:t>
            </a:r>
          </a:p>
          <a:p>
            <a:r>
              <a:rPr lang="en-IE" dirty="0">
                <a:latin typeface="Corbel" charset="0"/>
              </a:rPr>
              <a:t>Understanding</a:t>
            </a:r>
          </a:p>
          <a:p>
            <a:r>
              <a:rPr lang="en-IE" dirty="0">
                <a:latin typeface="Corbel" charset="0"/>
              </a:rPr>
              <a:t>Meaning</a:t>
            </a:r>
          </a:p>
          <a:p>
            <a:r>
              <a:rPr lang="en-IE" dirty="0">
                <a:latin typeface="Corbel" charset="0"/>
              </a:rPr>
              <a:t>Consciousness</a:t>
            </a:r>
          </a:p>
          <a:p>
            <a:endParaRPr lang="en-IE" dirty="0">
              <a:latin typeface="Corbel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Some Keywords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40205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How do humans do it?</a:t>
            </a:r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01" y="1604521"/>
            <a:ext cx="3142080" cy="452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801" y="1613160"/>
            <a:ext cx="4014720" cy="451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267056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How do humans do it?</a:t>
            </a:r>
          </a:p>
        </p:txBody>
      </p:sp>
      <p:pic>
        <p:nvPicPr>
          <p:cNvPr id="2050" name="Picture 2" descr="http://www.wired.com/images_blogs/wiredscience/2015/02/wellcomeneur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772816"/>
            <a:ext cx="3780419" cy="2520280"/>
          </a:xfrm>
          <a:prstGeom prst="rect">
            <a:avLst/>
          </a:prstGeom>
          <a:noFill/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395536" y="1124744"/>
            <a:ext cx="5544616" cy="864096"/>
          </a:xfrm>
        </p:spPr>
        <p:txBody>
          <a:bodyPr/>
          <a:lstStyle/>
          <a:p>
            <a:r>
              <a:rPr lang="en-IE" dirty="0">
                <a:latin typeface="Corbel" charset="0"/>
              </a:rPr>
              <a:t>100 Billion Neurons</a:t>
            </a:r>
          </a:p>
        </p:txBody>
      </p:sp>
      <p:pic>
        <p:nvPicPr>
          <p:cNvPr id="2052" name="Picture 4" descr="http://www.scientificamerican.com/sciam/cache/file/84DEB297-8441-4316-B9E9C6154A1F10F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2348880"/>
            <a:ext cx="3960440" cy="3960442"/>
          </a:xfrm>
          <a:prstGeom prst="rect">
            <a:avLst/>
          </a:prstGeom>
          <a:noFill/>
        </p:spPr>
      </p:pic>
      <p:sp>
        <p:nvSpPr>
          <p:cNvPr id="8" name="Rectangle 2"/>
          <p:cNvSpPr>
            <a:spLocks noGrp="1" noChangeArrowheads="1"/>
          </p:cNvSpPr>
          <p:nvPr>
            <p:ph idx="1"/>
          </p:nvPr>
        </p:nvSpPr>
        <p:spPr>
          <a:xfrm>
            <a:off x="4355976" y="1772816"/>
            <a:ext cx="3960440" cy="864096"/>
          </a:xfrm>
        </p:spPr>
        <p:txBody>
          <a:bodyPr/>
          <a:lstStyle/>
          <a:p>
            <a:r>
              <a:rPr lang="en-IE" dirty="0">
                <a:latin typeface="Corbel" charset="0"/>
              </a:rPr>
              <a:t>100 Trillion connections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267056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What can we do?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604521"/>
            <a:ext cx="8228160" cy="4525920"/>
          </a:xfrm>
        </p:spPr>
        <p:txBody>
          <a:bodyPr/>
          <a:lstStyle/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What we thought was intelligent:</a:t>
            </a:r>
          </a:p>
          <a:p>
            <a:pPr marL="734411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Chess, Mathematics</a:t>
            </a: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IE" dirty="0">
              <a:latin typeface="Corbel" charset="0"/>
            </a:endParaRP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What is Intelligent</a:t>
            </a:r>
          </a:p>
          <a:p>
            <a:pPr marL="734411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Seeing (vision)</a:t>
            </a:r>
          </a:p>
          <a:p>
            <a:pPr marL="734411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Hearing (understanding)</a:t>
            </a:r>
          </a:p>
          <a:p>
            <a:pPr marL="734411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Walking</a:t>
            </a:r>
          </a:p>
          <a:p>
            <a:pPr marL="734411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latin typeface="Corbel" charset="0"/>
              </a:rPr>
              <a:t>Talking (communicating)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88231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Can machines do it?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196752"/>
            <a:ext cx="8228160" cy="5400600"/>
          </a:xfrm>
        </p:spPr>
        <p:txBody>
          <a:bodyPr/>
          <a:lstStyle/>
          <a:p>
            <a:pPr marL="391686" indent="-293764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Intelligence is: </a:t>
            </a:r>
          </a:p>
          <a:p>
            <a:pPr marL="179388" indent="-82550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“</a:t>
            </a:r>
            <a:r>
              <a:rPr lang="en-IE" sz="2800" b="1" dirty="0"/>
              <a:t>A person or being with the ability to acquire and apply knowledge and skills</a:t>
            </a:r>
            <a:r>
              <a:rPr lang="en-IE" sz="2800" dirty="0"/>
              <a:t>”</a:t>
            </a:r>
          </a:p>
          <a:p>
            <a:pPr marL="391686" indent="-293764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IE" sz="2800" dirty="0"/>
          </a:p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Artificial Intelligence (of a machine/device/thing) is:</a:t>
            </a:r>
          </a:p>
          <a:p>
            <a:pPr lvl="1"/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The ability to vary its behavior in response to  varying situations and requirements and past experience</a:t>
            </a: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IE" sz="2800" dirty="0"/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Can we write an algorithm for Intelligence?</a:t>
            </a: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Is it solvable?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91504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How would we tell?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196752"/>
            <a:ext cx="8228160" cy="5184576"/>
          </a:xfrm>
        </p:spPr>
        <p:txBody>
          <a:bodyPr/>
          <a:lstStyle/>
          <a:p>
            <a:pPr marL="391686" indent="-293764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1800" dirty="0"/>
              <a:t>The </a:t>
            </a:r>
            <a:r>
              <a:rPr lang="en-IE" sz="1800" b="1" dirty="0">
                <a:solidFill>
                  <a:srgbClr val="FF0000"/>
                </a:solidFill>
              </a:rPr>
              <a:t>Turing Test</a:t>
            </a:r>
            <a:r>
              <a:rPr lang="en-IE" sz="1800" dirty="0"/>
              <a:t>:</a:t>
            </a:r>
          </a:p>
          <a:p>
            <a:pPr marL="82550" indent="14288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1800" dirty="0"/>
              <a:t>Alan Turing in his 1950 paper </a:t>
            </a:r>
            <a:r>
              <a:rPr lang="en-IE" sz="1800" i="1" dirty="0"/>
              <a:t>Computing Machinery and Intelligence</a:t>
            </a:r>
            <a:r>
              <a:rPr lang="en-IE" sz="1800" dirty="0"/>
              <a:t> proposed a test:</a:t>
            </a:r>
          </a:p>
          <a:p>
            <a:pPr lvl="1"/>
            <a:r>
              <a:rPr lang="en-US" sz="1800" dirty="0"/>
              <a:t>A human judge engages in a natural language conversation with a human and a machine designed to generate performance indistinguishable from that of a human being. </a:t>
            </a:r>
          </a:p>
          <a:p>
            <a:pPr lvl="1"/>
            <a:r>
              <a:rPr lang="en-US" sz="1800" dirty="0"/>
              <a:t>All participants are separated from one another. </a:t>
            </a:r>
          </a:p>
          <a:p>
            <a:pPr lvl="1"/>
            <a:r>
              <a:rPr lang="en-US" sz="1800" dirty="0"/>
              <a:t>If the judge cannot reliably tell the machine from the human, the machine is said to have passed the test.</a:t>
            </a:r>
          </a:p>
          <a:p>
            <a:pPr lvl="1"/>
            <a:endParaRPr lang="en-US" sz="1800" dirty="0"/>
          </a:p>
          <a:p>
            <a:r>
              <a:rPr lang="en-US" sz="2000" dirty="0" err="1"/>
              <a:t>Loebner</a:t>
            </a:r>
            <a:r>
              <a:rPr lang="en-US" sz="2000" dirty="0"/>
              <a:t> Prize: </a:t>
            </a:r>
          </a:p>
          <a:p>
            <a:pPr lvl="1"/>
            <a:r>
              <a:rPr lang="en-US" sz="1800" dirty="0"/>
              <a:t>Running since 1991</a:t>
            </a:r>
          </a:p>
          <a:p>
            <a:pPr lvl="1"/>
            <a:r>
              <a:rPr lang="en-US" sz="1800" dirty="0"/>
              <a:t>5 minute time limit</a:t>
            </a:r>
          </a:p>
          <a:p>
            <a:pPr lvl="1"/>
            <a:r>
              <a:rPr lang="en-US" sz="1800" dirty="0"/>
              <a:t>Judges have no special training</a:t>
            </a:r>
          </a:p>
          <a:p>
            <a:pPr lvl="1"/>
            <a:r>
              <a:rPr lang="en-US" sz="1800" dirty="0"/>
              <a:t>Fool 30% of judges to win</a:t>
            </a:r>
          </a:p>
          <a:p>
            <a:pPr lvl="1"/>
            <a:endParaRPr lang="en-US" sz="1800" dirty="0"/>
          </a:p>
          <a:p>
            <a:r>
              <a:rPr lang="en-US" sz="2200" dirty="0"/>
              <a:t>Recent LLMs pass the test</a:t>
            </a:r>
          </a:p>
          <a:p>
            <a:pPr lvl="1"/>
            <a:r>
              <a:rPr lang="en-US" sz="1800" dirty="0"/>
              <a:t>But are they intelligent</a:t>
            </a:r>
            <a:endParaRPr lang="en-IE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91504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But can we be sure? (Chinese Room)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196752"/>
            <a:ext cx="8228160" cy="5184576"/>
          </a:xfrm>
        </p:spPr>
        <p:txBody>
          <a:bodyPr/>
          <a:lstStyle/>
          <a:p>
            <a:pPr marL="90488" indent="6350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A thought experiment by American Philosopher John Searle which first appeared in his 1980 paper "Minds, Brains, and Programs".</a:t>
            </a:r>
          </a:p>
          <a:p>
            <a:pPr marL="391686" indent="-293764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IE" sz="2000" dirty="0"/>
          </a:p>
          <a:p>
            <a:pPr marL="90488" indent="6350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The argument:</a:t>
            </a:r>
          </a:p>
          <a:p>
            <a:pPr marL="90488" indent="6350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Searle is in a closed room and has a book of Chinese to English instructions. He can receive Chinese characters through a slot in the door, process them according to the book's instructions, and produce Chinese characters as output. </a:t>
            </a:r>
          </a:p>
          <a:p>
            <a:pPr marL="391686" indent="-293764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He can pass the Turing test.</a:t>
            </a:r>
          </a:p>
          <a:p>
            <a:pPr marL="391686" indent="-293764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IE" sz="2000" dirty="0"/>
          </a:p>
          <a:p>
            <a:pPr marL="90488" indent="6350" algn="just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The conclusion of Searle’s argument is that we can program a digital computer to make it appear to understand language but it does not produce real understanding. Hence the “Turing Test” is inadequate.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721439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Replies to the Chinese Room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196752"/>
            <a:ext cx="8228160" cy="5184576"/>
          </a:xfrm>
        </p:spPr>
        <p:txBody>
          <a:bodyPr/>
          <a:lstStyle/>
          <a:p>
            <a:r>
              <a:rPr lang="en-US" sz="2800" dirty="0"/>
              <a:t>System Reply</a:t>
            </a:r>
          </a:p>
          <a:p>
            <a:r>
              <a:rPr lang="en-US" sz="2800" dirty="0"/>
              <a:t>Virtual Mind Reply</a:t>
            </a:r>
          </a:p>
          <a:p>
            <a:r>
              <a:rPr lang="en-US" sz="2800" dirty="0"/>
              <a:t>Robot Reply</a:t>
            </a:r>
          </a:p>
          <a:p>
            <a:r>
              <a:rPr lang="en-US" sz="2800" dirty="0"/>
              <a:t>Brain Simulator</a:t>
            </a:r>
          </a:p>
          <a:p>
            <a:r>
              <a:rPr lang="en-US" sz="2800" dirty="0"/>
              <a:t>Brain Replacement</a:t>
            </a:r>
          </a:p>
          <a:p>
            <a:r>
              <a:rPr lang="en-US" sz="2800" dirty="0"/>
              <a:t>Other Minds</a:t>
            </a:r>
          </a:p>
          <a:p>
            <a:r>
              <a:rPr lang="en-US" sz="2800" dirty="0"/>
              <a:t>Intuition</a:t>
            </a:r>
          </a:p>
          <a:p>
            <a:r>
              <a:rPr lang="en-US" sz="2800" dirty="0"/>
              <a:t>Zombie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1800" dirty="0"/>
              <a:t>Check out: </a:t>
            </a:r>
            <a:r>
              <a:rPr lang="en-US" sz="1800" dirty="0">
                <a:hlinkClick r:id="rId3"/>
              </a:rPr>
              <a:t>http://plato.stanford.edu/entries/chinese-room/</a:t>
            </a:r>
            <a:endParaRPr lang="en-US" sz="1800" dirty="0"/>
          </a:p>
          <a:p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04009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Strong and Weak AI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196752"/>
            <a:ext cx="8228160" cy="518457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Take Chess</a:t>
            </a:r>
          </a:p>
          <a:p>
            <a:r>
              <a:rPr lang="en-US" sz="2400" dirty="0"/>
              <a:t>Computers can play chess</a:t>
            </a:r>
          </a:p>
          <a:p>
            <a:pPr lvl="1"/>
            <a:r>
              <a:rPr lang="en-US" sz="2000" dirty="0"/>
              <a:t>They can beat humans</a:t>
            </a:r>
          </a:p>
          <a:p>
            <a:pPr lvl="0"/>
            <a:r>
              <a:rPr lang="en-US" sz="2400" dirty="0"/>
              <a:t>But do they actually “understand” the game?</a:t>
            </a:r>
          </a:p>
          <a:p>
            <a:pPr lvl="0"/>
            <a:endParaRPr lang="en-US" sz="2400" dirty="0"/>
          </a:p>
          <a:p>
            <a:pPr marL="0" indent="0">
              <a:buNone/>
            </a:pPr>
            <a:r>
              <a:rPr lang="en-US" sz="2400" dirty="0"/>
              <a:t>Weak AI</a:t>
            </a:r>
          </a:p>
          <a:p>
            <a:pPr lvl="1"/>
            <a:r>
              <a:rPr lang="en-US" sz="2000" dirty="0"/>
              <a:t>It is a simulation of a mind not an actual mind</a:t>
            </a:r>
          </a:p>
          <a:p>
            <a:pPr lvl="1"/>
            <a:r>
              <a:rPr lang="en-US" sz="2000" dirty="0"/>
              <a:t>Computers manipulate 1’s and 0’s</a:t>
            </a:r>
          </a:p>
          <a:p>
            <a:pPr lvl="1"/>
            <a:r>
              <a:rPr lang="en-US" sz="2000" dirty="0"/>
              <a:t>They are Zombies</a:t>
            </a:r>
          </a:p>
          <a:p>
            <a:pPr marL="0" indent="0">
              <a:buNone/>
            </a:pPr>
            <a:r>
              <a:rPr lang="en-US" sz="2400" dirty="0"/>
              <a:t>Strong AI</a:t>
            </a:r>
          </a:p>
          <a:p>
            <a:pPr lvl="1"/>
            <a:r>
              <a:rPr lang="en-US" sz="2000" dirty="0"/>
              <a:t>The appropriately programmed computer with the right inputs and outputs would thereby have a mind in exactly the same sense human beings have minds</a:t>
            </a:r>
          </a:p>
          <a:p>
            <a:pPr lvl="1"/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55606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So is AI Possible?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196752"/>
            <a:ext cx="8228160" cy="5184576"/>
          </a:xfrm>
        </p:spPr>
        <p:txBody>
          <a:bodyPr/>
          <a:lstStyle/>
          <a:p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Yes</a:t>
            </a:r>
          </a:p>
          <a:p>
            <a:pPr lvl="1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Existence Proof – me!</a:t>
            </a:r>
          </a:p>
          <a:p>
            <a:pPr lvl="2"/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We are machines and we are intelligent</a:t>
            </a:r>
          </a:p>
          <a:p>
            <a:pPr lvl="0"/>
            <a:endParaRPr lang="en-US" sz="22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pPr lvl="0"/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</a:t>
            </a:r>
          </a:p>
          <a:p>
            <a:pPr lvl="1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It is beyond our capabilities</a:t>
            </a:r>
          </a:p>
          <a:p>
            <a:pPr lvl="1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 create an intelligence as good as ours  would require a far greater intelligence</a:t>
            </a:r>
          </a:p>
          <a:p>
            <a:pPr lvl="1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But evolution works…</a:t>
            </a:r>
          </a:p>
          <a:p>
            <a:pPr lvl="1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The Zombie argument</a:t>
            </a:r>
          </a:p>
          <a:p>
            <a:pPr lvl="2"/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What is consciousness?</a:t>
            </a:r>
          </a:p>
          <a:p>
            <a:pPr lvl="1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We have something extra</a:t>
            </a:r>
          </a:p>
          <a:p>
            <a:pPr lvl="2"/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Soul?</a:t>
            </a:r>
          </a:p>
          <a:p>
            <a:pPr lvl="0"/>
            <a:endParaRPr lang="en-US" sz="22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970365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961"/>
            <a:ext cx="8228160" cy="706767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“Good Morning Dave”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604521"/>
            <a:ext cx="8228160" cy="3696687"/>
          </a:xfrm>
        </p:spPr>
        <p:txBody>
          <a:bodyPr/>
          <a:lstStyle/>
          <a:p>
            <a:r>
              <a:rPr lang="en-US" sz="1800" i="1" dirty="0"/>
              <a:t>2001: A Space Odyssey</a:t>
            </a:r>
          </a:p>
          <a:p>
            <a:pPr lvl="1"/>
            <a:r>
              <a:rPr lang="en-US" sz="1600" dirty="0"/>
              <a:t>classic science fiction movie from 1969</a:t>
            </a:r>
            <a:br>
              <a:rPr lang="en-US" sz="1600" dirty="0"/>
            </a:br>
            <a:endParaRPr lang="en-US" sz="1600" dirty="0"/>
          </a:p>
          <a:p>
            <a:r>
              <a:rPr lang="en-US" sz="1800" dirty="0"/>
              <a:t>HAL (Heuristically programmed </a:t>
            </a:r>
            <a:r>
              <a:rPr lang="en-US" sz="1800" dirty="0" err="1"/>
              <a:t>ALgorithmic</a:t>
            </a:r>
            <a:r>
              <a:rPr lang="en-US" sz="1800" dirty="0"/>
              <a:t> computer)</a:t>
            </a:r>
          </a:p>
          <a:p>
            <a:pPr lvl="1"/>
            <a:r>
              <a:rPr lang="en-US" sz="1600" dirty="0"/>
              <a:t>part of the story centers around an intelligent computer called HAL</a:t>
            </a:r>
          </a:p>
          <a:p>
            <a:pPr lvl="1"/>
            <a:r>
              <a:rPr lang="en-US" sz="1600" dirty="0"/>
              <a:t>HAL is the “brains” of an intelligent spaceship</a:t>
            </a:r>
          </a:p>
          <a:p>
            <a:pPr lvl="1"/>
            <a:r>
              <a:rPr lang="en-US" sz="1600" dirty="0"/>
              <a:t>in the movie, HAL can</a:t>
            </a:r>
          </a:p>
          <a:p>
            <a:pPr lvl="2"/>
            <a:r>
              <a:rPr lang="en-US" sz="1400" dirty="0"/>
              <a:t>speak easily with the crew</a:t>
            </a:r>
          </a:p>
          <a:p>
            <a:pPr lvl="2"/>
            <a:r>
              <a:rPr lang="en-US" sz="1400" dirty="0"/>
              <a:t>see and understand the emotions of the crew</a:t>
            </a:r>
          </a:p>
          <a:p>
            <a:pPr lvl="2"/>
            <a:r>
              <a:rPr lang="en-US" sz="1400" dirty="0"/>
              <a:t>navigate the ship automatically</a:t>
            </a:r>
          </a:p>
          <a:p>
            <a:pPr lvl="2"/>
            <a:r>
              <a:rPr lang="en-US" sz="1400" dirty="0"/>
              <a:t>diagnose on-board problems</a:t>
            </a:r>
          </a:p>
          <a:p>
            <a:pPr lvl="2"/>
            <a:r>
              <a:rPr lang="en-US" sz="1400" dirty="0"/>
              <a:t>make life-and-death decisions</a:t>
            </a:r>
          </a:p>
          <a:p>
            <a:pPr lvl="2"/>
            <a:r>
              <a:rPr lang="en-US" sz="1400" dirty="0"/>
              <a:t>display emotions</a:t>
            </a:r>
            <a:endParaRPr lang="en-US" sz="1800" dirty="0"/>
          </a:p>
        </p:txBody>
      </p:sp>
      <p:pic>
        <p:nvPicPr>
          <p:cNvPr id="1026" name="Picture 2" descr="http://www.the-arcade.ie/wp-content/uploads/2014/11/2001-a-space-odyssey-original-it-might-be-2014-but-2001-is-making-a-comeback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324" y="1196752"/>
            <a:ext cx="1689573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sp>
        <p:nvSpPr>
          <p:cNvPr id="3" name="TextBox 2"/>
          <p:cNvSpPr txBox="1"/>
          <p:nvPr/>
        </p:nvSpPr>
        <p:spPr>
          <a:xfrm>
            <a:off x="456481" y="5385811"/>
            <a:ext cx="5402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In 1969 this was science fiction: is it still science fiction?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433644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State of the Art </a:t>
            </a:r>
            <a:r>
              <a:rPr lang="en-IE" sz="3600" b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in AI?</a:t>
            </a:r>
            <a:endParaRPr lang="en-IE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  <p:pic>
        <p:nvPicPr>
          <p:cNvPr id="8194" name="Picture 2" descr="ASIMO 4.28.1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772816"/>
            <a:ext cx="1666875" cy="2505076"/>
          </a:xfrm>
          <a:prstGeom prst="rect">
            <a:avLst/>
          </a:prstGeom>
          <a:noFill/>
        </p:spPr>
      </p:pic>
      <p:pic>
        <p:nvPicPr>
          <p:cNvPr id="8196" name="Picture 4" descr="http://s.numrush.nl/wp-content/uploads/2014/02/IBMWatso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52629" y="4694831"/>
            <a:ext cx="3195835" cy="1902521"/>
          </a:xfrm>
          <a:prstGeom prst="rect">
            <a:avLst/>
          </a:prstGeom>
          <a:noFill/>
        </p:spPr>
      </p:pic>
      <p:pic>
        <p:nvPicPr>
          <p:cNvPr id="8198" name="Picture 6" descr="https://www.ll.mit.edu/publications/imagespublications/urbanchallenge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05709" y="1484784"/>
            <a:ext cx="1889673" cy="1251384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323528" y="1340768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+mn-lt"/>
              </a:rPr>
              <a:t>Bipedal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6056" y="1063559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+mn-lt"/>
              </a:rPr>
              <a:t>Self Driving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8983" y="4249517"/>
            <a:ext cx="1566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latin typeface="+mn-lt"/>
              </a:rPr>
              <a:t>Understanding</a:t>
            </a:r>
          </a:p>
        </p:txBody>
      </p:sp>
      <p:pic>
        <p:nvPicPr>
          <p:cNvPr id="1026" name="Picture 2" descr="http://media.npr.org/assets/img/2015/06/07/ihmc-crossing-rubble-day-1-photo-3_custom-efc2a2090ebbcc46b91c8fb86947692cbc08c1b2-s900-c85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52" y="4374396"/>
            <a:ext cx="2475909" cy="179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spectrum.ieee.org/img/ihmc-atlas-robot-darpa-drc-1433548962139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278" y="2568660"/>
            <a:ext cx="2474279" cy="151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robots will compete on a special obstacle course designed to simulate a disaster zon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203" y="4277892"/>
            <a:ext cx="2963411" cy="197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Content Placeholder 7" descr="google-self-driving-car.jpg"/>
          <p:cNvPicPr>
            <a:picLocks noGrp="1" noChangeAspect="1"/>
          </p:cNvPicPr>
          <p:nvPr>
            <p:ph sz="quarter" idx="4294967295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6" r="22466"/>
          <a:stretch>
            <a:fillRect/>
          </a:stretch>
        </p:blipFill>
        <p:spPr>
          <a:xfrm>
            <a:off x="4538213" y="1863637"/>
            <a:ext cx="1551162" cy="15841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672" y="2831266"/>
            <a:ext cx="2252782" cy="141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43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State of the Art in AI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  <p:pic>
        <p:nvPicPr>
          <p:cNvPr id="5" name="Online Media 4">
            <a:hlinkClick r:id="" action="ppaction://media"/>
            <a:extLst>
              <a:ext uri="{FF2B5EF4-FFF2-40B4-BE49-F238E27FC236}">
                <a16:creationId xmlns:a16="http://schemas.microsoft.com/office/drawing/2014/main" id="{5BF8A578-8EAD-4974-A271-B8C92C9AFBB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86000" y="2143125"/>
            <a:ext cx="4572000" cy="2571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40892A-1AFF-479C-83FC-E7206AE24577}"/>
              </a:ext>
            </a:extLst>
          </p:cNvPr>
          <p:cNvSpPr txBox="1"/>
          <p:nvPr/>
        </p:nvSpPr>
        <p:spPr>
          <a:xfrm>
            <a:off x="1898800" y="5157192"/>
            <a:ext cx="5346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5"/>
              </a:rPr>
              <a:t>https://www.youtube.com/watch?v=WcbGRBPkrps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398494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State of the Art?</a:t>
            </a:r>
          </a:p>
        </p:txBody>
      </p:sp>
      <p:pic>
        <p:nvPicPr>
          <p:cNvPr id="1030" name="Picture 6" descr="https://timedotcom.files.wordpress.com/2015/08/hitch-bot.jpg?quality=65&amp;strip=color&amp;w=11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75" y="1752392"/>
            <a:ext cx="3844803" cy="3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cdn2.vox-cdn.com/thumbor/KOQC1qazqIlVEKI8Nj_1mDAYwcY=/cdn0.vox-cdn.com/uploads/chorus_asset/file/3928920/hitchbot.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656914"/>
            <a:ext cx="4434636" cy="388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3528" y="115826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 err="1"/>
              <a:t>HitchBot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  <p:sp>
        <p:nvSpPr>
          <p:cNvPr id="7" name="TextBox 6"/>
          <p:cNvSpPr txBox="1"/>
          <p:nvPr/>
        </p:nvSpPr>
        <p:spPr>
          <a:xfrm>
            <a:off x="4499992" y="206084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 err="1"/>
              <a:t>HitchBotched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038230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Future (is now)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sz="quarter" idx="4294967295"/>
          </p:nvPr>
        </p:nvSpPr>
        <p:spPr>
          <a:xfrm>
            <a:off x="35496" y="1124744"/>
            <a:ext cx="5544616" cy="2592288"/>
          </a:xfrm>
          <a:prstGeom prst="rect">
            <a:avLst/>
          </a:prstGeom>
        </p:spPr>
        <p:txBody>
          <a:bodyPr/>
          <a:lstStyle/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Computers become </a:t>
            </a:r>
            <a:r>
              <a:rPr lang="en-IE" sz="2800" dirty="0">
                <a:solidFill>
                  <a:srgbClr val="FF0000"/>
                </a:solidFill>
              </a:rPr>
              <a:t>pervasive</a:t>
            </a:r>
          </a:p>
          <a:p>
            <a:pPr marL="791736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Mobile computing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Phones, Pads</a:t>
            </a:r>
            <a:r>
              <a:rPr lang="en-IE" sz="2000"/>
              <a:t>, Pods </a:t>
            </a:r>
            <a:r>
              <a:rPr lang="en-IE" sz="2000" dirty="0"/>
              <a:t>...</a:t>
            </a:r>
          </a:p>
          <a:p>
            <a:pPr marL="791736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Cloud computing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Data always available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Search becomes smarter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sz="quarter" idx="4294967295"/>
          </p:nvPr>
        </p:nvSpPr>
        <p:spPr>
          <a:xfrm>
            <a:off x="4031432" y="3240360"/>
            <a:ext cx="5005064" cy="3284984"/>
          </a:xfrm>
          <a:prstGeom prst="rect">
            <a:avLst/>
          </a:prstGeom>
        </p:spPr>
        <p:txBody>
          <a:bodyPr/>
          <a:lstStyle/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Computers become </a:t>
            </a:r>
            <a:r>
              <a:rPr lang="en-IE" sz="2800" dirty="0">
                <a:solidFill>
                  <a:srgbClr val="FF0000"/>
                </a:solidFill>
              </a:rPr>
              <a:t>invisible</a:t>
            </a:r>
          </a:p>
          <a:p>
            <a:pPr marL="791736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Ambient technology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Sensors, actuators ...</a:t>
            </a:r>
          </a:p>
          <a:p>
            <a:pPr marL="791736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Wearable technology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Physiological measurements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Body area networks</a:t>
            </a:r>
          </a:p>
          <a:p>
            <a:pPr marL="791736" lvl="1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Implants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/>
              <a:t>e.g. Pace makers</a:t>
            </a:r>
          </a:p>
        </p:txBody>
      </p:sp>
    </p:spTree>
    <p:extLst>
      <p:ext uri="{BB962C8B-B14F-4D97-AF65-F5344CB8AC3E}">
        <p14:creationId xmlns:p14="http://schemas.microsoft.com/office/powerpoint/2010/main" val="25097425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future </a:t>
            </a:r>
            <a:r>
              <a:rPr lang="en-IE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Future</a:t>
            </a:r>
            <a:endParaRPr lang="en-IE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sz="quarter" idx="4294967295"/>
          </p:nvPr>
        </p:nvSpPr>
        <p:spPr>
          <a:xfrm>
            <a:off x="44698" y="1062167"/>
            <a:ext cx="4455294" cy="3158922"/>
          </a:xfrm>
          <a:prstGeom prst="rect">
            <a:avLst/>
          </a:prstGeom>
        </p:spPr>
        <p:txBody>
          <a:bodyPr/>
          <a:lstStyle/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Singularity</a:t>
            </a: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/>
              <a:t>Grey Goo</a:t>
            </a: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 err="1"/>
              <a:t>Panopticon</a:t>
            </a:r>
            <a:endParaRPr lang="en-IE" sz="2800" dirty="0"/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800" dirty="0" err="1"/>
              <a:t>Skynet</a:t>
            </a:r>
            <a:endParaRPr lang="en-IE" sz="2800" dirty="0"/>
          </a:p>
          <a:p>
            <a:pPr marL="391686" indent="-293764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We won’t know until we see it!</a:t>
            </a:r>
          </a:p>
          <a:p>
            <a:pPr marL="391686" indent="-293764"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400" dirty="0"/>
              <a:t>But WILL we see it??</a:t>
            </a:r>
          </a:p>
          <a:p>
            <a:pPr marL="1191786" lvl="2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2000" dirty="0" err="1"/>
              <a:t>Ehm</a:t>
            </a:r>
            <a:r>
              <a:rPr lang="en-IE" sz="2000" dirty="0"/>
              <a:t>...The Matrix?</a:t>
            </a:r>
          </a:p>
          <a:p>
            <a:pPr marL="391686" indent="-293764">
              <a:buSzPct val="45000"/>
              <a:buFont typeface="Wingdings" charset="0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IE" sz="2800" dirty="0"/>
          </a:p>
        </p:txBody>
      </p:sp>
      <p:pic>
        <p:nvPicPr>
          <p:cNvPr id="30724" name="Content Placeholder 7" descr="panopticon.jpeg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6" r="14206"/>
          <a:stretch>
            <a:fillRect/>
          </a:stretch>
        </p:blipFill>
        <p:spPr>
          <a:xfrm>
            <a:off x="6444208" y="3429000"/>
            <a:ext cx="2067764" cy="2111773"/>
          </a:xfrm>
          <a:prstGeom prst="rect">
            <a:avLst/>
          </a:prstGeom>
        </p:spPr>
      </p:pic>
      <p:pic>
        <p:nvPicPr>
          <p:cNvPr id="2050" name="Picture 2" descr="http://i.livescience.com/images/i/000/072/517/iFF/irobot-sonny.jpeg?1417725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736" y="1270128"/>
            <a:ext cx="2158188" cy="143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encrypted-tbn0.gstatic.com/images?q=tbn:ANd9GcQ0M-9EDbfoydkM1OA0jyO9vAcivLNyzlkdbE5IuV07bu3Fj2i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780928"/>
            <a:ext cx="1781766" cy="161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wiredcosmos.com/wp-content/uploads/2014/01/Future-Brain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877" y="1015808"/>
            <a:ext cx="2643063" cy="148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s://upload.wikimedia.org/wikipedia/commons/thumb/a/aa/Skynet.svg/300px-Skynet.svg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653136"/>
            <a:ext cx="1585489" cy="158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  <p:pic>
        <p:nvPicPr>
          <p:cNvPr id="49154" name="Picture 2" descr="http://www.medtees.com/blog/Matrixfail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5576" y="4458290"/>
            <a:ext cx="3150350" cy="17790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97425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85800" y="2535039"/>
            <a:ext cx="7772400" cy="1470025"/>
          </a:xfrm>
        </p:spPr>
        <p:txBody>
          <a:bodyPr vert="horz" wrap="square" lIns="91440" tIns="35202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sz="3600" dirty="0">
                <a:latin typeface="Corbel" charset="0"/>
              </a:rPr>
              <a:t>An Algorithm to govern psychology?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07556"/>
            <a:ext cx="6400800" cy="1752600"/>
          </a:xfrm>
          <a:noFill/>
        </p:spPr>
        <p:txBody>
          <a:bodyPr vert="horz" wrap="square" lIns="0" tIns="25602" rIns="0" bIns="0" numCol="1" anchor="ctr" anchorCtr="0" compatLnSpc="1">
            <a:prstTxWarp prst="textNoShape">
              <a:avLst/>
            </a:prstTxWarp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IE" dirty="0">
                <a:solidFill>
                  <a:srgbClr val="174576"/>
                </a:solidFill>
                <a:latin typeface="Corbel" charset="0"/>
              </a:rPr>
              <a:t>to be continued…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CF7FFA-D0E4-4688-B2F9-1175C1B7E3CC}" type="slidenum">
              <a:rPr lang="en-IE" smtClean="0"/>
              <a:pPr>
                <a:defRPr/>
              </a:pPr>
              <a:t>18</a:t>
            </a:fld>
            <a:endParaRPr lang="en-IE"/>
          </a:p>
        </p:txBody>
      </p:sp>
      <p:sp>
        <p:nvSpPr>
          <p:cNvPr id="3" name="TextBox 2"/>
          <p:cNvSpPr txBox="1"/>
          <p:nvPr/>
        </p:nvSpPr>
        <p:spPr>
          <a:xfrm>
            <a:off x="522558" y="1412776"/>
            <a:ext cx="8098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>
                <a:latin typeface="+mn-lt"/>
                <a:hlinkClick r:id="rId3"/>
              </a:rPr>
              <a:t>HAL</a:t>
            </a:r>
            <a:r>
              <a:rPr lang="en-IE" dirty="0">
                <a:latin typeface="+mn-lt"/>
              </a:rPr>
              <a:t>: I'm afraid. I'm afraid, Dave. Dave, my mind is going. I can feel it. I can feel it. </a:t>
            </a:r>
          </a:p>
          <a:p>
            <a:r>
              <a:rPr lang="en-IE" dirty="0">
                <a:latin typeface="+mn-lt"/>
              </a:rPr>
              <a:t>My mind is going. There is no question about it. I can feel it. I can feel it. I can feel it. </a:t>
            </a:r>
          </a:p>
          <a:p>
            <a:r>
              <a:rPr lang="en-IE" dirty="0">
                <a:latin typeface="+mn-lt"/>
              </a:rPr>
              <a:t>I'm a... </a:t>
            </a:r>
            <a:r>
              <a:rPr lang="en-IE" dirty="0" err="1">
                <a:latin typeface="+mn-lt"/>
              </a:rPr>
              <a:t>fraid</a:t>
            </a:r>
            <a:r>
              <a:rPr lang="en-IE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06979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EBCF79A4D54841B92E54E2174403EA" ma:contentTypeVersion="14" ma:contentTypeDescription="Create a new document." ma:contentTypeScope="" ma:versionID="1004ead8e76a6b66f9596e98d0ab5ec2">
  <xsd:schema xmlns:xsd="http://www.w3.org/2001/XMLSchema" xmlns:xs="http://www.w3.org/2001/XMLSchema" xmlns:p="http://schemas.microsoft.com/office/2006/metadata/properties" xmlns:ns3="faf2d6e9-ab54-4e1d-81bb-d73dc9639351" xmlns:ns4="1cc5d177-1d67-41d1-8379-54ed6d5312ae" targetNamespace="http://schemas.microsoft.com/office/2006/metadata/properties" ma:root="true" ma:fieldsID="ee7ca407fd8e196ebdbcf4a7aee94f0d" ns3:_="" ns4:_="">
    <xsd:import namespace="faf2d6e9-ab54-4e1d-81bb-d73dc9639351"/>
    <xsd:import namespace="1cc5d177-1d67-41d1-8379-54ed6d5312a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f2d6e9-ab54-4e1d-81bb-d73dc96393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5d177-1d67-41d1-8379-54ed6d5312a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8D6D02-6BE8-48A6-8631-23D3EB901C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f2d6e9-ab54-4e1d-81bb-d73dc9639351"/>
    <ds:schemaRef ds:uri="1cc5d177-1d67-41d1-8379-54ed6d5312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6B7924-DBD5-409F-806B-E80F87B836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93AC9A-30CA-4385-A8BF-CF8AAC2E238F}">
  <ds:schemaRefs>
    <ds:schemaRef ds:uri="http://schemas.microsoft.com/office/2006/documentManagement/types"/>
    <ds:schemaRef ds:uri="faf2d6e9-ab54-4e1d-81bb-d73dc9639351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1cc5d177-1d67-41d1-8379-54ed6d5312ae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3527</TotalTime>
  <Words>1088</Words>
  <Application>Microsoft Office PowerPoint</Application>
  <PresentationFormat>On-screen Show (4:3)</PresentationFormat>
  <Paragraphs>189</Paragraphs>
  <Slides>18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ＭＳ Ｐゴシック</vt:lpstr>
      <vt:lpstr>Arial</vt:lpstr>
      <vt:lpstr>Arial Unicode MS</vt:lpstr>
      <vt:lpstr>Calibri</vt:lpstr>
      <vt:lpstr>Corbel</vt:lpstr>
      <vt:lpstr>Times New Roman</vt:lpstr>
      <vt:lpstr>Wingdings</vt:lpstr>
      <vt:lpstr>Custom Design</vt:lpstr>
      <vt:lpstr>1_Custom Design</vt:lpstr>
      <vt:lpstr>Artificial Intelligence in Games?</vt:lpstr>
      <vt:lpstr>Some Keywords</vt:lpstr>
      <vt:lpstr>How do humans do it?</vt:lpstr>
      <vt:lpstr>How do humans do it?</vt:lpstr>
      <vt:lpstr>What can we do?</vt:lpstr>
      <vt:lpstr>Can machines do it?</vt:lpstr>
      <vt:lpstr>How would we tell?</vt:lpstr>
      <vt:lpstr>But can we be sure? (Chinese Room)</vt:lpstr>
      <vt:lpstr>Replies to the Chinese Room</vt:lpstr>
      <vt:lpstr>Strong and Weak AI</vt:lpstr>
      <vt:lpstr>So is AI Possible?</vt:lpstr>
      <vt:lpstr>“Good Morning Dave”</vt:lpstr>
      <vt:lpstr>State of the Art in AI?</vt:lpstr>
      <vt:lpstr>State of the Art in AI</vt:lpstr>
      <vt:lpstr>State of the Art?</vt:lpstr>
      <vt:lpstr>The Future (is now)</vt:lpstr>
      <vt:lpstr>The future Future</vt:lpstr>
      <vt:lpstr>An Algorithm to govern psychology?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468</cp:revision>
  <dcterms:created xsi:type="dcterms:W3CDTF">2007-05-08T17:20:09Z</dcterms:created>
  <dcterms:modified xsi:type="dcterms:W3CDTF">2025-09-11T08:34:12Z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  <property fmtid="{D5CDD505-2E9C-101B-9397-08002B2CF9AE}" pid="3" name="ContentTypeId">
    <vt:lpwstr>0x01010042EBCF79A4D54841B92E54E2174403EA</vt:lpwstr>
  </property>
</Properties>
</file>