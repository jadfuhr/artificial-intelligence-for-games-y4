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  <p:sldMasterId id="2147483869" r:id="rId2"/>
  </p:sldMasterIdLst>
  <p:notesMasterIdLst>
    <p:notesMasterId r:id="rId19"/>
  </p:notesMasterIdLst>
  <p:sldIdLst>
    <p:sldId id="273" r:id="rId3"/>
    <p:sldId id="287" r:id="rId4"/>
    <p:sldId id="288" r:id="rId5"/>
    <p:sldId id="289" r:id="rId6"/>
    <p:sldId id="293" r:id="rId7"/>
    <p:sldId id="286" r:id="rId8"/>
    <p:sldId id="280" r:id="rId9"/>
    <p:sldId id="281" r:id="rId10"/>
    <p:sldId id="282" r:id="rId11"/>
    <p:sldId id="283" r:id="rId12"/>
    <p:sldId id="284" r:id="rId13"/>
    <p:sldId id="285" r:id="rId14"/>
    <p:sldId id="292" r:id="rId15"/>
    <p:sldId id="290" r:id="rId16"/>
    <p:sldId id="291" r:id="rId17"/>
    <p:sldId id="294" r:id="rId18"/>
  </p:sldIdLst>
  <p:sldSz cx="9144000" cy="6858000" type="screen4x3"/>
  <p:notesSz cx="6884988" cy="100885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EA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71" autoAdjust="0"/>
  </p:normalViewPr>
  <p:slideViewPr>
    <p:cSldViewPr>
      <p:cViewPr varScale="1">
        <p:scale>
          <a:sx n="88" d="100"/>
          <a:sy n="88" d="100"/>
        </p:scale>
        <p:origin x="219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isin Cawley" userId="c7ebb277-34aa-421f-b739-032ced270c1a" providerId="ADAL" clId="{0971CEB2-6EC5-44BA-9921-60D93D724228}"/>
  </pc:docChgLst>
  <pc:docChgLst>
    <pc:chgData name="Oisin Cawley" userId="6b66d80f-e52a-4eb8-b588-9059f489afa4" providerId="ADAL" clId="{3F13D3D4-F925-49B5-BDF1-D3A3E8E7EBE1}"/>
    <pc:docChg chg="custSel modMainMaster">
      <pc:chgData name="Oisin Cawley" userId="6b66d80f-e52a-4eb8-b588-9059f489afa4" providerId="ADAL" clId="{3F13D3D4-F925-49B5-BDF1-D3A3E8E7EBE1}" dt="2023-11-30T10:56:11.748" v="3"/>
      <pc:docMkLst>
        <pc:docMk/>
      </pc:docMkLst>
      <pc:sldMasterChg chg="addSp delSp">
        <pc:chgData name="Oisin Cawley" userId="6b66d80f-e52a-4eb8-b588-9059f489afa4" providerId="ADAL" clId="{3F13D3D4-F925-49B5-BDF1-D3A3E8E7EBE1}" dt="2023-11-30T10:56:11.748" v="3"/>
        <pc:sldMasterMkLst>
          <pc:docMk/>
          <pc:sldMasterMk cId="0" sldId="2147483840"/>
        </pc:sldMasterMkLst>
        <pc:picChg chg="add">
          <ac:chgData name="Oisin Cawley" userId="6b66d80f-e52a-4eb8-b588-9059f489afa4" providerId="ADAL" clId="{3F13D3D4-F925-49B5-BDF1-D3A3E8E7EBE1}" dt="2023-11-30T10:56:11.748" v="3"/>
          <ac:picMkLst>
            <pc:docMk/>
            <pc:sldMasterMk cId="0" sldId="2147483840"/>
            <ac:picMk id="8" creationId="{06C909AD-F263-40FE-A137-FDA5E5F5E721}"/>
          </ac:picMkLst>
        </pc:picChg>
        <pc:picChg chg="del">
          <ac:chgData name="Oisin Cawley" userId="6b66d80f-e52a-4eb8-b588-9059f489afa4" providerId="ADAL" clId="{3F13D3D4-F925-49B5-BDF1-D3A3E8E7EBE1}" dt="2023-11-30T10:56:11.381" v="2" actId="478"/>
          <ac:picMkLst>
            <pc:docMk/>
            <pc:sldMasterMk cId="0" sldId="2147483840"/>
            <ac:picMk id="1030" creationId="{00000000-0000-0000-0000-000000000000}"/>
          </ac:picMkLst>
        </pc:picChg>
      </pc:sldMasterChg>
      <pc:sldMasterChg chg="addSp delSp">
        <pc:chgData name="Oisin Cawley" userId="6b66d80f-e52a-4eb8-b588-9059f489afa4" providerId="ADAL" clId="{3F13D3D4-F925-49B5-BDF1-D3A3E8E7EBE1}" dt="2023-11-30T10:56:08.147" v="1"/>
        <pc:sldMasterMkLst>
          <pc:docMk/>
          <pc:sldMasterMk cId="0" sldId="2147483869"/>
        </pc:sldMasterMkLst>
        <pc:picChg chg="del">
          <ac:chgData name="Oisin Cawley" userId="6b66d80f-e52a-4eb8-b588-9059f489afa4" providerId="ADAL" clId="{3F13D3D4-F925-49B5-BDF1-D3A3E8E7EBE1}" dt="2023-11-30T10:56:07.759" v="0" actId="478"/>
          <ac:picMkLst>
            <pc:docMk/>
            <pc:sldMasterMk cId="0" sldId="2147483869"/>
            <ac:picMk id="8" creationId="{00000000-0000-0000-0000-000000000000}"/>
          </ac:picMkLst>
        </pc:picChg>
        <pc:picChg chg="add">
          <ac:chgData name="Oisin Cawley" userId="6b66d80f-e52a-4eb8-b588-9059f489afa4" providerId="ADAL" clId="{3F13D3D4-F925-49B5-BDF1-D3A3E8E7EBE1}" dt="2023-11-30T10:56:08.147" v="1"/>
          <ac:picMkLst>
            <pc:docMk/>
            <pc:sldMasterMk cId="0" sldId="2147483869"/>
            <ac:picMk id="9" creationId="{1637D5B5-F233-4E9B-90A9-3358E6FC5D46}"/>
          </ac:picMkLst>
        </pc:picChg>
      </pc:sldMasterChg>
    </pc:docChg>
  </pc:docChgLst>
  <pc:docChgLst>
    <pc:chgData name="Oisin Cawley" userId="c7ebb277-34aa-421f-b739-032ced270c1a" providerId="ADAL" clId="{767C536E-5DEF-4A4E-9BFA-BE97EEA333EC}"/>
  </pc:docChgLst>
  <pc:docChgLst>
    <pc:chgData name="Oisin Cawley" userId="c7ebb277-34aa-421f-b739-032ced270c1a" providerId="ADAL" clId="{05259374-8A8F-499F-9361-CEC5363B7203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90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57238"/>
            <a:ext cx="5041900" cy="3783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388" y="4792663"/>
            <a:ext cx="5510212" cy="453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0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5ACD5CE-1CB6-4E94-A92C-124437B24A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546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These Fuzzy operators were proposed by Zadeh. For normal Boolean values of True=1 and False=0 these operators produce the same result as the Boolean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51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3FCE8-4119-48FF-966B-7E5136F9C4B7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E978DDB-8E96-4DB2-8C14-28FF9F7399E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7B5FB-2642-48F7-BDAC-64F1768F7B1F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81E1D-31C8-4BDE-8ED6-CD407A12904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3B10E-0F2D-456E-A6C5-ABEC760B5FEE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2B34AF-0A0C-4B06-AF07-DCF028B85987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CED97-0F19-4EA5-951E-9254A908A87C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1C59A-8D6D-445A-8651-08EDD062102A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1BCED-8D94-45EF-A610-3A53DC3D39DB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CC426-4027-45AA-AA9D-874E74495604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D66E8D-4372-4450-AF9F-1F3F69E871F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F7FFA-D0E4-4688-B2F9-1175C1B7E3C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4C9582D-2E31-434C-A6C1-A926DBB0B909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3DDA3-2712-46ED-A771-5399145A3D01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2DE8F-7AAD-415A-8ED8-734D637B39D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0BDE4-987C-4FBC-B9CB-4D6602561EC5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15138E-20E5-4AEE-9593-4CED1FF3B4A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ED188-593D-4E5A-8309-224710DF2B50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25A37-78AD-4AC2-8CFD-83FEBCE0502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633C3-D837-4105-940D-252BA81F6873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78F10-B8B1-474C-971B-7BA47E4F6CE2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31C60-EE3E-42C6-80FB-27B190A0464E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2E1222C4-AD1C-443F-91C8-5935F67D99D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1484313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8" name="Picture 6" descr="SETU logo">
            <a:extLst>
              <a:ext uri="{FF2B5EF4-FFF2-40B4-BE49-F238E27FC236}">
                <a16:creationId xmlns:a16="http://schemas.microsoft.com/office/drawing/2014/main" id="{06C909AD-F263-40FE-A137-FDA5E5F5E7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31" r:id="rId4"/>
    <p:sldLayoutId id="2147484132" r:id="rId5"/>
    <p:sldLayoutId id="2147484133" r:id="rId6"/>
    <p:sldLayoutId id="2147484134" r:id="rId7"/>
    <p:sldLayoutId id="2147484135" r:id="rId8"/>
    <p:sldLayoutId id="2147484144" r:id="rId9"/>
    <p:sldLayoutId id="2147484145" r:id="rId10"/>
    <p:sldLayoutId id="21474841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798A2B5B-F3F1-46D4-B91B-268967D35FC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981075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9" name="Picture 6" descr="SETU logo">
            <a:extLst>
              <a:ext uri="{FF2B5EF4-FFF2-40B4-BE49-F238E27FC236}">
                <a16:creationId xmlns:a16="http://schemas.microsoft.com/office/drawing/2014/main" id="{1637D5B5-F233-4E9B-90A9-3358E6FC5D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49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50" r:id="rId9"/>
    <p:sldLayoutId id="2147484151" r:id="rId10"/>
    <p:sldLayoutId id="214748415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indent="-274320" algn="ctr" fontAlgn="auto">
              <a:spcAft>
                <a:spcPts val="0"/>
              </a:spcAft>
              <a:defRPr/>
            </a:pPr>
            <a:endParaRPr lang="en-GB" sz="2800" dirty="0">
              <a:ea typeface="+mn-ea"/>
              <a:cs typeface="Arial" charset="0"/>
            </a:endParaRPr>
          </a:p>
          <a:p>
            <a:pPr indent="-274320" algn="ctr" fontAlgn="auto">
              <a:spcAft>
                <a:spcPts val="0"/>
              </a:spcAft>
              <a:defRPr/>
            </a:pPr>
            <a:endParaRPr lang="en-GB" sz="2800" dirty="0">
              <a:cs typeface="Arial" charset="0"/>
            </a:endParaRPr>
          </a:p>
          <a:p>
            <a:pPr indent="-274320" algn="ctr" fontAlgn="auto">
              <a:spcAft>
                <a:spcPts val="0"/>
              </a:spcAft>
              <a:buNone/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Calibri" pitchFamily="34" charset="0"/>
                <a:cs typeface="Calibri" pitchFamily="34" charset="0"/>
              </a:rPr>
              <a:t>Fuzzy Rules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</a:t>
            </a:fld>
            <a:endParaRPr lang="en-I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Rules</a:t>
            </a:r>
          </a:p>
        </p:txBody>
      </p:sp>
      <p:sp>
        <p:nvSpPr>
          <p:cNvPr id="20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sz="2400" dirty="0"/>
              <a:t>A fuzzy rule can be defined as a conditional statement in the form:</a:t>
            </a:r>
          </a:p>
          <a:p>
            <a:pPr>
              <a:buNone/>
            </a:pPr>
            <a:r>
              <a:rPr lang="en-IE" sz="2400" dirty="0"/>
              <a:t>	IF		x is A</a:t>
            </a:r>
          </a:p>
          <a:p>
            <a:pPr>
              <a:buNone/>
            </a:pPr>
            <a:r>
              <a:rPr lang="en-IE" sz="2400" dirty="0"/>
              <a:t>	THEN 	y is B</a:t>
            </a:r>
          </a:p>
          <a:p>
            <a:pPr marL="0" indent="0">
              <a:buNone/>
            </a:pPr>
            <a:r>
              <a:rPr lang="en-IE" sz="2400" dirty="0"/>
              <a:t>where x and y are </a:t>
            </a:r>
            <a:r>
              <a:rPr lang="en-IE" sz="2400" b="1" dirty="0"/>
              <a:t>linguistic variables</a:t>
            </a:r>
            <a:r>
              <a:rPr lang="en-IE" sz="2400" dirty="0"/>
              <a:t>; and A and B are linguistic values determined by fuzzy sets </a:t>
            </a:r>
          </a:p>
          <a:p>
            <a:pPr marL="179388" indent="-179388"/>
            <a:endParaRPr lang="en-IE" sz="2400" dirty="0"/>
          </a:p>
          <a:p>
            <a:pPr marL="179388" indent="-179388"/>
            <a:r>
              <a:rPr lang="en-IE" sz="2400" dirty="0"/>
              <a:t>The range of possible values of a linguistic variable represents the </a:t>
            </a:r>
            <a:r>
              <a:rPr lang="en-IE" sz="2400" b="1" dirty="0"/>
              <a:t>universe of discourse</a:t>
            </a:r>
            <a:r>
              <a:rPr lang="en-IE" sz="2400" dirty="0"/>
              <a:t> of that variable.  </a:t>
            </a:r>
          </a:p>
          <a:p>
            <a:pPr marL="179388" indent="-179388"/>
            <a:r>
              <a:rPr lang="en-IE" sz="2400" dirty="0"/>
              <a:t>For example, the universe of discourse of the linguistic variable </a:t>
            </a:r>
            <a:r>
              <a:rPr lang="en-IE" sz="2400" dirty="0">
                <a:solidFill>
                  <a:srgbClr val="FF0000"/>
                </a:solidFill>
              </a:rPr>
              <a:t>speed</a:t>
            </a:r>
            <a:r>
              <a:rPr lang="en-IE" sz="2400" dirty="0"/>
              <a:t> might be the range between 0 and 220 km/h and may include such </a:t>
            </a:r>
            <a:r>
              <a:rPr lang="en-IE" sz="2400" b="1" dirty="0"/>
              <a:t>fuzzy subsets</a:t>
            </a:r>
            <a:r>
              <a:rPr lang="en-IE" sz="2400" dirty="0"/>
              <a:t> as very slow, slow, medium, fast, and very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</a:t>
            </a:fld>
            <a:endParaRPr lang="en-I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Rules</a:t>
            </a:r>
          </a:p>
        </p:txBody>
      </p:sp>
      <p:sp>
        <p:nvSpPr>
          <p:cNvPr id="20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sz="2000" b="1" dirty="0"/>
              <a:t>The difference between classical and fuzzy rules:</a:t>
            </a:r>
          </a:p>
          <a:p>
            <a:pPr marL="0" indent="0">
              <a:buNone/>
            </a:pPr>
            <a:endParaRPr lang="en-IE" sz="2000" dirty="0"/>
          </a:p>
          <a:p>
            <a:pPr marL="0" indent="0">
              <a:buNone/>
            </a:pPr>
            <a:r>
              <a:rPr lang="en-IE" sz="2000" dirty="0"/>
              <a:t>A classical IF-THEN rule uses binary logic:</a:t>
            </a:r>
          </a:p>
          <a:p>
            <a:pPr marL="0" indent="0">
              <a:buNone/>
            </a:pPr>
            <a:endParaRPr lang="en-IE" sz="2000" dirty="0"/>
          </a:p>
          <a:p>
            <a:pPr marL="0" indent="0">
              <a:buNone/>
            </a:pPr>
            <a:r>
              <a:rPr lang="en-IE" sz="2000" dirty="0"/>
              <a:t>Rule: 1</a:t>
            </a:r>
          </a:p>
          <a:p>
            <a:pPr marL="720725" indent="-720725">
              <a:buNone/>
            </a:pPr>
            <a:r>
              <a:rPr lang="en-IE" sz="2000" dirty="0"/>
              <a:t>IF	speed is &gt; 100</a:t>
            </a:r>
          </a:p>
          <a:p>
            <a:pPr marL="0" indent="0">
              <a:buNone/>
            </a:pPr>
            <a:r>
              <a:rPr lang="en-IE" sz="2000" dirty="0"/>
              <a:t>THEN  </a:t>
            </a:r>
            <a:r>
              <a:rPr lang="en-IE" sz="2000" dirty="0" err="1"/>
              <a:t>Min_stopping_Dist</a:t>
            </a:r>
            <a:r>
              <a:rPr lang="en-IE" sz="2000" dirty="0"/>
              <a:t> = 300</a:t>
            </a:r>
          </a:p>
          <a:p>
            <a:pPr marL="0" indent="0">
              <a:buNone/>
            </a:pPr>
            <a:endParaRPr lang="en-IE" sz="2000" dirty="0"/>
          </a:p>
          <a:p>
            <a:pPr marL="179388" indent="-179388"/>
            <a:r>
              <a:rPr lang="en-IE" sz="2000" dirty="0"/>
              <a:t>The variable </a:t>
            </a:r>
            <a:r>
              <a:rPr lang="en-IE" sz="2000" b="1" dirty="0"/>
              <a:t>speed</a:t>
            </a:r>
            <a:r>
              <a:rPr lang="en-IE" sz="2000" dirty="0"/>
              <a:t> can have any numerical value between 0 and 220 km/h, and </a:t>
            </a:r>
            <a:r>
              <a:rPr lang="en-IE" sz="2000" b="1" dirty="0" err="1"/>
              <a:t>stopping_distance</a:t>
            </a:r>
            <a:r>
              <a:rPr lang="en-IE" sz="2000" dirty="0"/>
              <a:t> can take either value 300 or 40.  </a:t>
            </a:r>
          </a:p>
          <a:p>
            <a:pPr marL="179388" indent="-179388"/>
            <a:r>
              <a:rPr lang="en-IE" sz="2000" dirty="0"/>
              <a:t>In other words, classical rules are expressed in the black-and-white language of Boolean logic. </a:t>
            </a:r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3</a:t>
            </a:fld>
            <a:endParaRPr lang="en-IE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716016" y="2564904"/>
            <a:ext cx="4123184" cy="3704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eaLnBrk="0" hangingPunct="0">
              <a:spcBef>
                <a:spcPct val="20000"/>
              </a:spcBef>
            </a:pPr>
            <a:r>
              <a:rPr lang="en-IE" sz="2000" dirty="0">
                <a:latin typeface="+mn-lt"/>
              </a:rPr>
              <a:t>Rule: 2</a:t>
            </a:r>
          </a:p>
          <a:p>
            <a:pPr marL="628650" lvl="0" indent="-628650" eaLnBrk="0" hangingPunct="0">
              <a:spcBef>
                <a:spcPct val="20000"/>
              </a:spcBef>
            </a:pPr>
            <a:r>
              <a:rPr lang="en-IE" sz="2000" dirty="0">
                <a:latin typeface="+mn-lt"/>
              </a:rPr>
              <a:t>IF	speed is &lt; 40</a:t>
            </a:r>
          </a:p>
          <a:p>
            <a:pPr lvl="0" eaLnBrk="0" hangingPunct="0">
              <a:spcBef>
                <a:spcPct val="20000"/>
              </a:spcBef>
            </a:pPr>
            <a:r>
              <a:rPr lang="en-IE" sz="2000" dirty="0">
                <a:latin typeface="+mn-lt"/>
              </a:rPr>
              <a:t>THEN </a:t>
            </a:r>
            <a:r>
              <a:rPr lang="en-IE" sz="2000" dirty="0" err="1">
                <a:latin typeface="+mn-lt"/>
              </a:rPr>
              <a:t>Max_stopping_distance</a:t>
            </a:r>
            <a:r>
              <a:rPr lang="en-IE" sz="2000" dirty="0">
                <a:latin typeface="+mn-lt"/>
              </a:rPr>
              <a:t> = 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Rules</a:t>
            </a:r>
          </a:p>
        </p:txBody>
      </p:sp>
      <p:sp>
        <p:nvSpPr>
          <p:cNvPr id="20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sz="2000" dirty="0"/>
              <a:t>We can also represent the stopping distance rules in a fuzzy form:</a:t>
            </a:r>
          </a:p>
          <a:p>
            <a:pPr marL="0" indent="0">
              <a:buNone/>
            </a:pPr>
            <a:endParaRPr lang="en-IE" sz="2000" dirty="0"/>
          </a:p>
          <a:p>
            <a:pPr marL="0" indent="0">
              <a:buNone/>
            </a:pPr>
            <a:r>
              <a:rPr lang="en-IE" sz="2000" dirty="0"/>
              <a:t>Rule: 1</a:t>
            </a:r>
          </a:p>
          <a:p>
            <a:pPr marL="0" indent="0">
              <a:buNone/>
            </a:pPr>
            <a:r>
              <a:rPr lang="en-IE" sz="2000" dirty="0"/>
              <a:t>IF	speed is fast</a:t>
            </a:r>
          </a:p>
          <a:p>
            <a:pPr marL="0" indent="0">
              <a:buNone/>
            </a:pPr>
            <a:r>
              <a:rPr lang="en-IE" sz="2000" dirty="0"/>
              <a:t>THEN  	</a:t>
            </a:r>
            <a:r>
              <a:rPr lang="en-IE" sz="2000" dirty="0" err="1"/>
              <a:t>stopping_distance</a:t>
            </a:r>
            <a:r>
              <a:rPr lang="en-IE" sz="2000" dirty="0"/>
              <a:t> is long</a:t>
            </a:r>
          </a:p>
          <a:p>
            <a:pPr marL="0" indent="0">
              <a:buNone/>
            </a:pPr>
            <a:endParaRPr lang="en-IE" sz="2000" dirty="0"/>
          </a:p>
          <a:p>
            <a:pPr marL="179388" indent="-179388"/>
            <a:r>
              <a:rPr lang="en-IE" sz="2000" dirty="0"/>
              <a:t>In fuzzy rules, the linguistic variable </a:t>
            </a:r>
            <a:r>
              <a:rPr lang="en-IE" sz="2000" b="1" dirty="0"/>
              <a:t>speed</a:t>
            </a:r>
            <a:r>
              <a:rPr lang="en-IE" sz="2000" dirty="0"/>
              <a:t> also has the range (the universe of discourse) between 0 and 220 km/h, but this range includes fuzzy subsets, such as </a:t>
            </a:r>
            <a:r>
              <a:rPr lang="en-IE" sz="2000" b="1" dirty="0"/>
              <a:t>slow</a:t>
            </a:r>
            <a:r>
              <a:rPr lang="en-IE" sz="2000" dirty="0"/>
              <a:t>, </a:t>
            </a:r>
            <a:r>
              <a:rPr lang="en-IE" sz="2000" b="1" dirty="0"/>
              <a:t>medium</a:t>
            </a:r>
            <a:r>
              <a:rPr lang="en-IE" sz="2000" dirty="0"/>
              <a:t> and </a:t>
            </a:r>
            <a:r>
              <a:rPr lang="en-IE" sz="2000" b="1" dirty="0"/>
              <a:t>fast</a:t>
            </a:r>
            <a:r>
              <a:rPr lang="en-IE" sz="2000" dirty="0"/>
              <a:t>.  </a:t>
            </a:r>
          </a:p>
          <a:p>
            <a:pPr marL="179388" indent="-179388"/>
            <a:r>
              <a:rPr lang="en-IE" sz="2000" dirty="0"/>
              <a:t>The universe of discourse of the linguistic variable </a:t>
            </a:r>
            <a:r>
              <a:rPr lang="en-IE" sz="2000" b="1" dirty="0" err="1"/>
              <a:t>stopping_distance</a:t>
            </a:r>
            <a:r>
              <a:rPr lang="en-IE" sz="2000" dirty="0"/>
              <a:t> can be between 0 and 300m and may include such fuzzy subsets as </a:t>
            </a:r>
            <a:r>
              <a:rPr lang="en-IE" sz="2000" b="1" dirty="0"/>
              <a:t>short</a:t>
            </a:r>
            <a:r>
              <a:rPr lang="en-IE" sz="2000" dirty="0"/>
              <a:t>, </a:t>
            </a:r>
            <a:r>
              <a:rPr lang="en-IE" sz="2000" b="1" dirty="0"/>
              <a:t>medium</a:t>
            </a:r>
            <a:r>
              <a:rPr lang="en-IE" sz="2000" dirty="0"/>
              <a:t> and </a:t>
            </a:r>
            <a:r>
              <a:rPr lang="en-IE" sz="2000" b="1" dirty="0"/>
              <a:t>long</a:t>
            </a:r>
            <a:r>
              <a:rPr lang="en-IE" sz="2000" dirty="0"/>
              <a:t>.	</a:t>
            </a:r>
          </a:p>
          <a:p>
            <a:pPr marL="0" indent="0">
              <a:buNone/>
            </a:pPr>
            <a:endParaRPr lang="en-IE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4</a:t>
            </a:fld>
            <a:endParaRPr lang="en-IE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716016" y="1812751"/>
            <a:ext cx="4123184" cy="3704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eaLnBrk="0" hangingPunct="0">
              <a:spcBef>
                <a:spcPct val="20000"/>
              </a:spcBef>
            </a:pPr>
            <a:r>
              <a:rPr lang="en-IE" sz="2000" dirty="0">
                <a:latin typeface="+mn-lt"/>
              </a:rPr>
              <a:t>Rule: 2</a:t>
            </a:r>
          </a:p>
          <a:p>
            <a:pPr lvl="0" eaLnBrk="0" hangingPunct="0">
              <a:spcBef>
                <a:spcPct val="20000"/>
              </a:spcBef>
            </a:pPr>
            <a:r>
              <a:rPr lang="en-IE" sz="2000" dirty="0">
                <a:latin typeface="+mn-lt"/>
              </a:rPr>
              <a:t>IF	speed is slow</a:t>
            </a:r>
          </a:p>
          <a:p>
            <a:pPr lvl="0" eaLnBrk="0" hangingPunct="0">
              <a:spcBef>
                <a:spcPct val="20000"/>
              </a:spcBef>
            </a:pPr>
            <a:r>
              <a:rPr lang="en-IE" sz="2000" dirty="0">
                <a:latin typeface="+mn-lt"/>
              </a:rPr>
              <a:t>THEN 	</a:t>
            </a:r>
            <a:r>
              <a:rPr lang="en-IE" sz="2000" dirty="0" err="1">
                <a:latin typeface="+mn-lt"/>
              </a:rPr>
              <a:t>stopping_distance</a:t>
            </a:r>
            <a:r>
              <a:rPr lang="en-IE" sz="2000" dirty="0">
                <a:latin typeface="+mn-lt"/>
              </a:rPr>
              <a:t> is short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Rules</a:t>
            </a:r>
          </a:p>
        </p:txBody>
      </p:sp>
      <p:sp>
        <p:nvSpPr>
          <p:cNvPr id="20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sz="2400" dirty="0"/>
              <a:t>Temperature control example:</a:t>
            </a:r>
          </a:p>
          <a:p>
            <a:pPr marL="0" indent="0">
              <a:buNone/>
            </a:pPr>
            <a:endParaRPr lang="en-IE" sz="2400" dirty="0"/>
          </a:p>
          <a:p>
            <a:pPr marL="0" indent="0">
              <a:buNone/>
            </a:pPr>
            <a:r>
              <a:rPr lang="en-IE" sz="2400" dirty="0"/>
              <a:t>	IF temperature IS cold THEN </a:t>
            </a:r>
            <a:r>
              <a:rPr lang="en-IE" sz="2400" dirty="0" err="1"/>
              <a:t>fan_speed</a:t>
            </a:r>
            <a:r>
              <a:rPr lang="en-IE" sz="2400" dirty="0"/>
              <a:t> IS slow</a:t>
            </a:r>
          </a:p>
          <a:p>
            <a:pPr marL="0" indent="0">
              <a:buNone/>
            </a:pPr>
            <a:r>
              <a:rPr lang="en-IE" sz="2400" dirty="0"/>
              <a:t>	IF temperature IS warm THEN </a:t>
            </a:r>
            <a:r>
              <a:rPr lang="en-IE" sz="2400" dirty="0" err="1"/>
              <a:t>fan_speed</a:t>
            </a:r>
            <a:r>
              <a:rPr lang="en-IE" sz="2400" dirty="0"/>
              <a:t> IS moderate</a:t>
            </a:r>
          </a:p>
          <a:p>
            <a:pPr marL="0" indent="0">
              <a:buNone/>
            </a:pPr>
            <a:r>
              <a:rPr lang="en-IE" sz="2400" dirty="0"/>
              <a:t>	IF temperature IS hot THEN </a:t>
            </a:r>
            <a:r>
              <a:rPr lang="en-IE" sz="2400" dirty="0" err="1"/>
              <a:t>fan_speed</a:t>
            </a:r>
            <a:r>
              <a:rPr lang="en-IE" sz="2400"/>
              <a:t> IS </a:t>
            </a:r>
            <a:r>
              <a:rPr lang="en-IE" sz="2400" dirty="0"/>
              <a:t>high</a:t>
            </a:r>
          </a:p>
          <a:p>
            <a:pPr marL="0" indent="0">
              <a:buNone/>
            </a:pPr>
            <a:endParaRPr lang="en-IE" sz="2400" dirty="0"/>
          </a:p>
          <a:p>
            <a:pPr marL="0" indent="0">
              <a:buNone/>
            </a:pPr>
            <a:r>
              <a:rPr lang="en-IE" sz="2400" dirty="0"/>
              <a:t>Game AI example</a:t>
            </a:r>
          </a:p>
          <a:p>
            <a:pPr marL="0" indent="0">
              <a:buNone/>
            </a:pPr>
            <a:endParaRPr lang="en-IE" sz="2400" dirty="0"/>
          </a:p>
          <a:p>
            <a:pPr marL="0" indent="0">
              <a:buNone/>
            </a:pPr>
            <a:r>
              <a:rPr lang="en-IE" sz="2400" dirty="0"/>
              <a:t>	IF ammo IS low AND health IS low THEN hide</a:t>
            </a:r>
          </a:p>
          <a:p>
            <a:pPr marL="0" indent="0">
              <a:buNone/>
            </a:pPr>
            <a:r>
              <a:rPr lang="en-IE" sz="2400" dirty="0"/>
              <a:t>	IF ammo IS high AND health IS high THEN attack</a:t>
            </a:r>
          </a:p>
          <a:p>
            <a:pPr marL="0" indent="0">
              <a:buNone/>
            </a:pPr>
            <a:endParaRPr lang="en-IE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72300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Rules</a:t>
            </a:r>
          </a:p>
        </p:txBody>
      </p:sp>
      <p:sp>
        <p:nvSpPr>
          <p:cNvPr id="20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The output of a fuzzy membership function is a number x</a:t>
            </a:r>
          </a:p>
          <a:p>
            <a:pPr lvl="1">
              <a:buNone/>
            </a:pPr>
            <a:r>
              <a:rPr lang="en-GB" sz="2400" dirty="0"/>
              <a:t>	0 &lt;= x &lt;= 1</a:t>
            </a:r>
          </a:p>
          <a:p>
            <a:endParaRPr lang="en-GB" sz="2800" dirty="0"/>
          </a:p>
          <a:p>
            <a:r>
              <a:rPr lang="en-GB" sz="2800" dirty="0"/>
              <a:t>So how can we combine these outputs in rules?</a:t>
            </a:r>
          </a:p>
          <a:p>
            <a:pPr>
              <a:buNone/>
            </a:pPr>
            <a:r>
              <a:rPr lang="en-GB" sz="2800" dirty="0"/>
              <a:t>	e.g. In Boolean logic</a:t>
            </a:r>
          </a:p>
          <a:p>
            <a:pPr>
              <a:buNone/>
            </a:pPr>
            <a:r>
              <a:rPr lang="en-GB" sz="2800" dirty="0"/>
              <a:t>		A AND B = 1 </a:t>
            </a:r>
            <a:r>
              <a:rPr lang="en-GB" sz="2800" dirty="0" err="1"/>
              <a:t>iff</a:t>
            </a:r>
            <a:endParaRPr lang="en-GB" sz="2800" dirty="0"/>
          </a:p>
          <a:p>
            <a:pPr lvl="1">
              <a:buNone/>
            </a:pPr>
            <a:r>
              <a:rPr lang="en-GB" sz="2400" dirty="0"/>
              <a:t>		A = 1 and B = 1</a:t>
            </a:r>
          </a:p>
          <a:p>
            <a:pPr lvl="1">
              <a:buNone/>
            </a:pPr>
            <a:r>
              <a:rPr lang="en-GB" sz="2400" dirty="0"/>
              <a:t>		otherwise it is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6</a:t>
            </a:fld>
            <a:endParaRPr lang="en-I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Set Logic</a:t>
            </a:r>
          </a:p>
        </p:txBody>
      </p:sp>
      <p:sp>
        <p:nvSpPr>
          <p:cNvPr id="307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800" dirty="0"/>
              <a:t>In fuzzy logic A and B can have any value between 0 and 1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Let m(x) be the fuzzy membership function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Conjunction</a:t>
            </a:r>
          </a:p>
          <a:p>
            <a:pPr lvl="1">
              <a:lnSpc>
                <a:spcPct val="90000"/>
              </a:lnSpc>
              <a:buNone/>
            </a:pPr>
            <a:r>
              <a:rPr lang="en-GB" sz="2400" dirty="0"/>
              <a:t>	m(A </a:t>
            </a:r>
            <a:r>
              <a:rPr lang="en-GB" sz="2400" dirty="0">
                <a:sym typeface="Symbol" pitchFamily="18" charset="2"/>
              </a:rPr>
              <a:t> B) = min( m(A), m(B) )</a:t>
            </a:r>
          </a:p>
          <a:p>
            <a:pPr lvl="1">
              <a:lnSpc>
                <a:spcPct val="90000"/>
              </a:lnSpc>
              <a:buNone/>
            </a:pPr>
            <a:r>
              <a:rPr lang="en-GB" sz="2400" dirty="0">
                <a:sym typeface="Symbol" pitchFamily="18" charset="2"/>
              </a:rPr>
              <a:t>	e.g. Height is short </a:t>
            </a:r>
            <a:r>
              <a:rPr lang="en-GB" sz="2400" b="1" dirty="0">
                <a:sym typeface="Symbol" pitchFamily="18" charset="2"/>
              </a:rPr>
              <a:t>and</a:t>
            </a:r>
            <a:r>
              <a:rPr lang="en-GB" sz="2400" dirty="0">
                <a:sym typeface="Symbol" pitchFamily="18" charset="2"/>
              </a:rPr>
              <a:t> weight is heavy</a:t>
            </a:r>
          </a:p>
          <a:p>
            <a:pPr>
              <a:lnSpc>
                <a:spcPct val="90000"/>
              </a:lnSpc>
            </a:pPr>
            <a:r>
              <a:rPr lang="en-GB" sz="2800" dirty="0">
                <a:sym typeface="Symbol" pitchFamily="18" charset="2"/>
              </a:rPr>
              <a:t>Disjunction</a:t>
            </a:r>
          </a:p>
          <a:p>
            <a:pPr lvl="1">
              <a:lnSpc>
                <a:spcPct val="90000"/>
              </a:lnSpc>
              <a:buNone/>
            </a:pPr>
            <a:r>
              <a:rPr lang="en-GB" sz="2400" dirty="0">
                <a:sym typeface="Symbol" pitchFamily="18" charset="2"/>
              </a:rPr>
              <a:t>	m(AB) = max( m(A), m(B) )</a:t>
            </a:r>
          </a:p>
          <a:p>
            <a:pPr lvl="1">
              <a:lnSpc>
                <a:spcPct val="90000"/>
              </a:lnSpc>
              <a:buNone/>
            </a:pPr>
            <a:r>
              <a:rPr lang="en-GB" sz="2400" dirty="0">
                <a:sym typeface="Symbol" pitchFamily="18" charset="2"/>
              </a:rPr>
              <a:t>	e.g. Height is short </a:t>
            </a:r>
            <a:r>
              <a:rPr lang="en-GB" sz="2400" b="1" dirty="0">
                <a:sym typeface="Symbol" pitchFamily="18" charset="2"/>
              </a:rPr>
              <a:t>or</a:t>
            </a:r>
            <a:r>
              <a:rPr lang="en-GB" sz="2400" dirty="0">
                <a:sym typeface="Symbol" pitchFamily="18" charset="2"/>
              </a:rPr>
              <a:t> weight is heavy</a:t>
            </a:r>
          </a:p>
          <a:p>
            <a:pPr>
              <a:lnSpc>
                <a:spcPct val="90000"/>
              </a:lnSpc>
            </a:pPr>
            <a:r>
              <a:rPr lang="en-GB" sz="2800" dirty="0">
                <a:sym typeface="Symbol" pitchFamily="18" charset="2"/>
              </a:rPr>
              <a:t>Negation (the compliment)</a:t>
            </a:r>
          </a:p>
          <a:p>
            <a:pPr lvl="1">
              <a:lnSpc>
                <a:spcPct val="90000"/>
              </a:lnSpc>
              <a:buNone/>
            </a:pPr>
            <a:r>
              <a:rPr lang="en-GB" sz="2400" dirty="0">
                <a:sym typeface="Symbol" pitchFamily="18" charset="2"/>
              </a:rPr>
              <a:t>	m(not A) = 1 – m(A)</a:t>
            </a:r>
          </a:p>
          <a:p>
            <a:pPr lvl="1">
              <a:lnSpc>
                <a:spcPct val="90000"/>
              </a:lnSpc>
              <a:buNone/>
            </a:pPr>
            <a:r>
              <a:rPr lang="en-GB" sz="2400" dirty="0">
                <a:sym typeface="Symbol" pitchFamily="18" charset="2"/>
              </a:rPr>
              <a:t>	e.g. Height is </a:t>
            </a:r>
            <a:r>
              <a:rPr lang="en-GB" sz="2400" b="1" dirty="0">
                <a:sym typeface="Symbol" pitchFamily="18" charset="2"/>
              </a:rPr>
              <a:t>not</a:t>
            </a:r>
            <a:r>
              <a:rPr lang="en-GB" sz="2400" dirty="0">
                <a:sym typeface="Symbol" pitchFamily="18" charset="2"/>
              </a:rPr>
              <a:t> short</a:t>
            </a:r>
          </a:p>
          <a:p>
            <a:pPr>
              <a:lnSpc>
                <a:spcPct val="90000"/>
              </a:lnSpc>
            </a:pPr>
            <a:endParaRPr lang="en-GB" sz="2800" dirty="0"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7</a:t>
            </a:fld>
            <a:endParaRPr lang="en-I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  <a:sym typeface="Symbol" pitchFamily="18" charset="2"/>
              </a:rPr>
              <a:t>Fuzzy Set Logic</a:t>
            </a:r>
          </a:p>
        </p:txBody>
      </p:sp>
      <p:sp>
        <p:nvSpPr>
          <p:cNvPr id="40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ym typeface="Symbol" pitchFamily="18" charset="2"/>
              </a:rPr>
              <a:t>Other rules are also possible but the above are easy to calculate</a:t>
            </a:r>
          </a:p>
          <a:p>
            <a:pPr>
              <a:buNone/>
            </a:pPr>
            <a:r>
              <a:rPr lang="en-GB" dirty="0">
                <a:sym typeface="Symbol" pitchFamily="18" charset="2"/>
              </a:rPr>
              <a:t>	e.g.</a:t>
            </a:r>
          </a:p>
          <a:p>
            <a:pPr>
              <a:buNone/>
            </a:pPr>
            <a:r>
              <a:rPr lang="en-GB" dirty="0">
                <a:sym typeface="Symbol" pitchFamily="18" charset="2"/>
              </a:rPr>
              <a:t>		m(A XOR B) = min(m(A), 1 - m(B))</a:t>
            </a:r>
          </a:p>
          <a:p>
            <a:pPr>
              <a:buNone/>
            </a:pPr>
            <a:r>
              <a:rPr lang="en-GB" dirty="0">
                <a:sym typeface="Symbol" pitchFamily="18" charset="2"/>
              </a:rPr>
              <a:t>		also</a:t>
            </a:r>
          </a:p>
          <a:p>
            <a:pPr>
              <a:buNone/>
            </a:pPr>
            <a:r>
              <a:rPr lang="en-GB" dirty="0">
                <a:sym typeface="Symbol" pitchFamily="18" charset="2"/>
              </a:rPr>
              <a:t>		m(A XOR B) = min(1 - m(A), m(B))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8</a:t>
            </a:fld>
            <a:endParaRPr lang="en-I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  <a:sym typeface="Symbol" pitchFamily="18" charset="2"/>
              </a:rPr>
              <a:t>Defuzzification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ym typeface="Symbol" pitchFamily="18" charset="2"/>
              </a:rPr>
              <a:t>In a </a:t>
            </a:r>
            <a:r>
              <a:rPr lang="en-GB" b="1" dirty="0">
                <a:sym typeface="Symbol" pitchFamily="18" charset="2"/>
              </a:rPr>
              <a:t>Boolean</a:t>
            </a:r>
            <a:r>
              <a:rPr lang="en-GB" dirty="0">
                <a:sym typeface="Symbol" pitchFamily="18" charset="2"/>
              </a:rPr>
              <a:t> rule: output is either 1 or 0</a:t>
            </a:r>
          </a:p>
          <a:p>
            <a:pPr lvl="1"/>
            <a:r>
              <a:rPr lang="en-GB" dirty="0">
                <a:sym typeface="Symbol" pitchFamily="18" charset="2"/>
              </a:rPr>
              <a:t>If (A OR B) then C</a:t>
            </a:r>
          </a:p>
          <a:p>
            <a:pPr lvl="2"/>
            <a:r>
              <a:rPr lang="en-GB" dirty="0">
                <a:sym typeface="Symbol" pitchFamily="18" charset="2"/>
              </a:rPr>
              <a:t>If A OR B evaluates to 1 then do action C</a:t>
            </a:r>
          </a:p>
          <a:p>
            <a:pPr lvl="2"/>
            <a:r>
              <a:rPr lang="en-GB" dirty="0">
                <a:sym typeface="Symbol" pitchFamily="18" charset="2"/>
              </a:rPr>
              <a:t>Otherwise do NOT do action C</a:t>
            </a:r>
          </a:p>
          <a:p>
            <a:endParaRPr lang="en-GB" dirty="0">
              <a:sym typeface="Symbol" pitchFamily="18" charset="2"/>
            </a:endParaRPr>
          </a:p>
          <a:p>
            <a:r>
              <a:rPr lang="en-GB" dirty="0">
                <a:sym typeface="Symbol" pitchFamily="18" charset="2"/>
              </a:rPr>
              <a:t>In </a:t>
            </a:r>
            <a:r>
              <a:rPr lang="en-GB" b="1" dirty="0">
                <a:sym typeface="Symbol" pitchFamily="18" charset="2"/>
              </a:rPr>
              <a:t>Fuzzy</a:t>
            </a:r>
            <a:r>
              <a:rPr lang="en-GB" dirty="0">
                <a:sym typeface="Symbol" pitchFamily="18" charset="2"/>
              </a:rPr>
              <a:t> logic output can be between 0 and 1</a:t>
            </a:r>
          </a:p>
          <a:p>
            <a:pPr lvl="1"/>
            <a:r>
              <a:rPr lang="en-GB" dirty="0">
                <a:sym typeface="Symbol" pitchFamily="18" charset="2"/>
              </a:rPr>
              <a:t>So when do we do C?</a:t>
            </a:r>
          </a:p>
          <a:p>
            <a:pPr lvl="1"/>
            <a:r>
              <a:rPr lang="en-GB" dirty="0">
                <a:sym typeface="Symbol" pitchFamily="18" charset="2"/>
              </a:rPr>
              <a:t>There are a number of approaches…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9</a:t>
            </a:fld>
            <a:endParaRPr lang="en-IE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  <a:sym typeface="Symbol" pitchFamily="18" charset="2"/>
              </a:rPr>
              <a:t>Defuzzification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800" dirty="0">
                <a:sym typeface="Symbol" pitchFamily="18" charset="2"/>
              </a:rPr>
              <a:t>Evaluate all rules</a:t>
            </a:r>
          </a:p>
          <a:p>
            <a:pPr>
              <a:lnSpc>
                <a:spcPct val="90000"/>
              </a:lnSpc>
            </a:pPr>
            <a:r>
              <a:rPr lang="en-GB" sz="2800" dirty="0">
                <a:sym typeface="Symbol" pitchFamily="18" charset="2"/>
              </a:rPr>
              <a:t>Fire the rule with the </a:t>
            </a:r>
            <a:r>
              <a:rPr lang="en-GB" sz="2800" dirty="0">
                <a:solidFill>
                  <a:srgbClr val="FF0000"/>
                </a:solidFill>
                <a:sym typeface="Symbol" pitchFamily="18" charset="2"/>
              </a:rPr>
              <a:t>highest activation</a:t>
            </a:r>
          </a:p>
          <a:p>
            <a:pPr lvl="1">
              <a:lnSpc>
                <a:spcPct val="90000"/>
              </a:lnSpc>
            </a:pPr>
            <a:r>
              <a:rPr lang="en-GB" sz="2400" dirty="0">
                <a:sym typeface="Symbol" pitchFamily="18" charset="2"/>
              </a:rPr>
              <a:t>This is the easiest to do!</a:t>
            </a:r>
          </a:p>
          <a:p>
            <a:pPr lvl="1">
              <a:lnSpc>
                <a:spcPct val="90000"/>
              </a:lnSpc>
              <a:buNone/>
            </a:pPr>
            <a:endParaRPr lang="en-GB" sz="2400" dirty="0">
              <a:sym typeface="Symbol" pitchFamily="18" charset="2"/>
            </a:endParaRPr>
          </a:p>
          <a:p>
            <a:pPr lvl="1">
              <a:lnSpc>
                <a:spcPct val="90000"/>
              </a:lnSpc>
              <a:buNone/>
            </a:pPr>
            <a:r>
              <a:rPr lang="en-GB" sz="2400" dirty="0">
                <a:sym typeface="Symbol" pitchFamily="18" charset="2"/>
              </a:rPr>
              <a:t>e.g. Assume we have three rules</a:t>
            </a:r>
          </a:p>
          <a:p>
            <a:pPr lvl="2">
              <a:lnSpc>
                <a:spcPct val="90000"/>
              </a:lnSpc>
            </a:pPr>
            <a:r>
              <a:rPr lang="en-GB" sz="2000" dirty="0">
                <a:sym typeface="Symbol" pitchFamily="18" charset="2"/>
              </a:rPr>
              <a:t>One with action flee (A)</a:t>
            </a:r>
          </a:p>
          <a:p>
            <a:pPr lvl="2">
              <a:lnSpc>
                <a:spcPct val="90000"/>
              </a:lnSpc>
            </a:pPr>
            <a:r>
              <a:rPr lang="en-GB" sz="2000" dirty="0">
                <a:sym typeface="Symbol" pitchFamily="18" charset="2"/>
              </a:rPr>
              <a:t>One with action do nothing (B)</a:t>
            </a:r>
          </a:p>
          <a:p>
            <a:pPr lvl="2">
              <a:lnSpc>
                <a:spcPct val="90000"/>
              </a:lnSpc>
            </a:pPr>
            <a:r>
              <a:rPr lang="en-GB" sz="2000" dirty="0">
                <a:sym typeface="Symbol" pitchFamily="18" charset="2"/>
              </a:rPr>
              <a:t>One with action attack (C)</a:t>
            </a:r>
          </a:p>
          <a:p>
            <a:pPr marL="914400" lvl="2" indent="0">
              <a:lnSpc>
                <a:spcPct val="90000"/>
              </a:lnSpc>
              <a:buNone/>
            </a:pPr>
            <a:r>
              <a:rPr lang="en-GB" sz="2000" dirty="0">
                <a:sym typeface="Symbol" pitchFamily="18" charset="2"/>
              </a:rPr>
              <a:t>Feed our variable into the </a:t>
            </a:r>
            <a:r>
              <a:rPr lang="en-GB" sz="2000">
                <a:sym typeface="Symbol" pitchFamily="18" charset="2"/>
              </a:rPr>
              <a:t>membership functions </a:t>
            </a:r>
            <a:r>
              <a:rPr lang="en-GB" sz="2000" dirty="0">
                <a:sym typeface="Symbol" pitchFamily="18" charset="2"/>
              </a:rPr>
              <a:t>and pick the highest subset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10</a:t>
            </a:fld>
            <a:endParaRPr lang="en-IE" dirty="0"/>
          </a:p>
        </p:txBody>
      </p:sp>
      <p:pic>
        <p:nvPicPr>
          <p:cNvPr id="7170" name="Picture 2" descr="https://encrypted-tbn1.gstatic.com/images?q=tbn:ANd9GcTVtI5f3lOAcHenCRwiZIUE3rMUD2SW0vwZZUzlGGpdMpWkAeVFd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2" y="5373216"/>
            <a:ext cx="4395619" cy="1296144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5004048" y="4869160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A	   B	       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  <a:sym typeface="Symbol" pitchFamily="18" charset="2"/>
              </a:rPr>
              <a:t>Defuzzification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GB" sz="2400" dirty="0">
                <a:solidFill>
                  <a:srgbClr val="FF0000"/>
                </a:solidFill>
                <a:sym typeface="Symbol" pitchFamily="18" charset="2"/>
              </a:rPr>
              <a:t>Blending</a:t>
            </a:r>
            <a:r>
              <a:rPr lang="en-GB" sz="2400" dirty="0">
                <a:sym typeface="Symbol" pitchFamily="18" charset="2"/>
              </a:rPr>
              <a:t> based on membership</a:t>
            </a:r>
          </a:p>
          <a:p>
            <a:pPr>
              <a:lnSpc>
                <a:spcPct val="90000"/>
              </a:lnSpc>
            </a:pPr>
            <a:r>
              <a:rPr lang="en-GB" sz="2400" dirty="0">
                <a:sym typeface="Symbol" pitchFamily="18" charset="2"/>
              </a:rPr>
              <a:t>Use a singleton output function that converts into an action</a:t>
            </a:r>
          </a:p>
          <a:p>
            <a:pPr marL="354013" indent="-354013">
              <a:buNone/>
            </a:pPr>
            <a:r>
              <a:rPr lang="en-GB" sz="2400" dirty="0">
                <a:sym typeface="Symbol" pitchFamily="18" charset="2"/>
              </a:rPr>
              <a:t>	If </a:t>
            </a:r>
          </a:p>
          <a:p>
            <a:pPr marL="457200" lvl="1" indent="0">
              <a:buNone/>
            </a:pPr>
            <a:r>
              <a:rPr lang="en-GB" sz="2000" dirty="0">
                <a:sym typeface="Symbol" pitchFamily="18" charset="2"/>
              </a:rPr>
              <a:t>	A fires with strength 0.6</a:t>
            </a:r>
          </a:p>
          <a:p>
            <a:pPr marL="457200" lvl="1" indent="0">
              <a:buNone/>
            </a:pPr>
            <a:r>
              <a:rPr lang="en-GB" sz="2000" dirty="0">
                <a:sym typeface="Symbol" pitchFamily="18" charset="2"/>
              </a:rPr>
              <a:t>	B fires with strength 0.2</a:t>
            </a:r>
          </a:p>
          <a:p>
            <a:pPr marL="457200" lvl="1" indent="0">
              <a:buNone/>
            </a:pPr>
            <a:r>
              <a:rPr lang="en-GB" sz="2000" dirty="0">
                <a:sym typeface="Symbol" pitchFamily="18" charset="2"/>
              </a:rPr>
              <a:t>	C fires with strength 0</a:t>
            </a:r>
          </a:p>
          <a:p>
            <a:pPr marL="354013" indent="-354013">
              <a:buNone/>
            </a:pPr>
            <a:r>
              <a:rPr lang="en-GB" sz="2400" dirty="0">
                <a:sym typeface="Symbol" pitchFamily="18" charset="2"/>
              </a:rPr>
              <a:t>	then</a:t>
            </a:r>
          </a:p>
          <a:p>
            <a:pPr marL="354013" indent="-354013">
              <a:buNone/>
            </a:pPr>
            <a:r>
              <a:rPr lang="en-GB" sz="2400" dirty="0">
                <a:sym typeface="Symbol" pitchFamily="18" charset="2"/>
              </a:rPr>
              <a:t>		</a:t>
            </a:r>
            <a:r>
              <a:rPr lang="en-GB" sz="2000" dirty="0">
                <a:sym typeface="Symbol" pitchFamily="18" charset="2"/>
              </a:rPr>
              <a:t>Assign speeds to each action</a:t>
            </a:r>
          </a:p>
          <a:p>
            <a:pPr marL="354013" indent="-354013">
              <a:buNone/>
            </a:pPr>
            <a:r>
              <a:rPr lang="en-GB" sz="2000" dirty="0">
                <a:sym typeface="Symbol" pitchFamily="18" charset="2"/>
              </a:rPr>
              <a:t>		Flee = -10</a:t>
            </a:r>
          </a:p>
          <a:p>
            <a:pPr marL="354013" indent="-354013">
              <a:buNone/>
            </a:pPr>
            <a:r>
              <a:rPr lang="en-GB" sz="2000" dirty="0">
                <a:sym typeface="Symbol" pitchFamily="18" charset="2"/>
              </a:rPr>
              <a:t>		Stay = 1</a:t>
            </a:r>
          </a:p>
          <a:p>
            <a:pPr marL="354013" indent="-354013">
              <a:buNone/>
            </a:pPr>
            <a:r>
              <a:rPr lang="en-GB" sz="2000" dirty="0">
                <a:sym typeface="Symbol" pitchFamily="18" charset="2"/>
              </a:rPr>
              <a:t>		Attack = +10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11</a:t>
            </a:fld>
            <a:endParaRPr lang="en-IE" dirty="0"/>
          </a:p>
        </p:txBody>
      </p:sp>
      <p:pic>
        <p:nvPicPr>
          <p:cNvPr id="5" name="Picture 2" descr="https://encrypted-tbn1.gstatic.com/images?q=tbn:ANd9GcTVtI5f3lOAcHenCRwiZIUE3rMUD2SW0vwZZUzlGGpdMpWkAeVFd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2" y="5373216"/>
            <a:ext cx="4395619" cy="1296144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5004048" y="4869160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A	   B	       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  <a:sym typeface="Symbol" pitchFamily="18" charset="2"/>
              </a:rPr>
              <a:t>Defuzzification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sz="2800" dirty="0">
                <a:sym typeface="Symbol" pitchFamily="18" charset="2"/>
              </a:rPr>
              <a:t>Output is the weighted average:</a:t>
            </a:r>
          </a:p>
          <a:p>
            <a:pPr>
              <a:buNone/>
            </a:pPr>
            <a:r>
              <a:rPr lang="en-GB" sz="2800" dirty="0">
                <a:sym typeface="Symbol" pitchFamily="18" charset="2"/>
              </a:rPr>
              <a:t>	((0.6 * -10)+(0.2 * 1)+(0 * 10)) / (0.6 + 0.2 + 0)</a:t>
            </a:r>
          </a:p>
          <a:p>
            <a:pPr>
              <a:buNone/>
            </a:pPr>
            <a:r>
              <a:rPr lang="en-GB" sz="2800" dirty="0">
                <a:sym typeface="Symbol" pitchFamily="18" charset="2"/>
              </a:rPr>
              <a:t>	</a:t>
            </a:r>
            <a:r>
              <a:rPr lang="en-GB" sz="2400" dirty="0">
                <a:sym typeface="Symbol" pitchFamily="18" charset="2"/>
              </a:rPr>
              <a:t>= -7.25</a:t>
            </a:r>
          </a:p>
          <a:p>
            <a:r>
              <a:rPr lang="en-GB" sz="2800" dirty="0">
                <a:sym typeface="Symbol" pitchFamily="18" charset="2"/>
              </a:rPr>
              <a:t>Output is speed of -7.25 </a:t>
            </a:r>
            <a:r>
              <a:rPr lang="en-GB" sz="2800">
                <a:sym typeface="Symbol" pitchFamily="18" charset="2"/>
              </a:rPr>
              <a:t>== Flee-</a:t>
            </a:r>
            <a:r>
              <a:rPr lang="en-GB" sz="2800" dirty="0" err="1">
                <a:sym typeface="Symbol" pitchFamily="18" charset="2"/>
              </a:rPr>
              <a:t>fastish</a:t>
            </a:r>
            <a:r>
              <a:rPr lang="en-GB" sz="2800" dirty="0">
                <a:sym typeface="Symbol" pitchFamily="18" charset="2"/>
              </a:rPr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12</a:t>
            </a:fld>
            <a:endParaRPr lang="en-IE" dirty="0"/>
          </a:p>
        </p:txBody>
      </p:sp>
      <p:pic>
        <p:nvPicPr>
          <p:cNvPr id="6" name="Picture 2" descr="https://encrypted-tbn1.gstatic.com/images?q=tbn:ANd9GcTVtI5f3lOAcHenCRwiZIUE3rMUD2SW0vwZZUzlGGpdMpWkAeVFd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2" y="5373216"/>
            <a:ext cx="4395619" cy="1296144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5004048" y="4869160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A	   B	       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  <a:sym typeface="Symbol" pitchFamily="18" charset="2"/>
              </a:rPr>
              <a:t>Defuzzification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sz="2800" dirty="0">
                <a:solidFill>
                  <a:srgbClr val="FF0000"/>
                </a:solidFill>
                <a:sym typeface="Symbol" pitchFamily="18" charset="2"/>
              </a:rPr>
              <a:t>Centre of Gravity </a:t>
            </a:r>
            <a:r>
              <a:rPr lang="en-GB" sz="2800" dirty="0">
                <a:sym typeface="Symbol" pitchFamily="18" charset="2"/>
              </a:rPr>
              <a:t>(aka </a:t>
            </a:r>
            <a:r>
              <a:rPr lang="en-GB" sz="2800" b="1" dirty="0">
                <a:sym typeface="Symbol" pitchFamily="18" charset="2"/>
              </a:rPr>
              <a:t>centroid</a:t>
            </a:r>
            <a:r>
              <a:rPr lang="en-GB" sz="2800" dirty="0">
                <a:sym typeface="Symbol" pitchFamily="18" charset="2"/>
              </a:rPr>
              <a:t> of area)</a:t>
            </a:r>
          </a:p>
          <a:p>
            <a:r>
              <a:rPr lang="en-GB" sz="2800" dirty="0">
                <a:sym typeface="Symbol" pitchFamily="18" charset="2"/>
              </a:rPr>
              <a:t>Makes use of all set membership values rather than just the largest</a:t>
            </a:r>
          </a:p>
          <a:p>
            <a:r>
              <a:rPr lang="en-GB" sz="2800" dirty="0">
                <a:sym typeface="Symbol" pitchFamily="18" charset="2"/>
              </a:rPr>
              <a:t>Each membership function cropped at the membership value for its subset</a:t>
            </a:r>
          </a:p>
          <a:p>
            <a:r>
              <a:rPr lang="en-GB" sz="2800" dirty="0">
                <a:sym typeface="Symbol" pitchFamily="18" charset="2"/>
              </a:rPr>
              <a:t>Centre of mass of the cropped regions is the output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13</a:t>
            </a:fld>
            <a:endParaRPr lang="en-IE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95736" y="4653136"/>
            <a:ext cx="438150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907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Hedges</a:t>
            </a:r>
          </a:p>
        </p:txBody>
      </p:sp>
      <p:sp>
        <p:nvSpPr>
          <p:cNvPr id="20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9750" indent="-276225"/>
            <a:r>
              <a:rPr lang="en-IE" sz="2000" dirty="0"/>
              <a:t>When communicating in a natural language, a form of mitigating device is commonly used to weaken or strengthen the impact of a statement.</a:t>
            </a:r>
          </a:p>
          <a:p>
            <a:pPr marL="539750" indent="-276225"/>
            <a:r>
              <a:rPr lang="en-IE" sz="2000" dirty="0"/>
              <a:t>A linguistic variable may have a </a:t>
            </a:r>
            <a:r>
              <a:rPr lang="en-IE" sz="2000" b="1" dirty="0"/>
              <a:t>fuzzy set qualifier</a:t>
            </a:r>
            <a:r>
              <a:rPr lang="en-IE" sz="2000" dirty="0"/>
              <a:t> associated with it, called a </a:t>
            </a:r>
            <a:r>
              <a:rPr lang="en-IE" sz="2000" b="1" dirty="0">
                <a:solidFill>
                  <a:srgbClr val="FF0000"/>
                </a:solidFill>
              </a:rPr>
              <a:t>hedge</a:t>
            </a:r>
            <a:r>
              <a:rPr lang="en-IE" sz="2000" dirty="0"/>
              <a:t>.</a:t>
            </a:r>
          </a:p>
          <a:p>
            <a:pPr marL="539750" indent="-276225"/>
            <a:r>
              <a:rPr lang="en-IE" sz="2000" dirty="0"/>
              <a:t>Hedges include adverbs such as </a:t>
            </a:r>
            <a:r>
              <a:rPr lang="en-IE" sz="2000" dirty="0">
                <a:solidFill>
                  <a:srgbClr val="0070C0"/>
                </a:solidFill>
              </a:rPr>
              <a:t>very</a:t>
            </a:r>
            <a:r>
              <a:rPr lang="en-IE" sz="2000" dirty="0"/>
              <a:t>, </a:t>
            </a:r>
            <a:r>
              <a:rPr lang="en-IE" sz="2000" dirty="0">
                <a:solidFill>
                  <a:srgbClr val="0070C0"/>
                </a:solidFill>
              </a:rPr>
              <a:t>somewhat</a:t>
            </a:r>
            <a:r>
              <a:rPr lang="en-IE" sz="2000" dirty="0"/>
              <a:t>, </a:t>
            </a:r>
            <a:r>
              <a:rPr lang="en-IE" sz="2000" dirty="0">
                <a:solidFill>
                  <a:srgbClr val="0070C0"/>
                </a:solidFill>
              </a:rPr>
              <a:t>quite</a:t>
            </a:r>
            <a:r>
              <a:rPr lang="en-IE" sz="2000" dirty="0"/>
              <a:t>, </a:t>
            </a:r>
            <a:r>
              <a:rPr lang="en-IE" sz="2000" dirty="0">
                <a:solidFill>
                  <a:srgbClr val="0070C0"/>
                </a:solidFill>
              </a:rPr>
              <a:t>more or less </a:t>
            </a:r>
            <a:r>
              <a:rPr lang="en-IE" sz="2000" dirty="0"/>
              <a:t>and </a:t>
            </a:r>
            <a:r>
              <a:rPr lang="en-IE" sz="2000" dirty="0">
                <a:solidFill>
                  <a:srgbClr val="0070C0"/>
                </a:solidFill>
              </a:rPr>
              <a:t>slightly</a:t>
            </a:r>
            <a:r>
              <a:rPr lang="en-IE" sz="2000" dirty="0"/>
              <a:t>.</a:t>
            </a:r>
          </a:p>
          <a:p>
            <a:pPr marL="539750" indent="-276225"/>
            <a:endParaRPr lang="en-IE" sz="2000" dirty="0"/>
          </a:p>
          <a:p>
            <a:pPr marL="539750" indent="-276225">
              <a:buNone/>
            </a:pPr>
            <a:r>
              <a:rPr lang="en-IE" sz="2000" dirty="0"/>
              <a:t>		IF         	height is </a:t>
            </a:r>
            <a:r>
              <a:rPr lang="en-IE" sz="2000" dirty="0">
                <a:solidFill>
                  <a:srgbClr val="0070C0"/>
                </a:solidFill>
              </a:rPr>
              <a:t>very</a:t>
            </a:r>
            <a:r>
              <a:rPr lang="en-IE" sz="2000" dirty="0"/>
              <a:t> tall</a:t>
            </a:r>
          </a:p>
          <a:p>
            <a:pPr marL="539750" indent="-276225">
              <a:buNone/>
            </a:pPr>
            <a:r>
              <a:rPr lang="en-IE" sz="2000" dirty="0"/>
              <a:t>		THEN  	weight is </a:t>
            </a:r>
            <a:r>
              <a:rPr lang="en-IE" sz="2000" dirty="0">
                <a:solidFill>
                  <a:srgbClr val="0070C0"/>
                </a:solidFill>
              </a:rPr>
              <a:t>very</a:t>
            </a:r>
            <a:r>
              <a:rPr lang="en-IE" sz="2000" dirty="0"/>
              <a:t> heavy</a:t>
            </a:r>
          </a:p>
          <a:p>
            <a:pPr marL="539750" indent="-276225">
              <a:buNone/>
            </a:pPr>
            <a:r>
              <a:rPr lang="en-IE" sz="2000" dirty="0"/>
              <a:t>		</a:t>
            </a:r>
          </a:p>
          <a:p>
            <a:pPr marL="539750" indent="-276225">
              <a:buNone/>
            </a:pPr>
            <a:r>
              <a:rPr lang="en-IE" sz="2000" dirty="0"/>
              <a:t>		IF	speed is </a:t>
            </a:r>
            <a:r>
              <a:rPr lang="en-IE" sz="2000" dirty="0">
                <a:solidFill>
                  <a:srgbClr val="0070C0"/>
                </a:solidFill>
              </a:rPr>
              <a:t>very</a:t>
            </a:r>
            <a:r>
              <a:rPr lang="en-IE" sz="2000" dirty="0"/>
              <a:t> slow</a:t>
            </a:r>
          </a:p>
          <a:p>
            <a:pPr marL="539750" indent="-276225">
              <a:buNone/>
            </a:pPr>
            <a:r>
              <a:rPr lang="en-IE" sz="2000" dirty="0"/>
              <a:t>		THEN  	</a:t>
            </a:r>
            <a:r>
              <a:rPr lang="en-IE" sz="2000" dirty="0" err="1"/>
              <a:t>stopping_distance</a:t>
            </a:r>
            <a:r>
              <a:rPr lang="en-IE" sz="2000" dirty="0"/>
              <a:t> is </a:t>
            </a:r>
            <a:r>
              <a:rPr lang="en-IE" sz="2000" dirty="0">
                <a:solidFill>
                  <a:srgbClr val="0070C0"/>
                </a:solidFill>
              </a:rPr>
              <a:t>very</a:t>
            </a:r>
            <a:r>
              <a:rPr lang="en-IE" sz="2000" dirty="0"/>
              <a:t> short</a:t>
            </a:r>
          </a:p>
          <a:p>
            <a:pPr marL="539750" indent="-276225"/>
            <a:endParaRPr lang="en-IE" sz="2000" dirty="0"/>
          </a:p>
          <a:p>
            <a:pPr marL="0" indent="0">
              <a:buNone/>
            </a:pPr>
            <a:endParaRPr lang="en-IE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14</a:t>
            </a:fld>
            <a:endParaRPr lang="en-IE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Hedges</a:t>
            </a:r>
          </a:p>
        </p:txBody>
      </p:sp>
      <p:sp>
        <p:nvSpPr>
          <p:cNvPr id="20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9750" indent="-276225"/>
            <a:r>
              <a:rPr lang="en-IE" sz="2000" dirty="0"/>
              <a:t>Hedges are terms that modify the shape of fuzzy sets.</a:t>
            </a:r>
          </a:p>
          <a:p>
            <a:pPr marL="539750" indent="-276225"/>
            <a:r>
              <a:rPr lang="en-IE" sz="2000" dirty="0"/>
              <a:t>Referred to as concentration and dilation e.g. m(x)</a:t>
            </a:r>
            <a:r>
              <a:rPr lang="en-IE" sz="2000" baseline="30000" dirty="0"/>
              <a:t>2</a:t>
            </a:r>
            <a:r>
              <a:rPr lang="en-IE" sz="2000" dirty="0"/>
              <a:t> and m(x)</a:t>
            </a:r>
            <a:r>
              <a:rPr lang="en-IE" sz="2000" baseline="30000" dirty="0"/>
              <a:t>1/2</a:t>
            </a:r>
          </a:p>
          <a:p>
            <a:pPr marL="539750" indent="-276225"/>
            <a:r>
              <a:rPr lang="en-IE" sz="2000" dirty="0"/>
              <a:t>They are not necessary</a:t>
            </a:r>
          </a:p>
          <a:p>
            <a:pPr marL="539750" indent="-276225"/>
            <a:r>
              <a:rPr lang="en-IE" sz="2000" dirty="0"/>
              <a:t>They generally result in a non-linear membership output value</a:t>
            </a:r>
          </a:p>
          <a:p>
            <a:pPr marL="0" indent="0">
              <a:buNone/>
            </a:pPr>
            <a:endParaRPr lang="en-IE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15</a:t>
            </a:fld>
            <a:endParaRPr lang="en-IE" dirty="0"/>
          </a:p>
        </p:txBody>
      </p:sp>
      <p:pic>
        <p:nvPicPr>
          <p:cNvPr id="39938" name="Picture 2" descr="http://blog.peltarion.com/img/fuzz/fuzz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6586" y="2636912"/>
            <a:ext cx="7639870" cy="41764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Rules</a:t>
            </a:r>
          </a:p>
        </p:txBody>
      </p:sp>
      <p:sp>
        <p:nvSpPr>
          <p:cNvPr id="20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sz="2400" dirty="0"/>
              <a:t>Temperature control example:</a:t>
            </a:r>
          </a:p>
          <a:p>
            <a:pPr marL="0" indent="0">
              <a:buNone/>
            </a:pPr>
            <a:endParaRPr lang="en-IE" sz="2400" dirty="0"/>
          </a:p>
          <a:p>
            <a:pPr marL="0" indent="0">
              <a:buNone/>
            </a:pPr>
            <a:r>
              <a:rPr lang="en-IE" sz="2400" dirty="0"/>
              <a:t>	IF temperature IS </a:t>
            </a:r>
            <a:r>
              <a:rPr lang="en-IE" sz="2400" dirty="0">
                <a:solidFill>
                  <a:srgbClr val="0070C0"/>
                </a:solidFill>
              </a:rPr>
              <a:t>very</a:t>
            </a:r>
            <a:r>
              <a:rPr lang="en-IE" sz="2400" dirty="0"/>
              <a:t> cold THEN </a:t>
            </a:r>
            <a:r>
              <a:rPr lang="en-IE" sz="2400" dirty="0" err="1"/>
              <a:t>fan_speed</a:t>
            </a:r>
            <a:r>
              <a:rPr lang="en-IE" sz="2400" dirty="0"/>
              <a:t> IS stopped</a:t>
            </a:r>
          </a:p>
          <a:p>
            <a:pPr marL="0" indent="0">
              <a:buNone/>
            </a:pPr>
            <a:r>
              <a:rPr lang="en-IE" sz="2400" dirty="0"/>
              <a:t>	IF temperature IS cold THEN </a:t>
            </a:r>
            <a:r>
              <a:rPr lang="en-IE" sz="2400" dirty="0" err="1"/>
              <a:t>fan_speed</a:t>
            </a:r>
            <a:r>
              <a:rPr lang="en-IE" sz="2400" dirty="0"/>
              <a:t> IS slow</a:t>
            </a:r>
          </a:p>
          <a:p>
            <a:pPr marL="0" indent="0">
              <a:buNone/>
            </a:pPr>
            <a:r>
              <a:rPr lang="en-IE" sz="2400" dirty="0"/>
              <a:t>	IF temperature IS warm THEN </a:t>
            </a:r>
            <a:r>
              <a:rPr lang="en-IE" sz="2400" dirty="0" err="1"/>
              <a:t>fan_speed</a:t>
            </a:r>
            <a:r>
              <a:rPr lang="en-IE" sz="2400" dirty="0"/>
              <a:t> IS moderate</a:t>
            </a:r>
          </a:p>
          <a:p>
            <a:pPr marL="0" indent="0">
              <a:buNone/>
            </a:pPr>
            <a:r>
              <a:rPr lang="en-IE" sz="2400" dirty="0"/>
              <a:t>	IF temperature IS hot THEN </a:t>
            </a:r>
            <a:r>
              <a:rPr lang="en-IE" sz="2400" dirty="0" err="1"/>
              <a:t>fan_speed</a:t>
            </a:r>
            <a:r>
              <a:rPr lang="en-IE" sz="2400"/>
              <a:t> IS </a:t>
            </a:r>
            <a:r>
              <a:rPr lang="en-IE" sz="2400" dirty="0"/>
              <a:t>high</a:t>
            </a:r>
          </a:p>
          <a:p>
            <a:pPr marL="0" indent="0">
              <a:buNone/>
            </a:pPr>
            <a:r>
              <a:rPr lang="en-IE" sz="2400" dirty="0"/>
              <a:t>	IF temperature IS </a:t>
            </a:r>
            <a:r>
              <a:rPr lang="en-IE" sz="2400" dirty="0">
                <a:solidFill>
                  <a:srgbClr val="0070C0"/>
                </a:solidFill>
              </a:rPr>
              <a:t>very</a:t>
            </a:r>
            <a:r>
              <a:rPr lang="en-IE" sz="2400" dirty="0"/>
              <a:t> hot THEN sound alarm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2592503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Stack of books design template</Template>
  <TotalTime>13045</TotalTime>
  <Words>1174</Words>
  <Application>Microsoft Office PowerPoint</Application>
  <PresentationFormat>On-screen Show (4:3)</PresentationFormat>
  <Paragraphs>160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Symbol</vt:lpstr>
      <vt:lpstr>Custom Design</vt:lpstr>
      <vt:lpstr>1_Custom Design</vt:lpstr>
      <vt:lpstr>PowerPoint Presentation</vt:lpstr>
      <vt:lpstr>Fuzzy Rules</vt:lpstr>
      <vt:lpstr>Fuzzy Rules</vt:lpstr>
      <vt:lpstr>Fuzzy Rules</vt:lpstr>
      <vt:lpstr>Fuzzy Rules</vt:lpstr>
      <vt:lpstr>Fuzzy Rules</vt:lpstr>
      <vt:lpstr>Fuzzy Set Logic</vt:lpstr>
      <vt:lpstr>Fuzzy Set Logic</vt:lpstr>
      <vt:lpstr>Defuzzification</vt:lpstr>
      <vt:lpstr>Defuzzification</vt:lpstr>
      <vt:lpstr>Defuzzification</vt:lpstr>
      <vt:lpstr>Defuzzification</vt:lpstr>
      <vt:lpstr>Defuzzification</vt:lpstr>
      <vt:lpstr>Hedges</vt:lpstr>
      <vt:lpstr>Hedges</vt:lpstr>
      <vt:lpstr>Fuzzy Rules</vt:lpstr>
    </vt:vector>
  </TitlesOfParts>
  <Company>ModusLink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8086 chip set architecture course.</dc:title>
  <dc:creator>oisin_cawley</dc:creator>
  <cp:lastModifiedBy>Oisin Cawley</cp:lastModifiedBy>
  <cp:revision>1302</cp:revision>
  <dcterms:created xsi:type="dcterms:W3CDTF">2007-05-08T17:20:09Z</dcterms:created>
  <dcterms:modified xsi:type="dcterms:W3CDTF">2023-11-30T10:56:17Z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TC011594401033</vt:lpwstr>
  </property>
</Properties>
</file>