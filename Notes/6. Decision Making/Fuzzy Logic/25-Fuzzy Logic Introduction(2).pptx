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  <p:sldMasterId id="2147483869" r:id="rId2"/>
  </p:sldMasterIdLst>
  <p:notesMasterIdLst>
    <p:notesMasterId r:id="rId33"/>
  </p:notesMasterIdLst>
  <p:sldIdLst>
    <p:sldId id="275" r:id="rId3"/>
    <p:sldId id="308" r:id="rId4"/>
    <p:sldId id="273" r:id="rId5"/>
    <p:sldId id="278" r:id="rId6"/>
    <p:sldId id="305" r:id="rId7"/>
    <p:sldId id="300" r:id="rId8"/>
    <p:sldId id="279" r:id="rId9"/>
    <p:sldId id="281" r:id="rId10"/>
    <p:sldId id="295" r:id="rId11"/>
    <p:sldId id="282" r:id="rId12"/>
    <p:sldId id="296" r:id="rId13"/>
    <p:sldId id="283" r:id="rId14"/>
    <p:sldId id="284" r:id="rId15"/>
    <p:sldId id="285" r:id="rId16"/>
    <p:sldId id="286" r:id="rId17"/>
    <p:sldId id="306" r:id="rId18"/>
    <p:sldId id="307" r:id="rId19"/>
    <p:sldId id="287" r:id="rId20"/>
    <p:sldId id="288" r:id="rId21"/>
    <p:sldId id="289" r:id="rId22"/>
    <p:sldId id="297" r:id="rId23"/>
    <p:sldId id="302" r:id="rId24"/>
    <p:sldId id="301" r:id="rId25"/>
    <p:sldId id="290" r:id="rId26"/>
    <p:sldId id="291" r:id="rId27"/>
    <p:sldId id="292" r:id="rId28"/>
    <p:sldId id="293" r:id="rId29"/>
    <p:sldId id="299" r:id="rId30"/>
    <p:sldId id="304" r:id="rId31"/>
    <p:sldId id="303" r:id="rId32"/>
  </p:sldIdLst>
  <p:sldSz cx="9144000" cy="6858000" type="screen4x3"/>
  <p:notesSz cx="6884988" cy="100885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EA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571" autoAdjust="0"/>
  </p:normalViewPr>
  <p:slideViewPr>
    <p:cSldViewPr>
      <p:cViewPr varScale="1">
        <p:scale>
          <a:sx n="88" d="100"/>
          <a:sy n="88" d="100"/>
        </p:scale>
        <p:origin x="219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isin Cawley" userId="c7ebb277-34aa-421f-b739-032ced270c1a" providerId="ADAL" clId="{1F8F1072-EF54-475E-B4C2-E094573BEB4F}"/>
  </pc:docChgLst>
  <pc:docChgLst>
    <pc:chgData name="Oisin Cawley" userId="6b66d80f-e52a-4eb8-b588-9059f489afa4" providerId="ADAL" clId="{2167C9BD-5E9D-4ABB-AD75-B4FC37AF47A4}"/>
    <pc:docChg chg="undo custSel addSld delSld modSld sldOrd">
      <pc:chgData name="Oisin Cawley" userId="6b66d80f-e52a-4eb8-b588-9059f489afa4" providerId="ADAL" clId="{2167C9BD-5E9D-4ABB-AD75-B4FC37AF47A4}" dt="2025-11-17T10:41:46.249" v="499" actId="20577"/>
      <pc:docMkLst>
        <pc:docMk/>
      </pc:docMkLst>
      <pc:sldChg chg="ord">
        <pc:chgData name="Oisin Cawley" userId="6b66d80f-e52a-4eb8-b588-9059f489afa4" providerId="ADAL" clId="{2167C9BD-5E9D-4ABB-AD75-B4FC37AF47A4}" dt="2025-11-17T09:46:34.188" v="380"/>
        <pc:sldMkLst>
          <pc:docMk/>
          <pc:sldMk cId="0" sldId="273"/>
        </pc:sldMkLst>
      </pc:sldChg>
      <pc:sldChg chg="add">
        <pc:chgData name="Oisin Cawley" userId="6b66d80f-e52a-4eb8-b588-9059f489afa4" providerId="ADAL" clId="{2167C9BD-5E9D-4ABB-AD75-B4FC37AF47A4}" dt="2025-11-17T09:46:30.897" v="379"/>
        <pc:sldMkLst>
          <pc:docMk/>
          <pc:sldMk cId="0" sldId="275"/>
        </pc:sldMkLst>
      </pc:sldChg>
      <pc:sldChg chg="modSp">
        <pc:chgData name="Oisin Cawley" userId="6b66d80f-e52a-4eb8-b588-9059f489afa4" providerId="ADAL" clId="{2167C9BD-5E9D-4ABB-AD75-B4FC37AF47A4}" dt="2025-11-17T08:43:24.565" v="345" actId="20577"/>
        <pc:sldMkLst>
          <pc:docMk/>
          <pc:sldMk cId="1765744531" sldId="281"/>
        </pc:sldMkLst>
        <pc:spChg chg="mod">
          <ac:chgData name="Oisin Cawley" userId="6b66d80f-e52a-4eb8-b588-9059f489afa4" providerId="ADAL" clId="{2167C9BD-5E9D-4ABB-AD75-B4FC37AF47A4}" dt="2025-11-17T08:43:24.565" v="345" actId="20577"/>
          <ac:spMkLst>
            <pc:docMk/>
            <pc:sldMk cId="1765744531" sldId="281"/>
            <ac:spMk id="6146" creationId="{00000000-0000-0000-0000-000000000000}"/>
          </ac:spMkLst>
        </pc:spChg>
      </pc:sldChg>
      <pc:sldChg chg="modSp">
        <pc:chgData name="Oisin Cawley" userId="6b66d80f-e52a-4eb8-b588-9059f489afa4" providerId="ADAL" clId="{2167C9BD-5E9D-4ABB-AD75-B4FC37AF47A4}" dt="2025-11-17T08:45:41.163" v="364" actId="179"/>
        <pc:sldMkLst>
          <pc:docMk/>
          <pc:sldMk cId="3266722389" sldId="282"/>
        </pc:sldMkLst>
        <pc:spChg chg="mod">
          <ac:chgData name="Oisin Cawley" userId="6b66d80f-e52a-4eb8-b588-9059f489afa4" providerId="ADAL" clId="{2167C9BD-5E9D-4ABB-AD75-B4FC37AF47A4}" dt="2025-11-17T08:45:41.163" v="364" actId="179"/>
          <ac:spMkLst>
            <pc:docMk/>
            <pc:sldMk cId="3266722389" sldId="282"/>
            <ac:spMk id="7170" creationId="{00000000-0000-0000-0000-000000000000}"/>
          </ac:spMkLst>
        </pc:spChg>
      </pc:sldChg>
      <pc:sldChg chg="addSp modSp">
        <pc:chgData name="Oisin Cawley" userId="6b66d80f-e52a-4eb8-b588-9059f489afa4" providerId="ADAL" clId="{2167C9BD-5E9D-4ABB-AD75-B4FC37AF47A4}" dt="2025-11-17T10:41:37.808" v="497" actId="1076"/>
        <pc:sldMkLst>
          <pc:docMk/>
          <pc:sldMk cId="439908687" sldId="284"/>
        </pc:sldMkLst>
        <pc:spChg chg="add mod">
          <ac:chgData name="Oisin Cawley" userId="6b66d80f-e52a-4eb8-b588-9059f489afa4" providerId="ADAL" clId="{2167C9BD-5E9D-4ABB-AD75-B4FC37AF47A4}" dt="2025-11-17T10:41:37.808" v="497" actId="1076"/>
          <ac:spMkLst>
            <pc:docMk/>
            <pc:sldMk cId="439908687" sldId="284"/>
            <ac:spMk id="3" creationId="{AB031AF0-B4A9-4F72-AB43-A946F52E38A6}"/>
          </ac:spMkLst>
        </pc:spChg>
      </pc:sldChg>
      <pc:sldChg chg="modSp ord">
        <pc:chgData name="Oisin Cawley" userId="6b66d80f-e52a-4eb8-b588-9059f489afa4" providerId="ADAL" clId="{2167C9BD-5E9D-4ABB-AD75-B4FC37AF47A4}" dt="2025-11-12T17:44:12.267" v="328" actId="20577"/>
        <pc:sldMkLst>
          <pc:docMk/>
          <pc:sldMk cId="548150473" sldId="286"/>
        </pc:sldMkLst>
        <pc:spChg chg="mod">
          <ac:chgData name="Oisin Cawley" userId="6b66d80f-e52a-4eb8-b588-9059f489afa4" providerId="ADAL" clId="{2167C9BD-5E9D-4ABB-AD75-B4FC37AF47A4}" dt="2025-11-12T17:44:12.267" v="328" actId="20577"/>
          <ac:spMkLst>
            <pc:docMk/>
            <pc:sldMk cId="548150473" sldId="286"/>
            <ac:spMk id="11266" creationId="{00000000-0000-0000-0000-000000000000}"/>
          </ac:spMkLst>
        </pc:spChg>
      </pc:sldChg>
      <pc:sldChg chg="modSp">
        <pc:chgData name="Oisin Cawley" userId="6b66d80f-e52a-4eb8-b588-9059f489afa4" providerId="ADAL" clId="{2167C9BD-5E9D-4ABB-AD75-B4FC37AF47A4}" dt="2025-11-17T10:41:46.249" v="499" actId="20577"/>
        <pc:sldMkLst>
          <pc:docMk/>
          <pc:sldMk cId="4194691371" sldId="287"/>
        </pc:sldMkLst>
        <pc:spChg chg="mod">
          <ac:chgData name="Oisin Cawley" userId="6b66d80f-e52a-4eb8-b588-9059f489afa4" providerId="ADAL" clId="{2167C9BD-5E9D-4ABB-AD75-B4FC37AF47A4}" dt="2025-11-17T10:41:46.249" v="499" actId="20577"/>
          <ac:spMkLst>
            <pc:docMk/>
            <pc:sldMk cId="4194691371" sldId="287"/>
            <ac:spMk id="6" creationId="{00000000-0000-0000-0000-000000000000}"/>
          </ac:spMkLst>
        </pc:spChg>
      </pc:sldChg>
      <pc:sldChg chg="modSp">
        <pc:chgData name="Oisin Cawley" userId="6b66d80f-e52a-4eb8-b588-9059f489afa4" providerId="ADAL" clId="{2167C9BD-5E9D-4ABB-AD75-B4FC37AF47A4}" dt="2025-11-12T17:24:59.399" v="265" actId="1076"/>
        <pc:sldMkLst>
          <pc:docMk/>
          <pc:sldMk cId="2938835437" sldId="289"/>
        </pc:sldMkLst>
        <pc:spChg chg="mod">
          <ac:chgData name="Oisin Cawley" userId="6b66d80f-e52a-4eb8-b588-9059f489afa4" providerId="ADAL" clId="{2167C9BD-5E9D-4ABB-AD75-B4FC37AF47A4}" dt="2025-11-12T17:24:59.399" v="265" actId="1076"/>
          <ac:spMkLst>
            <pc:docMk/>
            <pc:sldMk cId="2938835437" sldId="289"/>
            <ac:spMk id="6" creationId="{00000000-0000-0000-0000-000000000000}"/>
          </ac:spMkLst>
        </pc:spChg>
        <pc:picChg chg="mod">
          <ac:chgData name="Oisin Cawley" userId="6b66d80f-e52a-4eb8-b588-9059f489afa4" providerId="ADAL" clId="{2167C9BD-5E9D-4ABB-AD75-B4FC37AF47A4}" dt="2025-11-12T17:24:40.350" v="262" actId="1076"/>
          <ac:picMkLst>
            <pc:docMk/>
            <pc:sldMk cId="2938835437" sldId="289"/>
            <ac:picMk id="5" creationId="{00000000-0000-0000-0000-000000000000}"/>
          </ac:picMkLst>
        </pc:picChg>
      </pc:sldChg>
      <pc:sldChg chg="modSp">
        <pc:chgData name="Oisin Cawley" userId="6b66d80f-e52a-4eb8-b588-9059f489afa4" providerId="ADAL" clId="{2167C9BD-5E9D-4ABB-AD75-B4FC37AF47A4}" dt="2025-11-17T08:50:16.629" v="367" actId="20577"/>
        <pc:sldMkLst>
          <pc:docMk/>
          <pc:sldMk cId="530700595" sldId="290"/>
        </pc:sldMkLst>
        <pc:spChg chg="mod">
          <ac:chgData name="Oisin Cawley" userId="6b66d80f-e52a-4eb8-b588-9059f489afa4" providerId="ADAL" clId="{2167C9BD-5E9D-4ABB-AD75-B4FC37AF47A4}" dt="2025-11-17T08:50:16.629" v="367" actId="20577"/>
          <ac:spMkLst>
            <pc:docMk/>
            <pc:sldMk cId="530700595" sldId="290"/>
            <ac:spMk id="15362" creationId="{00000000-0000-0000-0000-000000000000}"/>
          </ac:spMkLst>
        </pc:spChg>
      </pc:sldChg>
      <pc:sldChg chg="modSp">
        <pc:chgData name="Oisin Cawley" userId="6b66d80f-e52a-4eb8-b588-9059f489afa4" providerId="ADAL" clId="{2167C9BD-5E9D-4ABB-AD75-B4FC37AF47A4}" dt="2025-11-17T08:44:06.468" v="353" actId="20577"/>
        <pc:sldMkLst>
          <pc:docMk/>
          <pc:sldMk cId="4104836550" sldId="295"/>
        </pc:sldMkLst>
        <pc:spChg chg="mod">
          <ac:chgData name="Oisin Cawley" userId="6b66d80f-e52a-4eb8-b588-9059f489afa4" providerId="ADAL" clId="{2167C9BD-5E9D-4ABB-AD75-B4FC37AF47A4}" dt="2025-11-17T08:44:06.468" v="353" actId="20577"/>
          <ac:spMkLst>
            <pc:docMk/>
            <pc:sldMk cId="4104836550" sldId="295"/>
            <ac:spMk id="6146" creationId="{00000000-0000-0000-0000-000000000000}"/>
          </ac:spMkLst>
        </pc:spChg>
      </pc:sldChg>
      <pc:sldChg chg="modAnim">
        <pc:chgData name="Oisin Cawley" userId="6b66d80f-e52a-4eb8-b588-9059f489afa4" providerId="ADAL" clId="{2167C9BD-5E9D-4ABB-AD75-B4FC37AF47A4}" dt="2025-11-17T08:48:57.502" v="365"/>
        <pc:sldMkLst>
          <pc:docMk/>
          <pc:sldMk cId="414945179" sldId="297"/>
        </pc:sldMkLst>
      </pc:sldChg>
      <pc:sldChg chg="modSp">
        <pc:chgData name="Oisin Cawley" userId="6b66d80f-e52a-4eb8-b588-9059f489afa4" providerId="ADAL" clId="{2167C9BD-5E9D-4ABB-AD75-B4FC37AF47A4}" dt="2025-11-17T08:52:32.074" v="378" actId="20577"/>
        <pc:sldMkLst>
          <pc:docMk/>
          <pc:sldMk cId="2281470536" sldId="303"/>
        </pc:sldMkLst>
        <pc:spChg chg="mod">
          <ac:chgData name="Oisin Cawley" userId="6b66d80f-e52a-4eb8-b588-9059f489afa4" providerId="ADAL" clId="{2167C9BD-5E9D-4ABB-AD75-B4FC37AF47A4}" dt="2025-11-17T08:52:32.074" v="378" actId="20577"/>
          <ac:spMkLst>
            <pc:docMk/>
            <pc:sldMk cId="2281470536" sldId="303"/>
            <ac:spMk id="17410" creationId="{00000000-0000-0000-0000-000000000000}"/>
          </ac:spMkLst>
        </pc:spChg>
      </pc:sldChg>
      <pc:sldChg chg="addSp delSp modSp add ord">
        <pc:chgData name="Oisin Cawley" userId="6b66d80f-e52a-4eb8-b588-9059f489afa4" providerId="ADAL" clId="{2167C9BD-5E9D-4ABB-AD75-B4FC37AF47A4}" dt="2025-11-17T10:41:28.890" v="496" actId="20577"/>
        <pc:sldMkLst>
          <pc:docMk/>
          <pc:sldMk cId="2405288335" sldId="306"/>
        </pc:sldMkLst>
        <pc:spChg chg="mod">
          <ac:chgData name="Oisin Cawley" userId="6b66d80f-e52a-4eb8-b588-9059f489afa4" providerId="ADAL" clId="{2167C9BD-5E9D-4ABB-AD75-B4FC37AF47A4}" dt="2025-11-17T10:41:28.890" v="496" actId="20577"/>
          <ac:spMkLst>
            <pc:docMk/>
            <pc:sldMk cId="2405288335" sldId="306"/>
            <ac:spMk id="3" creationId="{AB031AF0-B4A9-4F72-AB43-A946F52E38A6}"/>
          </ac:spMkLst>
        </pc:spChg>
        <pc:spChg chg="add mod">
          <ac:chgData name="Oisin Cawley" userId="6b66d80f-e52a-4eb8-b588-9059f489afa4" providerId="ADAL" clId="{2167C9BD-5E9D-4ABB-AD75-B4FC37AF47A4}" dt="2025-11-12T17:23:40.323" v="256" actId="1035"/>
          <ac:spMkLst>
            <pc:docMk/>
            <pc:sldMk cId="2405288335" sldId="306"/>
            <ac:spMk id="13" creationId="{16A8CD5A-2EFE-439E-B948-321D80FF0370}"/>
          </ac:spMkLst>
        </pc:spChg>
        <pc:spChg chg="add mod">
          <ac:chgData name="Oisin Cawley" userId="6b66d80f-e52a-4eb8-b588-9059f489afa4" providerId="ADAL" clId="{2167C9BD-5E9D-4ABB-AD75-B4FC37AF47A4}" dt="2025-11-12T17:23:40.323" v="256" actId="1035"/>
          <ac:spMkLst>
            <pc:docMk/>
            <pc:sldMk cId="2405288335" sldId="306"/>
            <ac:spMk id="14" creationId="{A8C1FC20-6284-429D-8252-A46ECFAEFE6F}"/>
          </ac:spMkLst>
        </pc:spChg>
        <pc:spChg chg="add mod">
          <ac:chgData name="Oisin Cawley" userId="6b66d80f-e52a-4eb8-b588-9059f489afa4" providerId="ADAL" clId="{2167C9BD-5E9D-4ABB-AD75-B4FC37AF47A4}" dt="2025-11-12T17:23:40.323" v="256" actId="1035"/>
          <ac:spMkLst>
            <pc:docMk/>
            <pc:sldMk cId="2405288335" sldId="306"/>
            <ac:spMk id="22" creationId="{79A51D41-D6FB-4F45-9E40-2C454C791E86}"/>
          </ac:spMkLst>
        </pc:spChg>
        <pc:spChg chg="add del mod">
          <ac:chgData name="Oisin Cawley" userId="6b66d80f-e52a-4eb8-b588-9059f489afa4" providerId="ADAL" clId="{2167C9BD-5E9D-4ABB-AD75-B4FC37AF47A4}" dt="2025-11-12T17:13:34.703" v="160" actId="478"/>
          <ac:spMkLst>
            <pc:docMk/>
            <pc:sldMk cId="2405288335" sldId="306"/>
            <ac:spMk id="23" creationId="{37E51E3A-D7C8-490F-A6A2-113147023350}"/>
          </ac:spMkLst>
        </pc:spChg>
        <pc:spChg chg="add mod">
          <ac:chgData name="Oisin Cawley" userId="6b66d80f-e52a-4eb8-b588-9059f489afa4" providerId="ADAL" clId="{2167C9BD-5E9D-4ABB-AD75-B4FC37AF47A4}" dt="2025-11-12T17:26:57.937" v="294" actId="20577"/>
          <ac:spMkLst>
            <pc:docMk/>
            <pc:sldMk cId="2405288335" sldId="306"/>
            <ac:spMk id="26" creationId="{B55D4FBE-1710-4E97-9D95-C3F98F16807A}"/>
          </ac:spMkLst>
        </pc:spChg>
        <pc:picChg chg="del mod">
          <ac:chgData name="Oisin Cawley" userId="6b66d80f-e52a-4eb8-b588-9059f489afa4" providerId="ADAL" clId="{2167C9BD-5E9D-4ABB-AD75-B4FC37AF47A4}" dt="2025-11-12T17:13:30.430" v="159" actId="478"/>
          <ac:picMkLst>
            <pc:docMk/>
            <pc:sldMk cId="2405288335" sldId="306"/>
            <ac:picMk id="9217" creationId="{00000000-0000-0000-0000-000000000000}"/>
          </ac:picMkLst>
        </pc:picChg>
        <pc:cxnChg chg="add mod">
          <ac:chgData name="Oisin Cawley" userId="6b66d80f-e52a-4eb8-b588-9059f489afa4" providerId="ADAL" clId="{2167C9BD-5E9D-4ABB-AD75-B4FC37AF47A4}" dt="2025-11-12T17:23:40.323" v="256" actId="1035"/>
          <ac:cxnSpMkLst>
            <pc:docMk/>
            <pc:sldMk cId="2405288335" sldId="306"/>
            <ac:cxnSpMk id="6" creationId="{043E9334-215C-45E6-913B-49965D4FD927}"/>
          </ac:cxnSpMkLst>
        </pc:cxnChg>
        <pc:cxnChg chg="add mod">
          <ac:chgData name="Oisin Cawley" userId="6b66d80f-e52a-4eb8-b588-9059f489afa4" providerId="ADAL" clId="{2167C9BD-5E9D-4ABB-AD75-B4FC37AF47A4}" dt="2025-11-12T17:23:40.323" v="256" actId="1035"/>
          <ac:cxnSpMkLst>
            <pc:docMk/>
            <pc:sldMk cId="2405288335" sldId="306"/>
            <ac:cxnSpMk id="8" creationId="{B3B7306C-039B-4807-8849-0E0DC2474F1B}"/>
          </ac:cxnSpMkLst>
        </pc:cxnChg>
        <pc:cxnChg chg="add mod">
          <ac:chgData name="Oisin Cawley" userId="6b66d80f-e52a-4eb8-b588-9059f489afa4" providerId="ADAL" clId="{2167C9BD-5E9D-4ABB-AD75-B4FC37AF47A4}" dt="2025-11-12T17:23:40.323" v="256" actId="1035"/>
          <ac:cxnSpMkLst>
            <pc:docMk/>
            <pc:sldMk cId="2405288335" sldId="306"/>
            <ac:cxnSpMk id="10" creationId="{6580FDAB-C471-4EB0-8BC8-EE2000A05D74}"/>
          </ac:cxnSpMkLst>
        </pc:cxnChg>
        <pc:cxnChg chg="add mod">
          <ac:chgData name="Oisin Cawley" userId="6b66d80f-e52a-4eb8-b588-9059f489afa4" providerId="ADAL" clId="{2167C9BD-5E9D-4ABB-AD75-B4FC37AF47A4}" dt="2025-11-12T17:23:40.323" v="256" actId="1035"/>
          <ac:cxnSpMkLst>
            <pc:docMk/>
            <pc:sldMk cId="2405288335" sldId="306"/>
            <ac:cxnSpMk id="12" creationId="{3E0B7DD0-29CF-474C-8D62-EE2C156BC448}"/>
          </ac:cxnSpMkLst>
        </pc:cxnChg>
        <pc:cxnChg chg="add mod">
          <ac:chgData name="Oisin Cawley" userId="6b66d80f-e52a-4eb8-b588-9059f489afa4" providerId="ADAL" clId="{2167C9BD-5E9D-4ABB-AD75-B4FC37AF47A4}" dt="2025-11-12T17:26:29.829" v="268" actId="1076"/>
          <ac:cxnSpMkLst>
            <pc:docMk/>
            <pc:sldMk cId="2405288335" sldId="306"/>
            <ac:cxnSpMk id="16" creationId="{C31B136A-E78B-49D3-8BA8-0B5336063BFF}"/>
          </ac:cxnSpMkLst>
        </pc:cxnChg>
        <pc:cxnChg chg="add mod">
          <ac:chgData name="Oisin Cawley" userId="6b66d80f-e52a-4eb8-b588-9059f489afa4" providerId="ADAL" clId="{2167C9BD-5E9D-4ABB-AD75-B4FC37AF47A4}" dt="2025-11-12T17:26:34.503" v="269" actId="14100"/>
          <ac:cxnSpMkLst>
            <pc:docMk/>
            <pc:sldMk cId="2405288335" sldId="306"/>
            <ac:cxnSpMk id="18" creationId="{891FE3DA-E1E0-496F-A6C8-D8C6C12DB747}"/>
          </ac:cxnSpMkLst>
        </pc:cxnChg>
        <pc:cxnChg chg="add mod">
          <ac:chgData name="Oisin Cawley" userId="6b66d80f-e52a-4eb8-b588-9059f489afa4" providerId="ADAL" clId="{2167C9BD-5E9D-4ABB-AD75-B4FC37AF47A4}" dt="2025-11-12T17:27:07.924" v="297" actId="14100"/>
          <ac:cxnSpMkLst>
            <pc:docMk/>
            <pc:sldMk cId="2405288335" sldId="306"/>
            <ac:cxnSpMk id="27" creationId="{0C8F9116-0202-4D76-967C-E6D369FAD47B}"/>
          </ac:cxnSpMkLst>
        </pc:cxnChg>
        <pc:cxnChg chg="add mod">
          <ac:chgData name="Oisin Cawley" userId="6b66d80f-e52a-4eb8-b588-9059f489afa4" providerId="ADAL" clId="{2167C9BD-5E9D-4ABB-AD75-B4FC37AF47A4}" dt="2025-11-12T17:27:32.285" v="301" actId="692"/>
          <ac:cxnSpMkLst>
            <pc:docMk/>
            <pc:sldMk cId="2405288335" sldId="306"/>
            <ac:cxnSpMk id="30" creationId="{F547321B-2559-4A9B-9059-5BC0C31A3FA3}"/>
          </ac:cxnSpMkLst>
        </pc:cxnChg>
      </pc:sldChg>
      <pc:sldChg chg="modSp add">
        <pc:chgData name="Oisin Cawley" userId="6b66d80f-e52a-4eb8-b588-9059f489afa4" providerId="ADAL" clId="{2167C9BD-5E9D-4ABB-AD75-B4FC37AF47A4}" dt="2025-11-12T17:23:55.669" v="257" actId="6549"/>
        <pc:sldMkLst>
          <pc:docMk/>
          <pc:sldMk cId="4240022911" sldId="307"/>
        </pc:sldMkLst>
        <pc:spChg chg="mod">
          <ac:chgData name="Oisin Cawley" userId="6b66d80f-e52a-4eb8-b588-9059f489afa4" providerId="ADAL" clId="{2167C9BD-5E9D-4ABB-AD75-B4FC37AF47A4}" dt="2025-11-12T17:23:55.669" v="257" actId="6549"/>
          <ac:spMkLst>
            <pc:docMk/>
            <pc:sldMk cId="4240022911" sldId="307"/>
            <ac:spMk id="11266" creationId="{00000000-0000-0000-0000-000000000000}"/>
          </ac:spMkLst>
        </pc:spChg>
      </pc:sldChg>
      <pc:sldChg chg="add">
        <pc:chgData name="Oisin Cawley" userId="6b66d80f-e52a-4eb8-b588-9059f489afa4" providerId="ADAL" clId="{2167C9BD-5E9D-4ABB-AD75-B4FC37AF47A4}" dt="2025-11-17T09:46:30.897" v="379"/>
        <pc:sldMkLst>
          <pc:docMk/>
          <pc:sldMk cId="3226722274" sldId="308"/>
        </pc:sldMkLst>
      </pc:sldChg>
    </pc:docChg>
  </pc:docChgLst>
  <pc:docChgLst>
    <pc:chgData name="Oisin Cawley" userId="6b66d80f-e52a-4eb8-b588-9059f489afa4" providerId="ADAL" clId="{E4936D77-89C0-4284-B875-46E81CE4CDA6}"/>
  </pc:docChgLst>
  <pc:docChgLst>
    <pc:chgData name="Oisin Cawley" userId="c7ebb277-34aa-421f-b739-032ced270c1a" providerId="ADAL" clId="{63EF90C6-84BB-4A36-B6B6-3EFCDE40AB68}"/>
  </pc:docChgLst>
  <pc:docChgLst>
    <pc:chgData name="Oisin Cawley" userId="c7ebb277-34aa-421f-b739-032ced270c1a" providerId="ADAL" clId="{CDF9D382-E403-44E2-AF87-8C1EB9EA54D1}"/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8900" y="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2338" y="757238"/>
            <a:ext cx="5041900" cy="37830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7388" y="4792663"/>
            <a:ext cx="5510212" cy="4538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8215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8900" y="958215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05ACD5CE-1CB6-4E94-A92C-124437B24A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546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Millington Chapter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94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IE" dirty="0"/>
              <a:t>Idea: </a:t>
            </a:r>
            <a:r>
              <a:rPr lang="en-GB" dirty="0"/>
              <a:t>How about doing a fuzzy logic </a:t>
            </a:r>
            <a:r>
              <a:rPr lang="en-GB"/>
              <a:t>implementation of </a:t>
            </a:r>
            <a:r>
              <a:rPr lang="en-GB" dirty="0"/>
              <a:t>the flocking </a:t>
            </a:r>
            <a:r>
              <a:rPr lang="en-GB"/>
              <a:t>algorithm?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101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28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283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283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474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47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474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Check out https: https://www.youtube.com/watch?v=6YDHBFVIvIs for a</a:t>
            </a:r>
            <a:r>
              <a:rPr lang="en-IE" baseline="0" dirty="0"/>
              <a:t> domo of a Galton Board and to see a normal distribution in action.</a:t>
            </a:r>
          </a:p>
          <a:p>
            <a:r>
              <a:rPr lang="en-IE" baseline="0" dirty="0"/>
              <a:t>Also </a:t>
            </a:r>
            <a:r>
              <a:rPr lang="en-IE" dirty="0"/>
              <a:t>//www.mathsisfun.com/data/quincunx-explained.html lets </a:t>
            </a:r>
            <a:r>
              <a:rPr lang="en-IE"/>
              <a:t>you play with one!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75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83FCE8-4119-48FF-966B-7E5136F9C4B7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75475" y="6453188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E978DDB-8E96-4DB2-8C14-28FF9F7399E6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37B5FB-2642-48F7-BDAC-64F1768F7B1F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281E1D-31C8-4BDE-8ED6-CD407A12904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3B10E-0F2D-456E-A6C5-ABEC760B5FEE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2B34AF-0A0C-4B06-AF07-DCF028B85987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1CED97-0F19-4EA5-951E-9254A908A87C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B1C59A-8D6D-445A-8651-08EDD062102A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F1BCED-8D94-45EF-A610-3A53DC3D39DB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CC426-4027-45AA-AA9D-874E74495604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D66E8D-4372-4450-AF9F-1F3F69E871FC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F7FFA-D0E4-4688-B2F9-1175C1B7E3CC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75475" y="6453188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4C9582D-2E31-434C-A6C1-A926DBB0B909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A3DDA3-2712-46ED-A771-5399145A3D01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2DE8F-7AAD-415A-8ED8-734D637B39D2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10BDE4-987C-4FBC-B9CB-4D6602561EC5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15138E-20E5-4AEE-9593-4CED1FF3B4A2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EED188-593D-4E5A-8309-224710DF2B50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225A37-78AD-4AC2-8CFD-83FEBCE05026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F633C3-D837-4105-940D-252BA81F6873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A78F10-B8B1-474C-971B-7BA47E4F6CE2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A31C60-EE3E-42C6-80FB-27B190A0464E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762000" y="762000"/>
            <a:ext cx="7924800" cy="5324475"/>
          </a:xfrm>
        </p:spPr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438400" y="6248400"/>
            <a:ext cx="2130425" cy="4746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4138" y="6242050"/>
            <a:ext cx="587375" cy="488950"/>
          </a:xfrm>
        </p:spPr>
        <p:txBody>
          <a:bodyPr/>
          <a:lstStyle>
            <a:lvl1pPr>
              <a:defRPr/>
            </a:lvl1pPr>
          </a:lstStyle>
          <a:p>
            <a:fld id="{A1F09A23-DA18-489E-AEBB-D239B3A209C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74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0675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48488" y="6519863"/>
            <a:ext cx="2133600" cy="3381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2E1222C4-AD1C-443F-91C8-5935F67D99D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1484313"/>
            <a:ext cx="9144000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0" y="6519863"/>
            <a:ext cx="4211638" cy="338137"/>
          </a:xfrm>
          <a:prstGeom prst="rect">
            <a:avLst/>
          </a:prstGeom>
        </p:spPr>
        <p:txBody>
          <a:bodyPr anchor="ctr"/>
          <a:lstStyle/>
          <a:p>
            <a:pPr>
              <a:defRPr/>
            </a:pPr>
            <a:r>
              <a:rPr lang="en-IE" sz="1200" dirty="0">
                <a:solidFill>
                  <a:schemeClr val="tx1">
                    <a:tint val="75000"/>
                  </a:schemeClr>
                </a:solidFill>
                <a:latin typeface="Arial" charset="0"/>
              </a:rPr>
              <a:t>AI for Games</a:t>
            </a:r>
          </a:p>
        </p:txBody>
      </p:sp>
      <p:pic>
        <p:nvPicPr>
          <p:cNvPr id="8" name="Picture 6" descr="SETU logo">
            <a:extLst>
              <a:ext uri="{FF2B5EF4-FFF2-40B4-BE49-F238E27FC236}">
                <a16:creationId xmlns:a16="http://schemas.microsoft.com/office/drawing/2014/main" id="{B2F0094D-6EEA-49A5-9498-876CD0B7CD1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041" y="93003"/>
            <a:ext cx="1342293" cy="75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1" r:id="rId1"/>
    <p:sldLayoutId id="2147484142" r:id="rId2"/>
    <p:sldLayoutId id="2147484143" r:id="rId3"/>
    <p:sldLayoutId id="2147484131" r:id="rId4"/>
    <p:sldLayoutId id="2147484132" r:id="rId5"/>
    <p:sldLayoutId id="2147484133" r:id="rId6"/>
    <p:sldLayoutId id="2147484134" r:id="rId7"/>
    <p:sldLayoutId id="2147484135" r:id="rId8"/>
    <p:sldLayoutId id="2147484144" r:id="rId9"/>
    <p:sldLayoutId id="2147484145" r:id="rId10"/>
    <p:sldLayoutId id="214748414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067550" cy="63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25538"/>
            <a:ext cx="8229600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48488" y="6519863"/>
            <a:ext cx="2133600" cy="3381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798A2B5B-F3F1-46D4-B91B-268967D35FC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981075"/>
            <a:ext cx="9144000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0" y="6519863"/>
            <a:ext cx="4211638" cy="338137"/>
          </a:xfrm>
          <a:prstGeom prst="rect">
            <a:avLst/>
          </a:prstGeom>
        </p:spPr>
        <p:txBody>
          <a:bodyPr anchor="ctr"/>
          <a:lstStyle/>
          <a:p>
            <a:pPr>
              <a:defRPr/>
            </a:pPr>
            <a:r>
              <a:rPr lang="en-IE" sz="1200" dirty="0">
                <a:solidFill>
                  <a:schemeClr val="tx1">
                    <a:tint val="75000"/>
                  </a:schemeClr>
                </a:solidFill>
                <a:latin typeface="Arial" charset="0"/>
              </a:rPr>
              <a:t>AI for Games</a:t>
            </a:r>
          </a:p>
        </p:txBody>
      </p:sp>
      <p:pic>
        <p:nvPicPr>
          <p:cNvPr id="9" name="Picture 6" descr="SETU logo">
            <a:extLst>
              <a:ext uri="{FF2B5EF4-FFF2-40B4-BE49-F238E27FC236}">
                <a16:creationId xmlns:a16="http://schemas.microsoft.com/office/drawing/2014/main" id="{DC006753-3794-4089-9C3A-33FD0E520D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041" y="93003"/>
            <a:ext cx="1342293" cy="75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7" r:id="rId1"/>
    <p:sldLayoutId id="2147484148" r:id="rId2"/>
    <p:sldLayoutId id="2147484149" r:id="rId3"/>
    <p:sldLayoutId id="2147484136" r:id="rId4"/>
    <p:sldLayoutId id="2147484137" r:id="rId5"/>
    <p:sldLayoutId id="2147484138" r:id="rId6"/>
    <p:sldLayoutId id="2147484139" r:id="rId7"/>
    <p:sldLayoutId id="2147484140" r:id="rId8"/>
    <p:sldLayoutId id="2147484150" r:id="rId9"/>
    <p:sldLayoutId id="2147484151" r:id="rId10"/>
    <p:sldLayoutId id="2147484152" r:id="rId11"/>
    <p:sldLayoutId id="2147484153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0609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The AI Model</a:t>
            </a:r>
          </a:p>
        </p:txBody>
      </p:sp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71800" y="1717231"/>
            <a:ext cx="3600400" cy="342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</a:t>
            </a:fld>
            <a:endParaRPr lang="en-I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Decision 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40768"/>
            <a:ext cx="5066668" cy="4785395"/>
          </a:xfrm>
        </p:spPr>
        <p:txBody>
          <a:bodyPr>
            <a:normAutofit/>
          </a:bodyPr>
          <a:lstStyle/>
          <a:p>
            <a:pPr marL="354013" lvl="1" indent="-342900"/>
            <a:r>
              <a:rPr lang="en-US" sz="20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When making a decision,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AI processes a set of information, and generates an action</a:t>
            </a:r>
          </a:p>
          <a:p>
            <a:pPr marL="354013" lvl="1" indent="-342900"/>
            <a:r>
              <a:rPr lang="en-US" sz="2000" baseline="0" dirty="0"/>
              <a:t>We pass some form of knowledge into the decision making process</a:t>
            </a:r>
          </a:p>
          <a:p>
            <a:pPr marL="754063" lvl="2" indent="-342900"/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Internal knowledge (NPCs internal state)</a:t>
            </a:r>
          </a:p>
          <a:p>
            <a:pPr marL="754063" lvl="2" indent="-342900"/>
            <a:r>
              <a:rPr lang="en-US" sz="1600" baseline="0" dirty="0"/>
              <a:t>External knowledge (game environment)</a:t>
            </a:r>
          </a:p>
          <a:p>
            <a:pPr marL="354013" lvl="1" indent="-342900"/>
            <a:endParaRPr lang="en-US" sz="20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354013" lvl="1" indent="-342900"/>
            <a:r>
              <a:rPr lang="en-US" sz="2000" dirty="0"/>
              <a:t>The resulting actions can change the external or internal state of the NPC</a:t>
            </a:r>
          </a:p>
          <a:p>
            <a:pPr marL="754063" lvl="2" indent="-342900"/>
            <a:r>
              <a:rPr lang="en-US" sz="16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External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e.g. fire weapon</a:t>
            </a:r>
          </a:p>
          <a:p>
            <a:pPr marL="754063" lvl="2" indent="-342900"/>
            <a:r>
              <a:rPr lang="en-US" sz="1600" baseline="0" dirty="0"/>
              <a:t>Internal</a:t>
            </a:r>
            <a:r>
              <a:rPr lang="en-US" sz="1600" dirty="0"/>
              <a:t> e.g. change its health level</a:t>
            </a:r>
          </a:p>
          <a:p>
            <a:pPr marL="354013" lvl="1" indent="-342900"/>
            <a:endParaRPr lang="en-US" sz="20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23868" y="1844824"/>
            <a:ext cx="3162932" cy="3007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226722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indent="-274320" algn="ctr" fontAlgn="auto">
              <a:spcAft>
                <a:spcPts val="0"/>
              </a:spcAft>
              <a:defRPr/>
            </a:pPr>
            <a:endParaRPr lang="en-GB" sz="2800" dirty="0">
              <a:ea typeface="+mn-ea"/>
              <a:cs typeface="Arial" charset="0"/>
            </a:endParaRPr>
          </a:p>
          <a:p>
            <a:pPr indent="-274320" algn="ctr" fontAlgn="auto">
              <a:spcAft>
                <a:spcPts val="0"/>
              </a:spcAft>
              <a:defRPr/>
            </a:pPr>
            <a:endParaRPr lang="en-GB" sz="2800" dirty="0">
              <a:cs typeface="Arial" charset="0"/>
            </a:endParaRPr>
          </a:p>
          <a:p>
            <a:pPr indent="-274320" algn="ctr" fontAlgn="auto">
              <a:spcAft>
                <a:spcPts val="0"/>
              </a:spcAft>
              <a:buNone/>
              <a:defRPr/>
            </a:pPr>
            <a:r>
              <a:rPr lang="en-GB" sz="36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Calibri" pitchFamily="34" charset="0"/>
                <a:cs typeface="Calibri" pitchFamily="34" charset="0"/>
              </a:rPr>
              <a:t>Fuzzy Logic</a:t>
            </a:r>
          </a:p>
          <a:p>
            <a:pPr indent="-274320" algn="ctr" fontAlgn="auto">
              <a:spcAft>
                <a:spcPts val="0"/>
              </a:spcAft>
              <a:buNone/>
              <a:defRPr/>
            </a:pPr>
            <a:endParaRPr lang="en-GB" sz="3600" b="1" dirty="0">
              <a:solidFill>
                <a:schemeClr val="accent5">
                  <a:lumMod val="75000"/>
                </a:schemeClr>
              </a:solidFill>
              <a:latin typeface="+mj-lt"/>
              <a:ea typeface="Calibri" pitchFamily="34" charset="0"/>
              <a:cs typeface="Calibri" pitchFamily="34" charset="0"/>
            </a:endParaRPr>
          </a:p>
          <a:p>
            <a:pPr indent="-274320" algn="ctr" fontAlgn="auto">
              <a:spcAft>
                <a:spcPts val="0"/>
              </a:spcAft>
              <a:buNone/>
              <a:defRPr/>
            </a:pPr>
            <a:r>
              <a:rPr lang="en-GB" sz="2000" b="1" dirty="0">
                <a:solidFill>
                  <a:schemeClr val="accent5">
                    <a:lumMod val="75000"/>
                  </a:schemeClr>
                </a:solidFill>
                <a:latin typeface="+mj-lt"/>
                <a:ea typeface="Calibri" pitchFamily="34" charset="0"/>
                <a:cs typeface="Calibri" pitchFamily="34" charset="0"/>
              </a:rPr>
              <a:t>“The essence of fuzzy logic is that everything is a matter of degree”</a:t>
            </a:r>
            <a:endParaRPr lang="en-GB" b="1" dirty="0">
              <a:solidFill>
                <a:schemeClr val="accent5">
                  <a:lumMod val="75000"/>
                </a:schemeClr>
              </a:solidFill>
              <a:latin typeface="+mj-lt"/>
              <a:ea typeface="Calibri" pitchFamily="34" charset="0"/>
              <a:cs typeface="Calibri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3</a:t>
            </a:fld>
            <a:endParaRPr lang="en-I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Vagueness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buNone/>
            </a:pPr>
            <a:r>
              <a:rPr lang="en-IE" altLang="en-US" sz="2400" dirty="0"/>
              <a:t>1937, </a:t>
            </a:r>
            <a:r>
              <a:rPr lang="en-IE" altLang="en-US" sz="2400" b="1" dirty="0"/>
              <a:t>Max Black </a:t>
            </a:r>
            <a:r>
              <a:rPr lang="en-IE" altLang="en-US" sz="2400" dirty="0"/>
              <a:t>published a paper called:</a:t>
            </a:r>
          </a:p>
          <a:p>
            <a:pPr>
              <a:lnSpc>
                <a:spcPct val="90000"/>
              </a:lnSpc>
              <a:buNone/>
            </a:pPr>
            <a:r>
              <a:rPr lang="en-IE" altLang="en-US" sz="2400" dirty="0"/>
              <a:t>		 “</a:t>
            </a:r>
            <a:r>
              <a:rPr lang="en-IE" altLang="en-US" sz="2400" b="1" dirty="0"/>
              <a:t>Vagueness: an exercise in logical analysis”. </a:t>
            </a:r>
          </a:p>
          <a:p>
            <a:pPr>
              <a:lnSpc>
                <a:spcPct val="90000"/>
              </a:lnSpc>
            </a:pPr>
            <a:r>
              <a:rPr lang="en-IE" altLang="en-US" sz="2400" dirty="0"/>
              <a:t>In this paper, he argued that a continuum implies degrees. </a:t>
            </a:r>
          </a:p>
          <a:p>
            <a:pPr>
              <a:lnSpc>
                <a:spcPct val="90000"/>
              </a:lnSpc>
            </a:pPr>
            <a:r>
              <a:rPr lang="en-IE" altLang="en-US" sz="2400" dirty="0"/>
              <a:t>Imagine, he said, a line of countless “chairs”. At one end is a Chippendale. Next to it is a near-Chippendale which is indistinguishable from the first chair. </a:t>
            </a:r>
          </a:p>
          <a:p>
            <a:pPr>
              <a:lnSpc>
                <a:spcPct val="90000"/>
              </a:lnSpc>
            </a:pPr>
            <a:r>
              <a:rPr lang="en-IE" altLang="en-US" sz="2400" dirty="0"/>
              <a:t>Succeeding “chairs” are less and less chair-like, until the line ends with a log. </a:t>
            </a:r>
          </a:p>
          <a:p>
            <a:pPr>
              <a:lnSpc>
                <a:spcPct val="90000"/>
              </a:lnSpc>
            </a:pPr>
            <a:r>
              <a:rPr lang="en-IE" altLang="en-US" sz="2400" dirty="0"/>
              <a:t>When does a chair become a log?</a:t>
            </a:r>
          </a:p>
          <a:p>
            <a:pPr>
              <a:lnSpc>
                <a:spcPct val="90000"/>
              </a:lnSpc>
            </a:pPr>
            <a:r>
              <a:rPr lang="en-IE" altLang="en-US" sz="2400" dirty="0"/>
              <a:t>He stated that if a continuum is discrete, a number can be allocated to each element. </a:t>
            </a:r>
          </a:p>
          <a:p>
            <a:pPr>
              <a:lnSpc>
                <a:spcPct val="90000"/>
              </a:lnSpc>
            </a:pPr>
            <a:r>
              <a:rPr lang="en-IE" altLang="en-US" sz="2400" dirty="0"/>
              <a:t>He accepted vagueness as a matter of probability.</a:t>
            </a:r>
            <a:endParaRPr lang="en-GB" altLang="en-US" sz="2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4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017789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Fuzzy Logic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E" altLang="en-US" sz="2800" dirty="0"/>
              <a:t>In 1965 </a:t>
            </a:r>
            <a:r>
              <a:rPr lang="en-IE" altLang="en-US" sz="2800" b="1" dirty="0" err="1"/>
              <a:t>Lotfi</a:t>
            </a:r>
            <a:r>
              <a:rPr lang="en-IE" altLang="en-US" sz="2800" b="1" dirty="0"/>
              <a:t> </a:t>
            </a:r>
            <a:r>
              <a:rPr lang="en-IE" altLang="en-US" sz="2800" b="1" dirty="0" err="1"/>
              <a:t>Zadeh</a:t>
            </a:r>
            <a:r>
              <a:rPr lang="en-IE" altLang="en-US" sz="2800" dirty="0"/>
              <a:t>, published his famous paper “Fuzzy sets”. </a:t>
            </a:r>
          </a:p>
          <a:p>
            <a:pPr>
              <a:lnSpc>
                <a:spcPct val="90000"/>
              </a:lnSpc>
            </a:pPr>
            <a:r>
              <a:rPr lang="en-IE" altLang="en-US" sz="2800" dirty="0"/>
              <a:t>He extended earlier work on possibility theory into a formal system of mathematical logic, and introduced a new concept for applying natural language terms. </a:t>
            </a:r>
          </a:p>
          <a:p>
            <a:pPr>
              <a:lnSpc>
                <a:spcPct val="90000"/>
              </a:lnSpc>
            </a:pPr>
            <a:r>
              <a:rPr lang="en-IE" altLang="en-US" sz="2800" dirty="0"/>
              <a:t>This new logic for representing and manipulating fuzzy terms was called </a:t>
            </a:r>
            <a:r>
              <a:rPr lang="en-IE" altLang="en-US" sz="2800" b="1" dirty="0"/>
              <a:t>fuzzy logic</a:t>
            </a:r>
            <a:r>
              <a:rPr lang="en-IE" altLang="en-US" sz="2800" dirty="0"/>
              <a:t>.</a:t>
            </a:r>
          </a:p>
          <a:p>
            <a:pPr>
              <a:lnSpc>
                <a:spcPct val="90000"/>
              </a:lnSpc>
            </a:pPr>
            <a:r>
              <a:rPr lang="en-IE" altLang="en-US" sz="2800" dirty="0"/>
              <a:t>Fuzzy logic is a set of mathematical principles for </a:t>
            </a:r>
            <a:r>
              <a:rPr lang="en-IE" altLang="en-US" sz="2800" b="1" dirty="0"/>
              <a:t>knowledge representation </a:t>
            </a:r>
            <a:r>
              <a:rPr lang="en-IE" altLang="en-US" sz="2800" dirty="0"/>
              <a:t>based on degrees of membership.</a:t>
            </a:r>
          </a:p>
          <a:p>
            <a:pPr>
              <a:lnSpc>
                <a:spcPct val="90000"/>
              </a:lnSpc>
            </a:pPr>
            <a:endParaRPr lang="en-GB" altLang="en-US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5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017789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boolean-membership">
            <a:extLst>
              <a:ext uri="{FF2B5EF4-FFF2-40B4-BE49-F238E27FC236}">
                <a16:creationId xmlns:a16="http://schemas.microsoft.com/office/drawing/2014/main" id="{B9793C65-D689-4960-B787-5105FA5F5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492896"/>
            <a:ext cx="4330824" cy="2159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Boolean Logic</a:t>
            </a:r>
          </a:p>
        </p:txBody>
      </p:sp>
      <p:sp>
        <p:nvSpPr>
          <p:cNvPr id="1843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7427168" cy="53276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altLang="en-US" sz="2400" dirty="0"/>
              <a:t>Standard Boolean Logic has only two states</a:t>
            </a:r>
          </a:p>
          <a:p>
            <a:pPr lvl="1">
              <a:lnSpc>
                <a:spcPct val="90000"/>
              </a:lnSpc>
            </a:pPr>
            <a:r>
              <a:rPr lang="en-GB" altLang="en-US" sz="2000" dirty="0"/>
              <a:t>True</a:t>
            </a:r>
          </a:p>
          <a:p>
            <a:pPr lvl="1">
              <a:lnSpc>
                <a:spcPct val="90000"/>
              </a:lnSpc>
            </a:pPr>
            <a:r>
              <a:rPr lang="en-GB" altLang="en-US" sz="2000" dirty="0"/>
              <a:t>False</a:t>
            </a:r>
          </a:p>
          <a:p>
            <a:pPr>
              <a:lnSpc>
                <a:spcPct val="90000"/>
              </a:lnSpc>
            </a:pPr>
            <a:r>
              <a:rPr lang="en-GB" altLang="en-US" sz="2400" dirty="0"/>
              <a:t>This maps nicely to computers with binary logic gates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GB" altLang="en-US" sz="2000" dirty="0"/>
              <a:t>	0 - Off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GB" altLang="en-US" sz="2000" dirty="0"/>
              <a:t>	1 - On</a:t>
            </a:r>
          </a:p>
          <a:p>
            <a:pPr>
              <a:lnSpc>
                <a:spcPct val="90000"/>
              </a:lnSpc>
            </a:pPr>
            <a:endParaRPr lang="en-GB" altLang="en-US" sz="2400" dirty="0"/>
          </a:p>
          <a:p>
            <a:pPr>
              <a:lnSpc>
                <a:spcPct val="90000"/>
              </a:lnSpc>
            </a:pPr>
            <a:endParaRPr lang="en-GB" altLang="en-US" sz="2400" dirty="0"/>
          </a:p>
          <a:p>
            <a:pPr>
              <a:lnSpc>
                <a:spcPct val="90000"/>
              </a:lnSpc>
            </a:pPr>
            <a:endParaRPr lang="en-GB" altLang="en-US" sz="2400" dirty="0"/>
          </a:p>
          <a:p>
            <a:pPr>
              <a:lnSpc>
                <a:spcPct val="90000"/>
              </a:lnSpc>
            </a:pPr>
            <a:r>
              <a:rPr lang="en-GB" altLang="en-US" sz="2400" dirty="0"/>
              <a:t>But it is not how people think</a:t>
            </a:r>
          </a:p>
          <a:p>
            <a:pPr lvl="1">
              <a:lnSpc>
                <a:spcPct val="90000"/>
              </a:lnSpc>
            </a:pPr>
            <a:r>
              <a:rPr lang="en-GB" altLang="en-US" sz="2000" dirty="0"/>
              <a:t>We are not digital</a:t>
            </a:r>
          </a:p>
          <a:p>
            <a:pPr>
              <a:lnSpc>
                <a:spcPct val="90000"/>
              </a:lnSpc>
            </a:pPr>
            <a:r>
              <a:rPr lang="en-IE" altLang="en-US" sz="2400" dirty="0"/>
              <a:t>Fuzzy logic reflects how people think. It attempts to model our sense of words, our decision making and our common sense. </a:t>
            </a:r>
            <a:endParaRPr lang="en-GB" alt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6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01778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4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43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Fuzzy Logic</a:t>
            </a:r>
          </a:p>
        </p:txBody>
      </p:sp>
      <p:sp>
        <p:nvSpPr>
          <p:cNvPr id="409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sz="2800" dirty="0"/>
              <a:t>People make smooth continuous distinctions between different states</a:t>
            </a:r>
          </a:p>
          <a:p>
            <a:r>
              <a:rPr lang="en-GB" altLang="en-US" sz="2800" dirty="0"/>
              <a:t>We recognise an almost infinite number of states</a:t>
            </a:r>
          </a:p>
          <a:p>
            <a:pPr lvl="1"/>
            <a:r>
              <a:rPr lang="en-GB" altLang="en-US" sz="2400" dirty="0"/>
              <a:t>I am cold / quite cold/ very cold / hellishly cold / f***</a:t>
            </a:r>
            <a:r>
              <a:rPr lang="en-GB" altLang="en-US" sz="2400" dirty="0" err="1"/>
              <a:t>ing</a:t>
            </a:r>
            <a:r>
              <a:rPr lang="en-GB" altLang="en-US" sz="2400" dirty="0"/>
              <a:t> freezing</a:t>
            </a:r>
          </a:p>
          <a:p>
            <a:r>
              <a:rPr lang="en-GB" altLang="en-US" sz="2800" dirty="0"/>
              <a:t>In gaming we want our bots to appear “lifelike”</a:t>
            </a:r>
          </a:p>
          <a:p>
            <a:pPr lvl="1"/>
            <a:r>
              <a:rPr lang="en-GB" altLang="en-US" sz="2400" dirty="0"/>
              <a:t>Analogue not digital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7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266680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Fuzzy Logic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363272" cy="5000625"/>
          </a:xfrm>
        </p:spPr>
        <p:txBody>
          <a:bodyPr/>
          <a:lstStyle/>
          <a:p>
            <a:r>
              <a:rPr lang="en-GB" altLang="en-US" sz="2800" dirty="0"/>
              <a:t>“Fuzzy logic is a way of presenting problems to a computer akin to the way humans perceive/solve them”</a:t>
            </a:r>
          </a:p>
          <a:p>
            <a:r>
              <a:rPr lang="en-GB" altLang="en-US" sz="2800" dirty="0"/>
              <a:t>In fuzzy logic everything is a matter of degree</a:t>
            </a:r>
          </a:p>
          <a:p>
            <a:r>
              <a:rPr lang="en-GB" altLang="en-US" sz="2800" dirty="0"/>
              <a:t>In the real world we use fuzzy logic to interpret rules that are used for:</a:t>
            </a:r>
          </a:p>
          <a:p>
            <a:pPr lvl="1"/>
            <a:r>
              <a:rPr lang="en-GB" altLang="en-US" sz="2400" dirty="0"/>
              <a:t>Control</a:t>
            </a:r>
          </a:p>
          <a:p>
            <a:pPr lvl="2"/>
            <a:r>
              <a:rPr lang="en-GB" altLang="en-US" sz="2000" dirty="0"/>
              <a:t>Trains</a:t>
            </a:r>
          </a:p>
          <a:p>
            <a:pPr lvl="2"/>
            <a:r>
              <a:rPr lang="en-GB" altLang="en-US" sz="2000" dirty="0"/>
              <a:t>Air conditioning</a:t>
            </a:r>
          </a:p>
          <a:p>
            <a:pPr lvl="2"/>
            <a:r>
              <a:rPr lang="en-GB" altLang="en-US" sz="2000" dirty="0"/>
              <a:t>Heating systems</a:t>
            </a:r>
          </a:p>
          <a:p>
            <a:pPr lvl="2"/>
            <a:r>
              <a:rPr lang="en-GB" altLang="en-US" sz="2000" dirty="0"/>
              <a:t>Robots</a:t>
            </a:r>
          </a:p>
          <a:p>
            <a:pPr lvl="2"/>
            <a:r>
              <a:rPr lang="en-GB" altLang="en-US" sz="2000" dirty="0"/>
              <a:t>Video Games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8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765744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Fuzzy Logic in Games</a:t>
            </a:r>
            <a:endParaRPr lang="en-GB" altLang="en-US" sz="3600" b="1" dirty="0">
              <a:solidFill>
                <a:schemeClr val="accent5">
                  <a:lumMod val="75000"/>
                </a:schemeClr>
              </a:solidFill>
              <a:ea typeface="Calibri" pitchFamily="34" charset="0"/>
              <a:cs typeface="Calibri" pitchFamily="34" charset="0"/>
            </a:endParaRPr>
          </a:p>
        </p:txBody>
      </p:sp>
      <p:sp>
        <p:nvSpPr>
          <p:cNvPr id="614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GB" altLang="en-US" dirty="0"/>
              <a:t>Threat assessment</a:t>
            </a:r>
          </a:p>
          <a:p>
            <a:pPr lvl="2"/>
            <a:r>
              <a:rPr lang="en-GB" altLang="en-US" dirty="0"/>
              <a:t>Enemy force considered on a threat scale</a:t>
            </a:r>
          </a:p>
          <a:p>
            <a:pPr lvl="3"/>
            <a:r>
              <a:rPr lang="en-GB" altLang="en-US" dirty="0"/>
              <a:t>Allow defensive response to be more smooth and less predictable</a:t>
            </a:r>
          </a:p>
          <a:p>
            <a:pPr lvl="1"/>
            <a:endParaRPr lang="en-GB" altLang="en-US" dirty="0"/>
          </a:p>
          <a:p>
            <a:pPr lvl="1"/>
            <a:r>
              <a:rPr lang="en-GB" altLang="en-US" dirty="0"/>
              <a:t>Classification</a:t>
            </a:r>
          </a:p>
          <a:p>
            <a:pPr lvl="2"/>
            <a:r>
              <a:rPr lang="en-GB" altLang="en-US" dirty="0"/>
              <a:t>Ranking player and NPCs in terms of combat ability</a:t>
            </a:r>
          </a:p>
          <a:p>
            <a:pPr lvl="3"/>
            <a:r>
              <a:rPr lang="en-GB" altLang="en-US" dirty="0"/>
              <a:t>Weighing up strength, weapon proficiency, number of kills, armour class etc.</a:t>
            </a:r>
          </a:p>
          <a:p>
            <a:pPr lvl="2"/>
            <a:endParaRPr lang="en-GB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9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1048365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Overview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dirty="0"/>
              <a:t>There are three steps in fuzzy inference:</a:t>
            </a:r>
          </a:p>
          <a:p>
            <a:pPr marL="1524000" indent="-442913">
              <a:lnSpc>
                <a:spcPct val="90000"/>
              </a:lnSpc>
              <a:buFont typeface="+mj-lt"/>
              <a:buAutoNum type="arabicPeriod"/>
            </a:pPr>
            <a:r>
              <a:rPr lang="en-GB" altLang="en-US" dirty="0"/>
              <a:t>Fuzzification</a:t>
            </a:r>
          </a:p>
          <a:p>
            <a:pPr marL="1766888" lvl="2">
              <a:lnSpc>
                <a:spcPct val="90000"/>
              </a:lnSpc>
            </a:pPr>
            <a:r>
              <a:rPr lang="en-GB" altLang="en-US" dirty="0"/>
              <a:t>Crisp input </a:t>
            </a:r>
            <a:r>
              <a:rPr lang="en-GB" altLang="en-US" dirty="0">
                <a:sym typeface="Wingdings" panose="05000000000000000000" pitchFamily="2" charset="2"/>
              </a:rPr>
              <a:t> Fuzzy Input</a:t>
            </a:r>
          </a:p>
          <a:p>
            <a:pPr marL="1524000" indent="-442913">
              <a:lnSpc>
                <a:spcPct val="90000"/>
              </a:lnSpc>
              <a:buFont typeface="+mj-lt"/>
              <a:buAutoNum type="arabicPeriod"/>
            </a:pPr>
            <a:r>
              <a:rPr lang="en-GB" altLang="en-US" dirty="0"/>
              <a:t>Fuzzy Rule Application</a:t>
            </a:r>
          </a:p>
          <a:p>
            <a:pPr marL="1766888" lvl="2">
              <a:lnSpc>
                <a:spcPct val="90000"/>
              </a:lnSpc>
            </a:pPr>
            <a:r>
              <a:rPr lang="en-GB" altLang="en-US" dirty="0"/>
              <a:t>Fuzzy input </a:t>
            </a:r>
            <a:r>
              <a:rPr lang="en-GB" altLang="en-US" dirty="0">
                <a:sym typeface="Wingdings" panose="05000000000000000000" pitchFamily="2" charset="2"/>
              </a:rPr>
              <a:t> Fuzzy output</a:t>
            </a:r>
          </a:p>
          <a:p>
            <a:pPr marL="2174875" lvl="3" indent="-346075">
              <a:lnSpc>
                <a:spcPct val="90000"/>
              </a:lnSpc>
            </a:pPr>
            <a:r>
              <a:rPr lang="en-GB" altLang="en-US" sz="2400" dirty="0"/>
              <a:t>Via fuzzy rules</a:t>
            </a:r>
          </a:p>
          <a:p>
            <a:pPr marL="1524000" indent="-442913">
              <a:lnSpc>
                <a:spcPct val="90000"/>
              </a:lnSpc>
              <a:buFont typeface="+mj-lt"/>
              <a:buAutoNum type="arabicPeriod"/>
            </a:pPr>
            <a:r>
              <a:rPr lang="en-GB" altLang="en-US" dirty="0" err="1"/>
              <a:t>Defuzzification</a:t>
            </a:r>
            <a:endParaRPr lang="en-GB" altLang="en-US" dirty="0"/>
          </a:p>
          <a:p>
            <a:pPr marL="1766888" lvl="2">
              <a:lnSpc>
                <a:spcPct val="90000"/>
              </a:lnSpc>
            </a:pPr>
            <a:r>
              <a:rPr lang="en-GB" altLang="en-US" dirty="0"/>
              <a:t>Fuzzy output </a:t>
            </a:r>
            <a:r>
              <a:rPr lang="en-GB" altLang="en-US" dirty="0">
                <a:sym typeface="Wingdings" panose="05000000000000000000" pitchFamily="2" charset="2"/>
              </a:rPr>
              <a:t> Crisp output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10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266722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1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Overview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11</a:t>
            </a:fld>
            <a:endParaRPr lang="en-IE" dirty="0"/>
          </a:p>
        </p:txBody>
      </p:sp>
      <p:pic>
        <p:nvPicPr>
          <p:cNvPr id="13314" name="Picture 2" descr="Fuzzy Logic Syste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79761"/>
            <a:ext cx="8856984" cy="4743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19661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Overview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sz="2800" dirty="0"/>
              <a:t>How do we define fuzzy input?</a:t>
            </a:r>
          </a:p>
          <a:p>
            <a:pPr lvl="1"/>
            <a:r>
              <a:rPr lang="en-GB" altLang="en-US" sz="2400" dirty="0"/>
              <a:t>Or fuzzy anything?</a:t>
            </a:r>
          </a:p>
          <a:p>
            <a:r>
              <a:rPr lang="en-GB" altLang="en-US" sz="2800" dirty="0"/>
              <a:t>It all begins with sets!</a:t>
            </a:r>
          </a:p>
          <a:p>
            <a:pPr lvl="1"/>
            <a:r>
              <a:rPr lang="en-GB" altLang="en-US" sz="2400" dirty="0"/>
              <a:t>In </a:t>
            </a:r>
            <a:r>
              <a:rPr lang="en-GB" altLang="en-US" sz="2400" dirty="0" err="1"/>
              <a:t>boolean</a:t>
            </a:r>
            <a:r>
              <a:rPr lang="en-GB" altLang="en-US" sz="2400" dirty="0"/>
              <a:t> logic either you are in a set or you are not</a:t>
            </a:r>
          </a:p>
          <a:p>
            <a:pPr lvl="1"/>
            <a:r>
              <a:rPr lang="en-GB" altLang="en-US" sz="2400" dirty="0"/>
              <a:t>In fuzzy logic you are in a set to a certain degree</a:t>
            </a:r>
          </a:p>
          <a:p>
            <a:pPr marL="914400" lvl="2" indent="0">
              <a:buNone/>
            </a:pPr>
            <a:r>
              <a:rPr lang="en-GB" altLang="en-US" dirty="0"/>
              <a:t>0 </a:t>
            </a:r>
            <a:r>
              <a:rPr lang="en-GB" altLang="en-US" dirty="0">
                <a:sym typeface="Wingdings" panose="05000000000000000000" pitchFamily="2" charset="2"/>
              </a:rPr>
              <a:t> not in set</a:t>
            </a:r>
          </a:p>
          <a:p>
            <a:pPr marL="914400" lvl="2" indent="0">
              <a:buNone/>
            </a:pPr>
            <a:r>
              <a:rPr lang="en-GB" altLang="en-US" dirty="0">
                <a:sym typeface="Wingdings" panose="05000000000000000000" pitchFamily="2" charset="2"/>
              </a:rPr>
              <a:t>1  definitely in set</a:t>
            </a:r>
          </a:p>
          <a:p>
            <a:pPr marL="914400" lvl="2" indent="0">
              <a:buNone/>
            </a:pPr>
            <a:r>
              <a:rPr lang="en-GB" altLang="en-US" dirty="0">
                <a:sym typeface="Wingdings" panose="05000000000000000000" pitchFamily="2" charset="2"/>
              </a:rPr>
              <a:t>0.5  half in/half out</a:t>
            </a:r>
          </a:p>
          <a:p>
            <a:pPr marL="914400" lvl="2" indent="0">
              <a:buNone/>
            </a:pPr>
            <a:r>
              <a:rPr lang="en-GB" altLang="en-US" dirty="0"/>
              <a:t>etc.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12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962734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1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1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7" name="Picture 5" descr="fuzzy1"/>
          <p:cNvPicPr>
            <a:picLocks noGrp="1" noChangeAspect="1" noChangeArrowheads="1"/>
          </p:cNvPicPr>
          <p:nvPr>
            <p:ph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58888" y="1556792"/>
            <a:ext cx="6858000" cy="4286250"/>
          </a:xfrm>
          <a:noFill/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88424" y="6275388"/>
            <a:ext cx="587375" cy="488950"/>
          </a:xfrm>
        </p:spPr>
        <p:txBody>
          <a:bodyPr/>
          <a:lstStyle/>
          <a:p>
            <a:fld id="{A1F09A23-DA18-489E-AEBB-D239B3A209C7}" type="slidenum">
              <a:rPr lang="en-US" altLang="en-US" smtClean="0"/>
              <a:pPr/>
              <a:t>13</a:t>
            </a:fld>
            <a:endParaRPr lang="en-US" altLang="en-US" dirty="0"/>
          </a:p>
        </p:txBody>
      </p:sp>
      <p:sp>
        <p:nvSpPr>
          <p:cNvPr id="5" name="AutoShape 2"/>
          <p:cNvSpPr txBox="1">
            <a:spLocks noChangeArrowheads="1"/>
          </p:cNvSpPr>
          <p:nvPr/>
        </p:nvSpPr>
        <p:spPr bwMode="auto">
          <a:xfrm>
            <a:off x="457200" y="346646"/>
            <a:ext cx="7067550" cy="778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Fuzzy Set Membership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031AF0-B4A9-4F72-AB43-A946F52E38A6}"/>
              </a:ext>
            </a:extLst>
          </p:cNvPr>
          <p:cNvSpPr txBox="1"/>
          <p:nvPr/>
        </p:nvSpPr>
        <p:spPr>
          <a:xfrm>
            <a:off x="1115616" y="1412776"/>
            <a:ext cx="739215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800" dirty="0">
                <a:latin typeface="+mn-lt"/>
              </a:rPr>
              <a:t>The Forward Grade membership function</a:t>
            </a:r>
          </a:p>
          <a:p>
            <a:r>
              <a:rPr lang="en-IE" sz="2800" dirty="0">
                <a:latin typeface="+mn-lt"/>
              </a:rPr>
              <a:t>(also know as S-function or Ramp-down function)</a:t>
            </a:r>
          </a:p>
        </p:txBody>
      </p:sp>
    </p:spTree>
    <p:extLst>
      <p:ext uri="{BB962C8B-B14F-4D97-AF65-F5344CB8AC3E}">
        <p14:creationId xmlns:p14="http://schemas.microsoft.com/office/powerpoint/2010/main" val="439908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Fuzzy Set Membership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sz="2800" dirty="0"/>
              <a:t>Our set membership function returns a value between 0 and 1</a:t>
            </a:r>
          </a:p>
          <a:p>
            <a:endParaRPr lang="en-GB" altLang="en-US" sz="2800" dirty="0"/>
          </a:p>
          <a:p>
            <a:r>
              <a:rPr lang="en-GB" altLang="en-US" sz="2800" dirty="0"/>
              <a:t>Membership function F(x)=</a:t>
            </a:r>
          </a:p>
          <a:p>
            <a:pPr marL="457200" lvl="1" indent="0">
              <a:buNone/>
            </a:pPr>
            <a:r>
              <a:rPr lang="en-GB" altLang="en-US" sz="2400" dirty="0"/>
              <a:t>	0 if x &lt;= x0</a:t>
            </a:r>
          </a:p>
          <a:p>
            <a:pPr marL="457200" lvl="1" indent="0">
              <a:buNone/>
            </a:pPr>
            <a:r>
              <a:rPr lang="en-GB" altLang="en-US" sz="2400" dirty="0"/>
              <a:t>	1 if x &gt;= x1</a:t>
            </a:r>
          </a:p>
          <a:p>
            <a:pPr marL="457200" lvl="1" indent="0">
              <a:buNone/>
            </a:pPr>
            <a:r>
              <a:rPr lang="en-GB" altLang="en-US" sz="2400" dirty="0"/>
              <a:t>	(x - x0) / (x1 - x0) if x0 &lt; x &lt; x1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14</a:t>
            </a:fld>
            <a:endParaRPr lang="en-IE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432246" y="4200823"/>
            <a:ext cx="3006371" cy="1964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061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Fuzzy Set Membership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altLang="en-US" sz="2800" dirty="0"/>
              <a:t>F(X) can take different shapes</a:t>
            </a:r>
          </a:p>
          <a:p>
            <a:pPr marL="0" indent="0">
              <a:buNone/>
            </a:pPr>
            <a:r>
              <a:rPr lang="en-GB" altLang="en-US" sz="2800" dirty="0"/>
              <a:t>and we can define functions for them all:</a:t>
            </a:r>
          </a:p>
          <a:p>
            <a:r>
              <a:rPr lang="en-GB" altLang="en-US" sz="2800" dirty="0"/>
              <a:t>F(x) =</a:t>
            </a:r>
          </a:p>
          <a:p>
            <a:pPr marL="457200" lvl="1" indent="0">
              <a:buNone/>
            </a:pPr>
            <a:r>
              <a:rPr lang="en-GB" altLang="en-US" dirty="0"/>
              <a:t>	1 if x &lt;= x0</a:t>
            </a:r>
          </a:p>
          <a:p>
            <a:pPr marL="457200" lvl="1" indent="0">
              <a:buNone/>
            </a:pPr>
            <a:r>
              <a:rPr lang="en-GB" altLang="en-US" dirty="0"/>
              <a:t>	0 if x &gt;= x1</a:t>
            </a:r>
          </a:p>
          <a:p>
            <a:pPr marL="457200" lvl="1" indent="0">
              <a:buNone/>
            </a:pPr>
            <a:r>
              <a:rPr lang="en-GB" altLang="en-US" dirty="0"/>
              <a:t>	 1 – ( (x - x0) / (x1 - x0) ) if x0 &lt; x &lt; x1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15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548150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388424" y="6275388"/>
            <a:ext cx="587375" cy="488950"/>
          </a:xfrm>
        </p:spPr>
        <p:txBody>
          <a:bodyPr/>
          <a:lstStyle/>
          <a:p>
            <a:fld id="{A1F09A23-DA18-489E-AEBB-D239B3A209C7}" type="slidenum">
              <a:rPr lang="en-US" altLang="en-US" smtClean="0"/>
              <a:pPr/>
              <a:t>16</a:t>
            </a:fld>
            <a:endParaRPr lang="en-US" altLang="en-US" dirty="0"/>
          </a:p>
        </p:txBody>
      </p:sp>
      <p:sp>
        <p:nvSpPr>
          <p:cNvPr id="5" name="AutoShape 2"/>
          <p:cNvSpPr txBox="1">
            <a:spLocks noChangeArrowheads="1"/>
          </p:cNvSpPr>
          <p:nvPr/>
        </p:nvSpPr>
        <p:spPr bwMode="auto">
          <a:xfrm>
            <a:off x="457200" y="346646"/>
            <a:ext cx="7067550" cy="778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Fuzzy Set Membership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031AF0-B4A9-4F72-AB43-A946F52E38A6}"/>
              </a:ext>
            </a:extLst>
          </p:cNvPr>
          <p:cNvSpPr txBox="1"/>
          <p:nvPr/>
        </p:nvSpPr>
        <p:spPr>
          <a:xfrm>
            <a:off x="848149" y="1401404"/>
            <a:ext cx="7189212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800" dirty="0">
                <a:latin typeface="+mn-lt"/>
              </a:rPr>
              <a:t>The Reverse Grade membership function</a:t>
            </a:r>
          </a:p>
          <a:p>
            <a:r>
              <a:rPr lang="en-IE" sz="2800" dirty="0">
                <a:latin typeface="+mn-lt"/>
              </a:rPr>
              <a:t>(also known as Z-grade or Ramp-down function)</a:t>
            </a:r>
          </a:p>
          <a:p>
            <a:endParaRPr lang="en-IE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43E9334-215C-45E6-913B-49965D4FD927}"/>
              </a:ext>
            </a:extLst>
          </p:cNvPr>
          <p:cNvCxnSpPr/>
          <p:nvPr/>
        </p:nvCxnSpPr>
        <p:spPr>
          <a:xfrm>
            <a:off x="2393758" y="2492896"/>
            <a:ext cx="0" cy="216024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B7306C-039B-4807-8849-0E0DC2474F1B}"/>
              </a:ext>
            </a:extLst>
          </p:cNvPr>
          <p:cNvCxnSpPr/>
          <p:nvPr/>
        </p:nvCxnSpPr>
        <p:spPr>
          <a:xfrm>
            <a:off x="2393758" y="4653136"/>
            <a:ext cx="43204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580FDAB-C471-4EB0-8BC8-EE2000A05D74}"/>
              </a:ext>
            </a:extLst>
          </p:cNvPr>
          <p:cNvCxnSpPr/>
          <p:nvPr/>
        </p:nvCxnSpPr>
        <p:spPr>
          <a:xfrm>
            <a:off x="2393758" y="2852936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E0B7DD0-29CF-474C-8D62-EE2C156BC448}"/>
              </a:ext>
            </a:extLst>
          </p:cNvPr>
          <p:cNvCxnSpPr>
            <a:cxnSpLocks/>
          </p:cNvCxnSpPr>
          <p:nvPr/>
        </p:nvCxnSpPr>
        <p:spPr>
          <a:xfrm>
            <a:off x="2249742" y="2708920"/>
            <a:ext cx="1800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6A8CD5A-2EFE-439E-B948-321D80FF0370}"/>
              </a:ext>
            </a:extLst>
          </p:cNvPr>
          <p:cNvSpPr txBox="1"/>
          <p:nvPr/>
        </p:nvSpPr>
        <p:spPr>
          <a:xfrm>
            <a:off x="2008844" y="443711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C1FC20-6284-429D-8252-A46ECFAEFE6F}"/>
              </a:ext>
            </a:extLst>
          </p:cNvPr>
          <p:cNvSpPr txBox="1"/>
          <p:nvPr/>
        </p:nvSpPr>
        <p:spPr>
          <a:xfrm>
            <a:off x="1985277" y="249289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1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31B136A-E78B-49D3-8BA8-0B5336063BFF}"/>
              </a:ext>
            </a:extLst>
          </p:cNvPr>
          <p:cNvCxnSpPr/>
          <p:nvPr/>
        </p:nvCxnSpPr>
        <p:spPr>
          <a:xfrm>
            <a:off x="3869922" y="2708920"/>
            <a:ext cx="1404156" cy="1944216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91FE3DA-E1E0-496F-A6C8-D8C6C12DB747}"/>
              </a:ext>
            </a:extLst>
          </p:cNvPr>
          <p:cNvCxnSpPr>
            <a:cxnSpLocks/>
          </p:cNvCxnSpPr>
          <p:nvPr/>
        </p:nvCxnSpPr>
        <p:spPr>
          <a:xfrm>
            <a:off x="5274078" y="4653136"/>
            <a:ext cx="1440160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9A51D41-D6FB-4F45-9E40-2C454C791E86}"/>
              </a:ext>
            </a:extLst>
          </p:cNvPr>
          <p:cNvSpPr txBox="1"/>
          <p:nvPr/>
        </p:nvSpPr>
        <p:spPr>
          <a:xfrm>
            <a:off x="3583148" y="4756502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X0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5D4FBE-1710-4E97-9D95-C3F98F16807A}"/>
              </a:ext>
            </a:extLst>
          </p:cNvPr>
          <p:cNvSpPr txBox="1"/>
          <p:nvPr/>
        </p:nvSpPr>
        <p:spPr>
          <a:xfrm>
            <a:off x="4969302" y="4725144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dirty="0"/>
              <a:t>X1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C8F9116-0202-4D76-967C-E6D369FAD47B}"/>
              </a:ext>
            </a:extLst>
          </p:cNvPr>
          <p:cNvCxnSpPr>
            <a:cxnSpLocks/>
          </p:cNvCxnSpPr>
          <p:nvPr/>
        </p:nvCxnSpPr>
        <p:spPr>
          <a:xfrm>
            <a:off x="2429762" y="2708919"/>
            <a:ext cx="1440160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547321B-2559-4A9B-9059-5BC0C31A3FA3}"/>
              </a:ext>
            </a:extLst>
          </p:cNvPr>
          <p:cNvCxnSpPr>
            <a:cxnSpLocks/>
          </p:cNvCxnSpPr>
          <p:nvPr/>
        </p:nvCxnSpPr>
        <p:spPr>
          <a:xfrm flipH="1">
            <a:off x="3869921" y="2708919"/>
            <a:ext cx="1" cy="1944216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2883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Fuzzy Set Membership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/>
              <a:t>F(X) =</a:t>
            </a:r>
          </a:p>
          <a:p>
            <a:pPr marL="457200" lvl="1" indent="0">
              <a:buNone/>
            </a:pPr>
            <a:r>
              <a:rPr lang="en-GB" altLang="en-US" dirty="0"/>
              <a:t>0 if x &lt;= x0 OR x &gt;= x2</a:t>
            </a:r>
          </a:p>
          <a:p>
            <a:pPr marL="457200" lvl="1" indent="0">
              <a:buNone/>
            </a:pPr>
            <a:r>
              <a:rPr lang="en-GB" altLang="en-US" dirty="0"/>
              <a:t>1 if x = x1</a:t>
            </a:r>
          </a:p>
          <a:p>
            <a:pPr marL="457200" lvl="1" indent="0">
              <a:buNone/>
            </a:pPr>
            <a:r>
              <a:rPr lang="en-GB" altLang="en-US" dirty="0"/>
              <a:t>(x - x0) / (x1 - x0) if x0 &lt; x &lt; x1</a:t>
            </a:r>
          </a:p>
          <a:p>
            <a:pPr marL="457200" lvl="1" indent="0">
              <a:buNone/>
            </a:pPr>
            <a:r>
              <a:rPr lang="en-GB" altLang="en-US" dirty="0"/>
              <a:t>(x2 - x) / (x2 - x1) if x1 &lt; x &lt; x2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17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240022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9" name="Picture 5" descr="fuzzy2"/>
          <p:cNvPicPr>
            <a:picLocks noGrp="1" noChangeAspect="1" noChangeArrowheads="1"/>
          </p:cNvPicPr>
          <p:nvPr>
            <p:ph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43000" y="1556792"/>
            <a:ext cx="6858000" cy="4286250"/>
          </a:xfrm>
          <a:noFill/>
        </p:spPr>
      </p:pic>
      <p:sp>
        <p:nvSpPr>
          <p:cNvPr id="4" name="AutoShape 2"/>
          <p:cNvSpPr txBox="1">
            <a:spLocks noChangeArrowheads="1"/>
          </p:cNvSpPr>
          <p:nvPr/>
        </p:nvSpPr>
        <p:spPr bwMode="auto">
          <a:xfrm>
            <a:off x="457200" y="346646"/>
            <a:ext cx="7067550" cy="778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Fuzzy Set Membership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09A23-DA18-489E-AEBB-D239B3A209C7}" type="slidenum">
              <a:rPr lang="en-US" altLang="en-US" smtClean="0"/>
              <a:pPr/>
              <a:t>18</a:t>
            </a:fld>
            <a:endParaRPr lang="en-US" alt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143000" y="1375693"/>
            <a:ext cx="5904656" cy="36219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GB" altLang="en-US" sz="2800"/>
              <a:t>The Triangular </a:t>
            </a:r>
            <a:r>
              <a:rPr lang="en-GB" altLang="en-US" sz="2800" dirty="0"/>
              <a:t>membership function</a:t>
            </a:r>
          </a:p>
        </p:txBody>
      </p:sp>
    </p:spTree>
    <p:extLst>
      <p:ext uri="{BB962C8B-B14F-4D97-AF65-F5344CB8AC3E}">
        <p14:creationId xmlns:p14="http://schemas.microsoft.com/office/powerpoint/2010/main" val="41946913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Calibri" pitchFamily="34" charset="0"/>
                <a:cs typeface="Calibri" pitchFamily="34" charset="0"/>
              </a:rPr>
              <a:t>Fuzzy Set Membership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/>
              <a:t>F(X) =</a:t>
            </a:r>
          </a:p>
          <a:p>
            <a:pPr marL="457200" lvl="1" indent="0">
              <a:buNone/>
            </a:pPr>
            <a:r>
              <a:rPr lang="en-GB" altLang="en-US" dirty="0"/>
              <a:t>0  if x &lt;= x0 or x &gt;= x3</a:t>
            </a:r>
          </a:p>
          <a:p>
            <a:pPr marL="457200" lvl="1" indent="0">
              <a:buNone/>
            </a:pPr>
            <a:r>
              <a:rPr lang="en-GB" altLang="en-US" dirty="0"/>
              <a:t>1  if x1 &lt;= x &lt;= x2</a:t>
            </a:r>
          </a:p>
          <a:p>
            <a:pPr marL="457200" lvl="1" indent="0">
              <a:buNone/>
            </a:pPr>
            <a:r>
              <a:rPr lang="en-GB" altLang="en-US" dirty="0"/>
              <a:t>(x - x0) / (x1 - x0)  if x0 &lt; x &lt; x1</a:t>
            </a:r>
          </a:p>
          <a:p>
            <a:pPr marL="457200" lvl="1" indent="0">
              <a:buNone/>
            </a:pPr>
            <a:r>
              <a:rPr lang="en-GB" altLang="en-US" dirty="0"/>
              <a:t>(x3 - x) / (x3 - x2) if x2 &lt; x &lt; x3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19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5286461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/>
          <p:cNvSpPr txBox="1">
            <a:spLocks noChangeArrowheads="1"/>
          </p:cNvSpPr>
          <p:nvPr/>
        </p:nvSpPr>
        <p:spPr bwMode="auto">
          <a:xfrm>
            <a:off x="457200" y="346646"/>
            <a:ext cx="7067550" cy="778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Fuzzy Set Membership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09A23-DA18-489E-AEBB-D239B3A209C7}" type="slidenum">
              <a:rPr lang="en-US" altLang="en-US" smtClean="0"/>
              <a:pPr/>
              <a:t>20</a:t>
            </a:fld>
            <a:endParaRPr lang="en-US" altLang="en-US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779104" y="1482626"/>
            <a:ext cx="5585792" cy="36219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GB" altLang="en-US" sz="2800" dirty="0"/>
              <a:t>The trapezoid membership function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1971" y="2564904"/>
            <a:ext cx="3520058" cy="262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8354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Calibri" pitchFamily="34" charset="0"/>
                <a:cs typeface="Calibri" pitchFamily="34" charset="0"/>
              </a:rPr>
              <a:t>Fuzzy Set Membership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E" altLang="en-US" sz="2400" dirty="0"/>
              <a:t>At the root of fuzzy set theory lies the idea of </a:t>
            </a:r>
            <a:r>
              <a:rPr lang="en-IE" altLang="en-US" sz="2400" dirty="0">
                <a:solidFill>
                  <a:srgbClr val="FF0000"/>
                </a:solidFill>
              </a:rPr>
              <a:t>linguistic variables</a:t>
            </a:r>
            <a:r>
              <a:rPr lang="en-IE" altLang="en-US" sz="2400" dirty="0"/>
              <a:t>.</a:t>
            </a:r>
          </a:p>
          <a:p>
            <a:r>
              <a:rPr lang="en-IE" altLang="en-US" sz="2400" dirty="0"/>
              <a:t>A linguistic variable is a fuzzy variable. </a:t>
            </a:r>
          </a:p>
          <a:p>
            <a:r>
              <a:rPr lang="en-IE" altLang="en-US" sz="2400" dirty="0"/>
              <a:t>For example, the statement “John is tall” implies that the linguistic variable </a:t>
            </a:r>
            <a:r>
              <a:rPr lang="en-IE" altLang="en-US" sz="2400" b="1" dirty="0"/>
              <a:t>John</a:t>
            </a:r>
            <a:r>
              <a:rPr lang="en-IE" altLang="en-US" sz="2400" dirty="0"/>
              <a:t> takes the linguistic value </a:t>
            </a:r>
            <a:r>
              <a:rPr lang="en-IE" altLang="en-US" sz="2400" b="1" dirty="0"/>
              <a:t>tall</a:t>
            </a:r>
            <a:r>
              <a:rPr lang="en-IE" altLang="en-US" sz="2400" dirty="0"/>
              <a:t>.</a:t>
            </a:r>
          </a:p>
          <a:p>
            <a:endParaRPr lang="en-IE" altLang="en-US" sz="2400" dirty="0"/>
          </a:p>
          <a:p>
            <a:r>
              <a:rPr lang="en-IE" altLang="en-US" sz="2400" dirty="0"/>
              <a:t>What does tall mean to you?</a:t>
            </a:r>
          </a:p>
          <a:p>
            <a:endParaRPr lang="en-IE" alt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21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14945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Calibri" pitchFamily="34" charset="0"/>
                <a:cs typeface="Calibri" pitchFamily="34" charset="0"/>
              </a:rPr>
              <a:t>Fuzzy Set Membership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IE" altLang="en-US" sz="2400" dirty="0"/>
              <a:t>In fuzzy expert systems, linguistic variables are used in fuzzy rules. For example:</a:t>
            </a:r>
          </a:p>
          <a:p>
            <a:endParaRPr lang="en-IE" altLang="en-US" sz="2400" dirty="0"/>
          </a:p>
          <a:p>
            <a:pPr marL="1617663">
              <a:buNone/>
            </a:pPr>
            <a:r>
              <a:rPr lang="en-IE" altLang="en-US" sz="2400" dirty="0"/>
              <a:t>IF 			wind is strong</a:t>
            </a:r>
          </a:p>
          <a:p>
            <a:pPr marL="1617663">
              <a:buNone/>
            </a:pPr>
            <a:r>
              <a:rPr lang="en-IE" altLang="en-US" sz="2400" dirty="0"/>
              <a:t>THEN 	sailing is good</a:t>
            </a:r>
          </a:p>
          <a:p>
            <a:pPr marL="1617663">
              <a:buNone/>
            </a:pPr>
            <a:endParaRPr lang="en-IE" altLang="en-US" sz="2400" dirty="0"/>
          </a:p>
          <a:p>
            <a:pPr marL="1617663">
              <a:buNone/>
            </a:pPr>
            <a:r>
              <a:rPr lang="en-IE" altLang="en-US" sz="2400" dirty="0"/>
              <a:t>IF 			</a:t>
            </a:r>
            <a:r>
              <a:rPr lang="en-IE" altLang="en-US" sz="2400" dirty="0" err="1"/>
              <a:t>project_duration</a:t>
            </a:r>
            <a:r>
              <a:rPr lang="en-IE" altLang="en-US" sz="2400" dirty="0"/>
              <a:t> is long</a:t>
            </a:r>
          </a:p>
          <a:p>
            <a:pPr marL="1617663">
              <a:buNone/>
            </a:pPr>
            <a:r>
              <a:rPr lang="en-IE" altLang="en-US" sz="2400" dirty="0"/>
              <a:t>THEN 	</a:t>
            </a:r>
            <a:r>
              <a:rPr lang="en-IE" altLang="en-US" sz="2400" dirty="0" err="1"/>
              <a:t>completion_risk</a:t>
            </a:r>
            <a:r>
              <a:rPr lang="en-IE" altLang="en-US" sz="2400" dirty="0"/>
              <a:t> is high</a:t>
            </a:r>
          </a:p>
          <a:p>
            <a:pPr marL="1617663">
              <a:buNone/>
            </a:pPr>
            <a:endParaRPr lang="en-IE" altLang="en-US" sz="2400" dirty="0"/>
          </a:p>
          <a:p>
            <a:pPr marL="1617663">
              <a:buNone/>
            </a:pPr>
            <a:r>
              <a:rPr lang="en-IE" altLang="en-US" sz="2400" dirty="0"/>
              <a:t>IF 			speed is slow</a:t>
            </a:r>
          </a:p>
          <a:p>
            <a:pPr marL="1617663">
              <a:buNone/>
            </a:pPr>
            <a:r>
              <a:rPr lang="en-IE" altLang="en-US" sz="2400" dirty="0"/>
              <a:t>THEN 	</a:t>
            </a:r>
            <a:r>
              <a:rPr lang="en-IE" altLang="en-US" sz="2400" dirty="0" err="1"/>
              <a:t>stopping_distance</a:t>
            </a:r>
            <a:r>
              <a:rPr lang="en-IE" altLang="en-US" sz="2400" dirty="0"/>
              <a:t> is short</a:t>
            </a:r>
          </a:p>
          <a:p>
            <a:pPr marL="1617663">
              <a:buNone/>
            </a:pPr>
            <a:endParaRPr lang="en-IE" alt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22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149451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Calibri" pitchFamily="34" charset="0"/>
                <a:cs typeface="Calibri" pitchFamily="34" charset="0"/>
              </a:rPr>
              <a:t>Fuzzy Set Membership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sz="2000" dirty="0"/>
              <a:t>Consider trying to categorise someone’s weight</a:t>
            </a:r>
          </a:p>
          <a:p>
            <a:r>
              <a:rPr lang="en-GB" altLang="en-US" sz="2000" dirty="0"/>
              <a:t>If we set up our fuzzy sets as below and map their weight (dotted line below), then we can classify them as follows:</a:t>
            </a:r>
          </a:p>
          <a:p>
            <a:pPr lvl="1"/>
            <a:r>
              <a:rPr lang="en-GB" altLang="en-US" sz="1800" dirty="0"/>
              <a:t>Underweight to a degree 0</a:t>
            </a:r>
          </a:p>
          <a:p>
            <a:pPr lvl="1"/>
            <a:r>
              <a:rPr lang="en-GB" altLang="en-US" sz="1800" dirty="0"/>
              <a:t>Ideal to a degree .75</a:t>
            </a:r>
          </a:p>
          <a:p>
            <a:pPr lvl="1"/>
            <a:r>
              <a:rPr lang="en-GB" altLang="en-US" sz="1800" dirty="0"/>
              <a:t>Overweight to a degree .15</a:t>
            </a:r>
          </a:p>
          <a:p>
            <a:r>
              <a:rPr lang="en-GB" altLang="en-US" sz="2000" dirty="0"/>
              <a:t>We infer that their weight is substantially ideal (to a degree of 75%)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23</a:t>
            </a:fld>
            <a:endParaRPr lang="en-I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07954" y="3788643"/>
            <a:ext cx="6128092" cy="280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451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Calibri" pitchFamily="34" charset="0"/>
                <a:cs typeface="Calibri" pitchFamily="34" charset="0"/>
              </a:rPr>
              <a:t>Fuzzy Set Membership</a:t>
            </a: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sz="2800" dirty="0"/>
              <a:t>These are all easily coded and quick to compute</a:t>
            </a:r>
          </a:p>
          <a:p>
            <a:endParaRPr lang="en-GB" altLang="en-US" sz="2800" dirty="0"/>
          </a:p>
          <a:p>
            <a:r>
              <a:rPr lang="en-GB" altLang="en-US" sz="2800" dirty="0"/>
              <a:t>Some practitioners recommend using 7 fuzzy sets to fully define the working range of any input variable</a:t>
            </a:r>
          </a:p>
          <a:p>
            <a:pPr lvl="1"/>
            <a:r>
              <a:rPr lang="en-GB" altLang="en-US" sz="2400" dirty="0"/>
              <a:t>Far left, left, near left, centre, near right, right, far right</a:t>
            </a:r>
          </a:p>
          <a:p>
            <a:endParaRPr lang="en-GB" altLang="en-US" dirty="0"/>
          </a:p>
          <a:p>
            <a:r>
              <a:rPr lang="en-GB" altLang="en-US" sz="2800" dirty="0"/>
              <a:t>These categories can be anything, depending on your game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24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5307005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Calibri" pitchFamily="34" charset="0"/>
                <a:cs typeface="Calibri" pitchFamily="34" charset="0"/>
              </a:rPr>
              <a:t>Fuzzy Set Membership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25</a:t>
            </a:fld>
            <a:endParaRPr lang="en-IE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20823" y="2060849"/>
            <a:ext cx="7502355" cy="2736304"/>
          </a:xfrm>
          <a:prstGeom prst="rect">
            <a:avLst/>
          </a:prstGeom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442592" y="5480844"/>
            <a:ext cx="4258816" cy="36219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GB" altLang="en-US" sz="2000" dirty="0"/>
              <a:t>The seven fuzzy sets</a:t>
            </a:r>
          </a:p>
        </p:txBody>
      </p:sp>
    </p:spTree>
    <p:extLst>
      <p:ext uri="{BB962C8B-B14F-4D97-AF65-F5344CB8AC3E}">
        <p14:creationId xmlns:p14="http://schemas.microsoft.com/office/powerpoint/2010/main" val="4073690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Calibri" pitchFamily="34" charset="0"/>
                <a:cs typeface="Calibri" pitchFamily="34" charset="0"/>
              </a:rPr>
              <a:t>Fuzzy Set Membership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altLang="en-US" dirty="0"/>
              <a:t>Each set should overlap its neighbour by about 25%</a:t>
            </a:r>
          </a:p>
          <a:p>
            <a:pPr lvl="1"/>
            <a:r>
              <a:rPr lang="en-GB" altLang="en-US" dirty="0"/>
              <a:t>Rule of Thumb</a:t>
            </a:r>
          </a:p>
          <a:p>
            <a:r>
              <a:rPr lang="en-GB" altLang="en-US" dirty="0"/>
              <a:t>We could use other membership functions for greater accuracy or non-linearity</a:t>
            </a:r>
          </a:p>
          <a:p>
            <a:pPr lvl="1"/>
            <a:r>
              <a:rPr lang="en-IE" altLang="en-US" dirty="0"/>
              <a:t>Typical functions that can be used to represent a fuzzy set are </a:t>
            </a:r>
            <a:r>
              <a:rPr lang="en-IE" altLang="en-US" dirty="0" err="1"/>
              <a:t>gaussian</a:t>
            </a:r>
            <a:r>
              <a:rPr lang="en-IE" altLang="en-US" dirty="0"/>
              <a:t> , sigmoid, and PI (bell). </a:t>
            </a:r>
            <a:endParaRPr lang="en-GB" alt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26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2814705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Calibri" pitchFamily="34" charset="0"/>
                <a:cs typeface="Calibri" pitchFamily="34" charset="0"/>
              </a:rPr>
              <a:t>Fuzzy Set Membership</a:t>
            </a:r>
            <a:endParaRPr lang="en-US" altLang="en-US" sz="3600" b="1" dirty="0">
              <a:solidFill>
                <a:schemeClr val="accent5">
                  <a:lumMod val="75000"/>
                </a:schemeClr>
              </a:solidFill>
              <a:latin typeface="+mn-lt"/>
              <a:ea typeface="Calibri" pitchFamily="34" charset="0"/>
              <a:cs typeface="Calibri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27</a:t>
            </a:fld>
            <a:endParaRPr lang="en-IE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442592" y="5480844"/>
            <a:ext cx="4258816" cy="36219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GB" altLang="en-US" sz="2000" dirty="0"/>
              <a:t>A Gaussian member function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24225" y="1819275"/>
            <a:ext cx="4295551" cy="360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6478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Calibri" pitchFamily="34" charset="0"/>
                <a:cs typeface="Calibri" pitchFamily="34" charset="0"/>
              </a:rPr>
              <a:t>Fuzzy Set Membership</a:t>
            </a:r>
            <a:endParaRPr lang="en-US" altLang="en-US" sz="3600" b="1" dirty="0">
              <a:solidFill>
                <a:schemeClr val="accent5">
                  <a:lumMod val="75000"/>
                </a:schemeClr>
              </a:solidFill>
              <a:latin typeface="+mn-lt"/>
              <a:ea typeface="Calibri" pitchFamily="34" charset="0"/>
              <a:cs typeface="Calibri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28</a:t>
            </a:fld>
            <a:endParaRPr lang="en-IE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442592" y="5480844"/>
            <a:ext cx="4258816" cy="36219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GB" altLang="en-US" sz="2000" dirty="0"/>
              <a:t>A Sigmoidal member function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16224" y="1819274"/>
            <a:ext cx="4311552" cy="366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0525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Calibri" pitchFamily="34" charset="0"/>
                <a:cs typeface="Calibri" pitchFamily="34" charset="0"/>
              </a:rPr>
              <a:t>Fuzzy Set Membership</a:t>
            </a:r>
            <a:endParaRPr lang="en-US" altLang="en-US" sz="3600" b="1" dirty="0">
              <a:solidFill>
                <a:schemeClr val="accent5">
                  <a:lumMod val="75000"/>
                </a:schemeClr>
              </a:solidFill>
              <a:latin typeface="+mn-lt"/>
              <a:ea typeface="Calibri" pitchFamily="34" charset="0"/>
              <a:cs typeface="Calibri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29</a:t>
            </a:fld>
            <a:endParaRPr lang="en-IE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442592" y="5480844"/>
            <a:ext cx="4258816" cy="36219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GB" altLang="en-US" sz="2000" dirty="0"/>
              <a:t>A PI/Bell member function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736" y="1700808"/>
            <a:ext cx="5055975" cy="2800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920525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latin typeface="+mn-lt"/>
                <a:ea typeface="Calibri" pitchFamily="34" charset="0"/>
                <a:cs typeface="Calibri" pitchFamily="34" charset="0"/>
              </a:rPr>
              <a:t>Fuzzy Set Membership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GB" altLang="en-US" dirty="0"/>
              <a:t>Generally we do not need the extra accuracy</a:t>
            </a:r>
          </a:p>
          <a:p>
            <a:pPr lvl="1"/>
            <a:r>
              <a:rPr lang="en-IE" altLang="en-US"/>
              <a:t>These non-linear functions </a:t>
            </a:r>
            <a:r>
              <a:rPr lang="en-IE" altLang="en-US" dirty="0"/>
              <a:t>increase the time of computation. Therefore, in practice, most applications use linear fit functions.</a:t>
            </a:r>
          </a:p>
          <a:p>
            <a:pPr lvl="1"/>
            <a:r>
              <a:rPr lang="en-GB" altLang="en-US" dirty="0"/>
              <a:t>But see later (Artificial Neural Networks)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30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28147053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Stack of books design template</Template>
  <TotalTime>11946</TotalTime>
  <Words>1337</Words>
  <Application>Microsoft Office PowerPoint</Application>
  <PresentationFormat>On-screen Show (4:3)</PresentationFormat>
  <Paragraphs>217</Paragraphs>
  <Slides>30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Wingdings</vt:lpstr>
      <vt:lpstr>Custom Design</vt:lpstr>
      <vt:lpstr>1_Custom Design</vt:lpstr>
      <vt:lpstr>The AI Model</vt:lpstr>
      <vt:lpstr>Decision Making</vt:lpstr>
      <vt:lpstr>PowerPoint Presentation</vt:lpstr>
      <vt:lpstr>Vagueness</vt:lpstr>
      <vt:lpstr>Fuzzy Logic</vt:lpstr>
      <vt:lpstr>Boolean Logic</vt:lpstr>
      <vt:lpstr>Fuzzy Logic</vt:lpstr>
      <vt:lpstr>Fuzzy Logic</vt:lpstr>
      <vt:lpstr>Fuzzy Logic in Games</vt:lpstr>
      <vt:lpstr>Overview</vt:lpstr>
      <vt:lpstr>Overview</vt:lpstr>
      <vt:lpstr>Overview</vt:lpstr>
      <vt:lpstr>PowerPoint Presentation</vt:lpstr>
      <vt:lpstr>Fuzzy Set Membership</vt:lpstr>
      <vt:lpstr>Fuzzy Set Membership</vt:lpstr>
      <vt:lpstr>PowerPoint Presentation</vt:lpstr>
      <vt:lpstr>Fuzzy Set Membership</vt:lpstr>
      <vt:lpstr>PowerPoint Presentation</vt:lpstr>
      <vt:lpstr>Fuzzy Set Membership</vt:lpstr>
      <vt:lpstr>PowerPoint Presentation</vt:lpstr>
      <vt:lpstr>Fuzzy Set Membership</vt:lpstr>
      <vt:lpstr>Fuzzy Set Membership</vt:lpstr>
      <vt:lpstr>Fuzzy Set Membership</vt:lpstr>
      <vt:lpstr>Fuzzy Set Membership</vt:lpstr>
      <vt:lpstr>Fuzzy Set Membership</vt:lpstr>
      <vt:lpstr>Fuzzy Set Membership</vt:lpstr>
      <vt:lpstr>Fuzzy Set Membership</vt:lpstr>
      <vt:lpstr>Fuzzy Set Membership</vt:lpstr>
      <vt:lpstr>Fuzzy Set Membership</vt:lpstr>
      <vt:lpstr>Fuzzy Set Membership</vt:lpstr>
    </vt:vector>
  </TitlesOfParts>
  <Company>ModusLink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8086 chip set architecture course.</dc:title>
  <dc:creator>oisin_cawley</dc:creator>
  <cp:lastModifiedBy>Oisin Cawley</cp:lastModifiedBy>
  <cp:revision>1248</cp:revision>
  <dcterms:created xsi:type="dcterms:W3CDTF">2007-05-08T17:20:09Z</dcterms:created>
  <dcterms:modified xsi:type="dcterms:W3CDTF">2025-11-17T10:41:56Z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TC011594401033</vt:lpwstr>
  </property>
</Properties>
</file>