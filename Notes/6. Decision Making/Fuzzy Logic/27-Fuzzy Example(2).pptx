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  <p:sldMasterId id="2147483869" r:id="rId2"/>
  </p:sldMasterIdLst>
  <p:notesMasterIdLst>
    <p:notesMasterId r:id="rId21"/>
  </p:notesMasterIdLst>
  <p:sldIdLst>
    <p:sldId id="280" r:id="rId3"/>
    <p:sldId id="296" r:id="rId4"/>
    <p:sldId id="295" r:id="rId5"/>
    <p:sldId id="281" r:id="rId6"/>
    <p:sldId id="297" r:id="rId7"/>
    <p:sldId id="282" r:id="rId8"/>
    <p:sldId id="287" r:id="rId9"/>
    <p:sldId id="284" r:id="rId10"/>
    <p:sldId id="285" r:id="rId11"/>
    <p:sldId id="286" r:id="rId12"/>
    <p:sldId id="288" r:id="rId13"/>
    <p:sldId id="291" r:id="rId14"/>
    <p:sldId id="289" r:id="rId15"/>
    <p:sldId id="290" r:id="rId16"/>
    <p:sldId id="292" r:id="rId17"/>
    <p:sldId id="293" r:id="rId18"/>
    <p:sldId id="294" r:id="rId19"/>
    <p:sldId id="298" r:id="rId20"/>
  </p:sldIdLst>
  <p:sldSz cx="9144000" cy="6858000" type="screen4x3"/>
  <p:notesSz cx="6884988" cy="100885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EA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86" autoAdjust="0"/>
    <p:restoredTop sz="80571" autoAdjust="0"/>
  </p:normalViewPr>
  <p:slideViewPr>
    <p:cSldViewPr>
      <p:cViewPr varScale="1">
        <p:scale>
          <a:sx n="88" d="100"/>
          <a:sy n="88" d="100"/>
        </p:scale>
        <p:origin x="173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6/11/relationships/changesInfo" Target="changesInfos/changesInfo1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isin Cawley" userId="6b66d80f-e52a-4eb8-b588-9059f489afa4" providerId="ADAL" clId="{81B9B7C1-C7A7-4722-B529-8194BC0D9A51}"/>
  </pc:docChgLst>
  <pc:docChgLst>
    <pc:chgData name="Oisin Cawley" userId="6b66d80f-e52a-4eb8-b588-9059f489afa4" providerId="ADAL" clId="{FB5A23ED-E77F-4745-A1C2-4CD406941816}"/>
    <pc:docChg chg="addSld delSld modSld">
      <pc:chgData name="Oisin Cawley" userId="6b66d80f-e52a-4eb8-b588-9059f489afa4" providerId="ADAL" clId="{FB5A23ED-E77F-4745-A1C2-4CD406941816}" dt="2025-11-20T10:23:11.588" v="517" actId="20577"/>
      <pc:docMkLst>
        <pc:docMk/>
      </pc:docMkLst>
      <pc:sldChg chg="modSp modAnim">
        <pc:chgData name="Oisin Cawley" userId="6b66d80f-e52a-4eb8-b588-9059f489afa4" providerId="ADAL" clId="{FB5A23ED-E77F-4745-A1C2-4CD406941816}" dt="2025-11-20T10:23:11.588" v="517" actId="20577"/>
        <pc:sldMkLst>
          <pc:docMk/>
          <pc:sldMk cId="0" sldId="285"/>
        </pc:sldMkLst>
        <pc:spChg chg="mod">
          <ac:chgData name="Oisin Cawley" userId="6b66d80f-e52a-4eb8-b588-9059f489afa4" providerId="ADAL" clId="{FB5A23ED-E77F-4745-A1C2-4CD406941816}" dt="2025-11-20T10:23:11.588" v="517" actId="20577"/>
          <ac:spMkLst>
            <pc:docMk/>
            <pc:sldMk cId="0" sldId="285"/>
            <ac:spMk id="7170" creationId="{00000000-0000-0000-0000-000000000000}"/>
          </ac:spMkLst>
        </pc:spChg>
      </pc:sldChg>
      <pc:sldChg chg="modSp">
        <pc:chgData name="Oisin Cawley" userId="6b66d80f-e52a-4eb8-b588-9059f489afa4" providerId="ADAL" clId="{FB5A23ED-E77F-4745-A1C2-4CD406941816}" dt="2025-11-17T09:02:07.282" v="23" actId="113"/>
        <pc:sldMkLst>
          <pc:docMk/>
          <pc:sldMk cId="228499442" sldId="295"/>
        </pc:sldMkLst>
        <pc:spChg chg="mod">
          <ac:chgData name="Oisin Cawley" userId="6b66d80f-e52a-4eb8-b588-9059f489afa4" providerId="ADAL" clId="{FB5A23ED-E77F-4745-A1C2-4CD406941816}" dt="2025-11-17T09:02:07.282" v="23" actId="113"/>
          <ac:spMkLst>
            <pc:docMk/>
            <pc:sldMk cId="228499442" sldId="295"/>
            <ac:spMk id="2050" creationId="{00000000-0000-0000-0000-000000000000}"/>
          </ac:spMkLst>
        </pc:spChg>
      </pc:sldChg>
      <pc:sldChg chg="modSp add modAnim">
        <pc:chgData name="Oisin Cawley" userId="6b66d80f-e52a-4eb8-b588-9059f489afa4" providerId="ADAL" clId="{FB5A23ED-E77F-4745-A1C2-4CD406941816}" dt="2025-11-20T10:07:51.436" v="451" actId="179"/>
        <pc:sldMkLst>
          <pc:docMk/>
          <pc:sldMk cId="1159337599" sldId="298"/>
        </pc:sldMkLst>
        <pc:spChg chg="mod">
          <ac:chgData name="Oisin Cawley" userId="6b66d80f-e52a-4eb8-b588-9059f489afa4" providerId="ADAL" clId="{FB5A23ED-E77F-4745-A1C2-4CD406941816}" dt="2025-11-20T09:50:23.016" v="51" actId="6549"/>
          <ac:spMkLst>
            <pc:docMk/>
            <pc:sldMk cId="1159337599" sldId="298"/>
            <ac:spMk id="8193" creationId="{00000000-0000-0000-0000-000000000000}"/>
          </ac:spMkLst>
        </pc:spChg>
        <pc:spChg chg="mod">
          <ac:chgData name="Oisin Cawley" userId="6b66d80f-e52a-4eb8-b588-9059f489afa4" providerId="ADAL" clId="{FB5A23ED-E77F-4745-A1C2-4CD406941816}" dt="2025-11-20T10:07:51.436" v="451" actId="179"/>
          <ac:spMkLst>
            <pc:docMk/>
            <pc:sldMk cId="1159337599" sldId="298"/>
            <ac:spMk id="8194" creationId="{00000000-0000-0000-0000-000000000000}"/>
          </ac:spMkLst>
        </pc:spChg>
      </pc:sldChg>
      <pc:sldChg chg="add del">
        <pc:chgData name="Oisin Cawley" userId="6b66d80f-e52a-4eb8-b588-9059f489afa4" providerId="ADAL" clId="{FB5A23ED-E77F-4745-A1C2-4CD406941816}" dt="2025-11-20T09:50:09.711" v="25" actId="2696"/>
        <pc:sldMkLst>
          <pc:docMk/>
          <pc:sldMk cId="2358019726" sldId="298"/>
        </pc:sldMkLst>
      </pc:sldChg>
    </pc:docChg>
  </pc:docChgLst>
  <pc:docChgLst>
    <pc:chgData name="Oisin Cawley" userId="c7ebb277-34aa-421f-b739-032ced270c1a" providerId="ADAL" clId="{D4EF2E71-E1F5-480D-A144-6CA3874DA692}"/>
  </pc:docChgLst>
  <pc:docChgLst>
    <pc:chgData name="Oisin Cawley" userId="c7ebb277-34aa-421f-b739-032ced270c1a" providerId="ADAL" clId="{81142387-87B3-44FB-85E6-5F0A0A840BEA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8900" y="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2338" y="757238"/>
            <a:ext cx="5041900" cy="37830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7388" y="4792663"/>
            <a:ext cx="5510212" cy="4538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8900" y="9582150"/>
            <a:ext cx="298450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02" tIns="46401" rIns="92802" bIns="4640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05ACD5CE-1CB6-4E94-A92C-124437B24A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9546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Tiny has a Reverse Grade </a:t>
            </a:r>
            <a:r>
              <a:rPr lang="en-IE"/>
              <a:t>membership function</a:t>
            </a: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17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5ACD5CE-1CB6-4E94-A92C-124437B24A09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15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83FCE8-4119-48FF-966B-7E5136F9C4B7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E978DDB-8E96-4DB2-8C14-28FF9F7399E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37B5FB-2642-48F7-BDAC-64F1768F7B1F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81E1D-31C8-4BDE-8ED6-CD407A12904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83B10E-0F2D-456E-A6C5-ABEC760B5FEE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2B34AF-0A0C-4B06-AF07-DCF028B85987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1CED97-0F19-4EA5-951E-9254A908A87C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B1C59A-8D6D-445A-8651-08EDD062102A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F1BCED-8D94-45EF-A610-3A53DC3D39DB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6CC426-4027-45AA-AA9D-874E74495604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D66E8D-4372-4450-AF9F-1F3F69E871F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CF7FFA-D0E4-4688-B2F9-1175C1B7E3CC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06755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975475" y="6453188"/>
            <a:ext cx="21336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84C9582D-2E31-434C-A6C1-A926DBB0B909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A3DDA3-2712-46ED-A771-5399145A3D01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2DE8F-7AAD-415A-8ED8-734D637B39D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0BDE4-987C-4FBC-B9CB-4D6602561EC5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15138E-20E5-4AEE-9593-4CED1FF3B4A2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EED188-593D-4E5A-8309-224710DF2B50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225A37-78AD-4AC2-8CFD-83FEBCE05026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E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633C3-D837-4105-940D-252BA81F6873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A78F10-B8B1-474C-971B-7BA47E4F6CE2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A31C60-EE3E-42C6-80FB-27B190A0464E}" type="slidenum">
              <a:rPr lang="en-IE"/>
              <a:pPr>
                <a:defRPr/>
              </a:pPr>
              <a:t>‹#›</a:t>
            </a:fld>
            <a:endParaRPr lang="en-I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2E1222C4-AD1C-443F-91C8-5935F67D99D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1484313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8" name="Picture 6" descr="SETU logo">
            <a:extLst>
              <a:ext uri="{FF2B5EF4-FFF2-40B4-BE49-F238E27FC236}">
                <a16:creationId xmlns:a16="http://schemas.microsoft.com/office/drawing/2014/main" id="{F4FA51BE-E8AC-430D-86FF-0D573FA94B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2" r:id="rId2"/>
    <p:sldLayoutId id="2147484143" r:id="rId3"/>
    <p:sldLayoutId id="2147484131" r:id="rId4"/>
    <p:sldLayoutId id="2147484132" r:id="rId5"/>
    <p:sldLayoutId id="2147484133" r:id="rId6"/>
    <p:sldLayoutId id="2147484134" r:id="rId7"/>
    <p:sldLayoutId id="2147484135" r:id="rId8"/>
    <p:sldLayoutId id="2147484144" r:id="rId9"/>
    <p:sldLayoutId id="2147484145" r:id="rId10"/>
    <p:sldLayoutId id="214748414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067550" cy="633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5538"/>
            <a:ext cx="8229600" cy="500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48488" y="6519863"/>
            <a:ext cx="2133600" cy="3381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fld id="{798A2B5B-F3F1-46D4-B91B-268967D35FC4}" type="slidenum">
              <a:rPr lang="en-IE"/>
              <a:pPr>
                <a:defRPr/>
              </a:pPr>
              <a:t>‹#›</a:t>
            </a:fld>
            <a:endParaRPr lang="en-IE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981075"/>
            <a:ext cx="9144000" cy="0"/>
          </a:xfrm>
          <a:prstGeom prst="line">
            <a:avLst/>
          </a:prstGeom>
          <a:ln w="444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0" y="6519863"/>
            <a:ext cx="4211638" cy="338137"/>
          </a:xfrm>
          <a:prstGeom prst="rect">
            <a:avLst/>
          </a:prstGeom>
        </p:spPr>
        <p:txBody>
          <a:bodyPr anchor="ctr"/>
          <a:lstStyle/>
          <a:p>
            <a:pPr>
              <a:defRPr/>
            </a:pPr>
            <a:r>
              <a:rPr lang="en-IE" sz="1200" dirty="0">
                <a:solidFill>
                  <a:schemeClr val="tx1">
                    <a:tint val="75000"/>
                  </a:schemeClr>
                </a:solidFill>
                <a:latin typeface="Arial" charset="0"/>
              </a:rPr>
              <a:t>AI for Games</a:t>
            </a:r>
          </a:p>
        </p:txBody>
      </p:sp>
      <p:pic>
        <p:nvPicPr>
          <p:cNvPr id="9" name="Picture 6" descr="SETU logo">
            <a:extLst>
              <a:ext uri="{FF2B5EF4-FFF2-40B4-BE49-F238E27FC236}">
                <a16:creationId xmlns:a16="http://schemas.microsoft.com/office/drawing/2014/main" id="{04696A5F-DF20-488E-9235-6CAE877623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8041" y="93003"/>
            <a:ext cx="1342293" cy="753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7" r:id="rId1"/>
    <p:sldLayoutId id="2147484148" r:id="rId2"/>
    <p:sldLayoutId id="2147484149" r:id="rId3"/>
    <p:sldLayoutId id="2147484136" r:id="rId4"/>
    <p:sldLayoutId id="2147484137" r:id="rId5"/>
    <p:sldLayoutId id="2147484138" r:id="rId6"/>
    <p:sldLayoutId id="2147484139" r:id="rId7"/>
    <p:sldLayoutId id="2147484140" r:id="rId8"/>
    <p:sldLayoutId id="2147484150" r:id="rId9"/>
    <p:sldLayoutId id="2147484151" r:id="rId10"/>
    <p:sldLayoutId id="214748415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z9fpLxEtBE" TargetMode="External"/><Relationship Id="rId2" Type="http://schemas.openxmlformats.org/officeDocument/2006/relationships/hyperlink" Target="https://www.youtube.com/watch?v=ySIhr-NU5Pc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Fuzzy Example</a:t>
            </a:r>
          </a:p>
        </p:txBody>
      </p:sp>
      <p:sp>
        <p:nvSpPr>
          <p:cNvPr id="20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GB" dirty="0"/>
              <a:t>Real Time Strategy game</a:t>
            </a:r>
          </a:p>
          <a:p>
            <a:pPr>
              <a:buFont typeface="Wingdings" pitchFamily="2" charset="2"/>
              <a:buNone/>
            </a:pPr>
            <a:endParaRPr lang="en-GB" dirty="0"/>
          </a:p>
          <a:p>
            <a:r>
              <a:rPr lang="en-GB" dirty="0"/>
              <a:t>Given an advancing enemy force of a certain size, at a given distance away, how many troops do we deploy to meet the impending threat?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</a:t>
            </a:fld>
            <a:endParaRPr lang="en-I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Fuzzy Example</a:t>
            </a:r>
          </a:p>
        </p:txBody>
      </p:sp>
      <p:sp>
        <p:nvSpPr>
          <p:cNvPr id="20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We will set up rules to handle troop deployment using two fuzzy variables:</a:t>
            </a:r>
          </a:p>
          <a:p>
            <a:pPr lvl="1">
              <a:buClr>
                <a:schemeClr val="tx1"/>
              </a:buClr>
            </a:pPr>
            <a:r>
              <a:rPr lang="en-GB" sz="3200" b="1" dirty="0">
                <a:solidFill>
                  <a:srgbClr val="FF0000"/>
                </a:solidFill>
              </a:rPr>
              <a:t>Distance</a:t>
            </a:r>
            <a:r>
              <a:rPr lang="en-GB" sz="3200" dirty="0">
                <a:solidFill>
                  <a:srgbClr val="FF0000"/>
                </a:solidFill>
              </a:rPr>
              <a:t> </a:t>
            </a:r>
            <a:r>
              <a:rPr lang="en-GB" sz="3200" dirty="0"/>
              <a:t>and </a:t>
            </a:r>
            <a:r>
              <a:rPr lang="en-GB" sz="3200" b="1" dirty="0">
                <a:solidFill>
                  <a:srgbClr val="FF0000"/>
                </a:solidFill>
              </a:rPr>
              <a:t>Force Size</a:t>
            </a:r>
          </a:p>
          <a:p>
            <a:pPr marL="0" lvl="1" indent="0">
              <a:buNone/>
            </a:pPr>
            <a:endParaRPr lang="en-GB" sz="3200" dirty="0"/>
          </a:p>
          <a:p>
            <a:pPr marL="0" lvl="1" indent="0">
              <a:buNone/>
            </a:pPr>
            <a:r>
              <a:rPr lang="en-GB" sz="3200" dirty="0"/>
              <a:t>We can define some fuzzy subsets:</a:t>
            </a:r>
          </a:p>
          <a:p>
            <a:pPr marL="0" lvl="1" indent="0">
              <a:buNone/>
            </a:pPr>
            <a:r>
              <a:rPr lang="en-GB" sz="3200" dirty="0"/>
              <a:t>	</a:t>
            </a:r>
            <a:r>
              <a:rPr lang="en-GB" dirty="0">
                <a:solidFill>
                  <a:srgbClr val="FF0000"/>
                </a:solidFill>
              </a:rPr>
              <a:t>Distance</a:t>
            </a:r>
            <a:r>
              <a:rPr lang="en-GB" dirty="0"/>
              <a:t> can be </a:t>
            </a:r>
            <a:r>
              <a:rPr lang="en-GB" b="1" dirty="0"/>
              <a:t>Close</a:t>
            </a:r>
            <a:r>
              <a:rPr lang="en-GB" dirty="0"/>
              <a:t>, </a:t>
            </a:r>
            <a:r>
              <a:rPr lang="en-GB" b="1" dirty="0"/>
              <a:t>Medium</a:t>
            </a:r>
            <a:r>
              <a:rPr lang="en-GB" dirty="0"/>
              <a:t> or </a:t>
            </a:r>
            <a:r>
              <a:rPr lang="en-GB" b="1" dirty="0"/>
              <a:t>Far</a:t>
            </a:r>
          </a:p>
          <a:p>
            <a:pPr marL="0" lvl="1" indent="0">
              <a:buNone/>
            </a:pPr>
            <a:r>
              <a:rPr lang="en-GB" dirty="0"/>
              <a:t>	</a:t>
            </a:r>
            <a:r>
              <a:rPr lang="en-GB" dirty="0">
                <a:solidFill>
                  <a:srgbClr val="FF0000"/>
                </a:solidFill>
              </a:rPr>
              <a:t>Force Size </a:t>
            </a:r>
            <a:r>
              <a:rPr lang="en-GB" dirty="0"/>
              <a:t>can be </a:t>
            </a:r>
            <a:r>
              <a:rPr lang="en-GB" b="1" dirty="0"/>
              <a:t>Tiny</a:t>
            </a:r>
            <a:r>
              <a:rPr lang="en-GB" dirty="0"/>
              <a:t>, </a:t>
            </a:r>
            <a:r>
              <a:rPr lang="en-GB" b="1" dirty="0"/>
              <a:t>Small</a:t>
            </a:r>
            <a:r>
              <a:rPr lang="en-GB" dirty="0"/>
              <a:t>, </a:t>
            </a:r>
            <a:r>
              <a:rPr lang="en-GB" b="1" dirty="0"/>
              <a:t>Moderate</a:t>
            </a:r>
            <a:r>
              <a:rPr lang="en-GB" dirty="0"/>
              <a:t> or </a:t>
            </a:r>
            <a:r>
              <a:rPr lang="en-GB" b="1" dirty="0"/>
              <a:t>Large</a:t>
            </a:r>
          </a:p>
          <a:p>
            <a:pPr marL="0" lvl="1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2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468490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Fuzzy Example</a:t>
            </a:r>
          </a:p>
        </p:txBody>
      </p:sp>
      <p:sp>
        <p:nvSpPr>
          <p:cNvPr id="20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/>
              <a:t>Decide on our fuzzy </a:t>
            </a:r>
            <a:r>
              <a:rPr lang="en-GB" sz="2800" b="1" dirty="0"/>
              <a:t>output variable</a:t>
            </a:r>
            <a:r>
              <a:rPr lang="en-GB" sz="2800" dirty="0"/>
              <a:t>.</a:t>
            </a:r>
          </a:p>
          <a:p>
            <a:pPr lvl="1"/>
            <a:r>
              <a:rPr lang="en-GB" sz="2400" dirty="0"/>
              <a:t>Threat Level</a:t>
            </a:r>
          </a:p>
          <a:p>
            <a:endParaRPr lang="en-GB" sz="2800" dirty="0"/>
          </a:p>
          <a:p>
            <a:r>
              <a:rPr lang="en-GB" sz="2800" dirty="0"/>
              <a:t>Decide on subsets for Threat Level</a:t>
            </a:r>
          </a:p>
          <a:p>
            <a:pPr lvl="1"/>
            <a:r>
              <a:rPr lang="en-GB" sz="2400" dirty="0"/>
              <a:t>Low</a:t>
            </a:r>
          </a:p>
          <a:p>
            <a:pPr lvl="1"/>
            <a:r>
              <a:rPr lang="en-GB" sz="2400" dirty="0"/>
              <a:t>Medium</a:t>
            </a:r>
          </a:p>
          <a:p>
            <a:pPr lvl="1"/>
            <a:r>
              <a:rPr lang="en-GB" sz="2400" dirty="0"/>
              <a:t>High</a:t>
            </a:r>
          </a:p>
          <a:p>
            <a:pPr lvl="1"/>
            <a:endParaRPr lang="en-GB" sz="2400" dirty="0"/>
          </a:p>
          <a:p>
            <a:r>
              <a:rPr lang="en-GB" sz="2800" dirty="0"/>
              <a:t>Devise rules for mapping our fuzzy input variables to Threat Levels. Create a </a:t>
            </a:r>
            <a:r>
              <a:rPr lang="en-GB" sz="2800" b="1" dirty="0"/>
              <a:t>Rule Matrix</a:t>
            </a:r>
            <a:r>
              <a:rPr lang="en-GB" sz="280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3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2849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5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5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5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5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Rule Matrix for Threat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89684" y="1412776"/>
            <a:ext cx="956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400" dirty="0">
                <a:latin typeface="+mn-lt"/>
              </a:rPr>
              <a:t>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520" y="3501008"/>
            <a:ext cx="870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400" dirty="0">
                <a:latin typeface="+mn-lt"/>
              </a:rPr>
              <a:t>Force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4</a:t>
            </a:fld>
            <a:endParaRPr lang="en-IE" dirty="0"/>
          </a:p>
        </p:txBody>
      </p:sp>
      <p:graphicFrame>
        <p:nvGraphicFramePr>
          <p:cNvPr id="10" name="Group 3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29968935"/>
              </p:ext>
            </p:extLst>
          </p:nvPr>
        </p:nvGraphicFramePr>
        <p:xfrm>
          <a:off x="1183481" y="1916832"/>
          <a:ext cx="6777038" cy="3724277"/>
        </p:xfrm>
        <a:graphic>
          <a:graphicData uri="http://schemas.openxmlformats.org/drawingml/2006/table">
            <a:tbl>
              <a:tblPr/>
              <a:tblGrid>
                <a:gridCol w="1695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3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3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3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4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Close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Medium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Far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Tiny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Small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Moderate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4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Large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Rule Matrix for Threat Level</a:t>
            </a:r>
          </a:p>
        </p:txBody>
      </p:sp>
      <p:graphicFrame>
        <p:nvGraphicFramePr>
          <p:cNvPr id="10276" name="Group 36"/>
          <p:cNvGraphicFramePr>
            <a:graphicFrameLocks noGrp="1"/>
          </p:cNvGraphicFramePr>
          <p:nvPr>
            <p:ph idx="1"/>
          </p:nvPr>
        </p:nvGraphicFramePr>
        <p:xfrm>
          <a:off x="1183481" y="1916832"/>
          <a:ext cx="6777038" cy="3724277"/>
        </p:xfrm>
        <a:graphic>
          <a:graphicData uri="http://schemas.openxmlformats.org/drawingml/2006/table">
            <a:tbl>
              <a:tblPr/>
              <a:tblGrid>
                <a:gridCol w="1695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3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3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39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4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Close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Medium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Far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4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Tiny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Medium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Low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Low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6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Small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High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Low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Low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Moderate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High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Medium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Low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45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Large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High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High</a:t>
                      </a: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charset="0"/>
                        <a:buNone/>
                        <a:tabLst/>
                      </a:pPr>
                      <a:r>
                        <a:rPr kumimoji="0" lang="en-GB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ＭＳ Ｐゴシック" charset="0"/>
                        </a:rPr>
                        <a:t>Medium</a:t>
                      </a: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ＭＳ Ｐゴシック" charset="0"/>
                      </a:endParaRPr>
                    </a:p>
                  </a:txBody>
                  <a:tcPr marL="80552" marR="805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189684" y="1412776"/>
            <a:ext cx="956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400" dirty="0">
                <a:latin typeface="+mn-lt"/>
              </a:rPr>
              <a:t>Range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520" y="3501008"/>
            <a:ext cx="8700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400" dirty="0">
                <a:latin typeface="+mn-lt"/>
              </a:rPr>
              <a:t>Force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5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198495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Membership - Range of Enemy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E" dirty="0"/>
              <a:t>	    	Close       Medium	 Far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652588"/>
            <a:ext cx="7416824" cy="4689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6</a:t>
            </a:fld>
            <a:endParaRPr lang="en-IE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Membership - Size of Enemy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E" dirty="0"/>
              <a:t>	   Tiny       Small     Moderate	 Large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8432" y="1690688"/>
            <a:ext cx="7747137" cy="42585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7</a:t>
            </a:fld>
            <a:endParaRPr lang="en-IE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Battle Scenario</a:t>
            </a:r>
          </a:p>
        </p:txBody>
      </p:sp>
      <p:sp>
        <p:nvSpPr>
          <p:cNvPr id="6146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4824933" y="2312988"/>
            <a:ext cx="3419475" cy="349408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GB" sz="2800" dirty="0"/>
              <a:t>Result of range </a:t>
            </a:r>
            <a:r>
              <a:rPr lang="en-GB" sz="2800" dirty="0" err="1"/>
              <a:t>fuzzification</a:t>
            </a:r>
            <a:r>
              <a:rPr lang="en-GB" sz="2800" dirty="0"/>
              <a:t> gives</a:t>
            </a:r>
          </a:p>
          <a:p>
            <a:pPr lvl="1"/>
            <a:r>
              <a:rPr lang="en-GB" sz="2400" dirty="0"/>
              <a:t>Close = 0.17</a:t>
            </a:r>
          </a:p>
          <a:p>
            <a:pPr lvl="1"/>
            <a:r>
              <a:rPr lang="en-GB" sz="2400" dirty="0"/>
              <a:t>Medium = 0.75</a:t>
            </a:r>
          </a:p>
          <a:p>
            <a:pPr lvl="1"/>
            <a:r>
              <a:rPr lang="en-GB" sz="2400" dirty="0"/>
              <a:t>Far = 0.0</a:t>
            </a:r>
            <a:endParaRPr lang="en-US" sz="2400" dirty="0"/>
          </a:p>
        </p:txBody>
      </p:sp>
      <p:sp>
        <p:nvSpPr>
          <p:cNvPr id="6147" name="Rectangle 4"/>
          <p:cNvSpPr>
            <a:spLocks noGrp="1" noChangeArrowheads="1"/>
          </p:cNvSpPr>
          <p:nvPr>
            <p:ph sz="quarter" idx="4294967295"/>
          </p:nvPr>
        </p:nvSpPr>
        <p:spPr>
          <a:xfrm>
            <a:off x="792485" y="2312988"/>
            <a:ext cx="3419475" cy="3494087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GB" sz="2800" dirty="0"/>
              <a:t>Result of size </a:t>
            </a:r>
            <a:r>
              <a:rPr lang="en-GB" sz="2800" dirty="0" err="1"/>
              <a:t>fuzzification</a:t>
            </a:r>
            <a:r>
              <a:rPr lang="en-GB" sz="2800" dirty="0"/>
              <a:t> gives</a:t>
            </a:r>
          </a:p>
          <a:p>
            <a:pPr lvl="1"/>
            <a:r>
              <a:rPr lang="en-GB" sz="2400" dirty="0"/>
              <a:t>Tiny = 0.2</a:t>
            </a:r>
          </a:p>
          <a:p>
            <a:pPr lvl="1"/>
            <a:r>
              <a:rPr lang="en-GB" sz="2400" dirty="0"/>
              <a:t>Small = 0.73</a:t>
            </a:r>
          </a:p>
          <a:p>
            <a:pPr lvl="1"/>
            <a:r>
              <a:rPr lang="en-GB" sz="2400" dirty="0"/>
              <a:t>Moderate = 0.0</a:t>
            </a:r>
          </a:p>
          <a:p>
            <a:pPr lvl="1"/>
            <a:r>
              <a:rPr lang="en-GB" sz="2400" dirty="0"/>
              <a:t>Large = 0.0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7544" y="1412776"/>
            <a:ext cx="80596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E" sz="2800" dirty="0">
                <a:latin typeface="+mn-lt"/>
              </a:rPr>
              <a:t>Enemy force of 8 troops (units) at a range of 25 (units)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3F2DE8F-7AAD-415A-8ED8-734D637B39D2}" type="slidenum">
              <a:rPr lang="en-IE" smtClean="0"/>
              <a:pPr>
                <a:defRPr/>
              </a:pPr>
              <a:t>8</a:t>
            </a:fld>
            <a:endParaRPr lang="en-I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1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1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1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1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1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 animBg="1"/>
      <p:bldP spid="6147" grpId="0" uiExpand="1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Rule Application for Threat Level</a:t>
            </a:r>
          </a:p>
        </p:txBody>
      </p:sp>
      <p:sp>
        <p:nvSpPr>
          <p:cNvPr id="71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800" dirty="0"/>
              <a:t>List the rules:</a:t>
            </a:r>
          </a:p>
          <a:p>
            <a:r>
              <a:rPr lang="en-GB" sz="2800" dirty="0"/>
              <a:t>Low threat level is</a:t>
            </a:r>
          </a:p>
          <a:p>
            <a:pPr lvl="1">
              <a:buClr>
                <a:schemeClr val="accent2"/>
              </a:buClr>
              <a:buSzPct val="60000"/>
              <a:buFont typeface="Wingdings" panose="05000000000000000000" pitchFamily="2" charset="2"/>
              <a:buChar char="Ø"/>
            </a:pPr>
            <a:r>
              <a:rPr lang="en-GB" sz="2400" dirty="0"/>
              <a:t>(Medium AND Tiny) OR (Medium AND Small) OR (Far AND NOT(Large) )</a:t>
            </a:r>
          </a:p>
          <a:p>
            <a:r>
              <a:rPr lang="en-GB" sz="2800" dirty="0"/>
              <a:t>Medium threat level is</a:t>
            </a:r>
          </a:p>
          <a:p>
            <a:pPr lvl="1">
              <a:buClr>
                <a:schemeClr val="accent2"/>
              </a:buClr>
              <a:buSzPct val="60000"/>
              <a:buFont typeface="Wingdings" panose="05000000000000000000" pitchFamily="2" charset="2"/>
              <a:buChar char="Ø"/>
            </a:pPr>
            <a:r>
              <a:rPr lang="en-GB" sz="2400" dirty="0"/>
              <a:t>(Close AND Tiny) OR (Medium AND Moderate) OR (Far AND Large)</a:t>
            </a:r>
          </a:p>
          <a:p>
            <a:r>
              <a:rPr lang="en-GB" sz="2800" dirty="0"/>
              <a:t>High threat level is</a:t>
            </a:r>
          </a:p>
          <a:p>
            <a:pPr lvl="1">
              <a:buClr>
                <a:schemeClr val="accent2"/>
              </a:buClr>
              <a:buSzPct val="60000"/>
              <a:buFont typeface="Wingdings" panose="05000000000000000000" pitchFamily="2" charset="2"/>
              <a:buChar char="Ø"/>
            </a:pPr>
            <a:r>
              <a:rPr lang="en-GB" sz="2400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9</a:t>
            </a:fld>
            <a:endParaRPr lang="en-IE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645" y="4725145"/>
            <a:ext cx="3180155" cy="172749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1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17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 err="1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Defuzzification</a:t>
            </a:r>
            <a:endParaRPr lang="en-GB" altLang="en-US" sz="3600" b="1" dirty="0">
              <a:solidFill>
                <a:schemeClr val="accent5">
                  <a:lumMod val="75000"/>
                </a:schemeClr>
              </a:solidFill>
              <a:ea typeface="Calibri" pitchFamily="34" charset="0"/>
              <a:cs typeface="Calibri" pitchFamily="34" charset="0"/>
            </a:endParaRP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125538"/>
            <a:ext cx="8784976" cy="5000625"/>
          </a:xfrm>
        </p:spPr>
        <p:txBody>
          <a:bodyPr/>
          <a:lstStyle/>
          <a:p>
            <a:r>
              <a:rPr lang="en-GB" sz="2400" dirty="0"/>
              <a:t>We get the following degrees of membership:</a:t>
            </a:r>
          </a:p>
          <a:p>
            <a:pPr lvl="1"/>
            <a:r>
              <a:rPr lang="en-GB" sz="2000" dirty="0"/>
              <a:t>Low = 0.73</a:t>
            </a:r>
          </a:p>
          <a:p>
            <a:pPr lvl="1"/>
            <a:r>
              <a:rPr lang="en-GB" sz="2000" dirty="0"/>
              <a:t>Medium = 0.17</a:t>
            </a:r>
          </a:p>
          <a:p>
            <a:pPr lvl="1"/>
            <a:r>
              <a:rPr lang="en-GB" sz="2000" dirty="0"/>
              <a:t>High = 0.17</a:t>
            </a:r>
          </a:p>
          <a:p>
            <a:pPr lvl="1"/>
            <a:endParaRPr lang="en-GB" sz="2000" dirty="0"/>
          </a:p>
          <a:p>
            <a:r>
              <a:rPr lang="en-GB" sz="2400" dirty="0"/>
              <a:t>Assuming the following singleton output  values:</a:t>
            </a:r>
          </a:p>
          <a:p>
            <a:pPr lvl="1"/>
            <a:r>
              <a:rPr lang="en-GB" sz="2000" dirty="0" err="1"/>
              <a:t>LowNum</a:t>
            </a:r>
            <a:r>
              <a:rPr lang="en-GB" sz="2000" dirty="0"/>
              <a:t> = 10 units, </a:t>
            </a:r>
            <a:r>
              <a:rPr lang="en-GB" sz="2000" dirty="0" err="1"/>
              <a:t>MediumNum</a:t>
            </a:r>
            <a:r>
              <a:rPr lang="en-GB" sz="2000" dirty="0"/>
              <a:t> = 30 units, </a:t>
            </a:r>
            <a:r>
              <a:rPr lang="en-GB" sz="2000" dirty="0" err="1"/>
              <a:t>HighNum</a:t>
            </a:r>
            <a:r>
              <a:rPr lang="en-GB" sz="2000" dirty="0"/>
              <a:t> = 50 units</a:t>
            </a:r>
          </a:p>
          <a:p>
            <a:endParaRPr lang="en-GB" sz="2400" dirty="0"/>
          </a:p>
          <a:p>
            <a:r>
              <a:rPr lang="en-GB" sz="2400" dirty="0"/>
              <a:t>Deployment is then:</a:t>
            </a:r>
          </a:p>
          <a:p>
            <a:pPr>
              <a:buNone/>
            </a:pPr>
            <a:r>
              <a:rPr lang="en-GB" sz="2400" dirty="0"/>
              <a:t>	</a:t>
            </a:r>
            <a:r>
              <a:rPr lang="en-GB" sz="2000" dirty="0"/>
              <a:t>(0.73 * </a:t>
            </a:r>
            <a:r>
              <a:rPr lang="en-GB" sz="2000" dirty="0" err="1"/>
              <a:t>LowNum</a:t>
            </a:r>
            <a:r>
              <a:rPr lang="en-GB" sz="2000" dirty="0"/>
              <a:t> + 0.17 * </a:t>
            </a:r>
            <a:r>
              <a:rPr lang="en-GB" sz="2000" dirty="0" err="1"/>
              <a:t>MediumNum</a:t>
            </a:r>
            <a:r>
              <a:rPr lang="en-GB" sz="2000" dirty="0"/>
              <a:t> + 0.17 * </a:t>
            </a:r>
            <a:r>
              <a:rPr lang="en-GB" sz="2000" dirty="0" err="1"/>
              <a:t>HignNum</a:t>
            </a:r>
            <a:r>
              <a:rPr lang="en-GB" sz="2000" dirty="0"/>
              <a:t>) / (0.73 + 0.17 + 0.17)</a:t>
            </a:r>
          </a:p>
          <a:p>
            <a:pPr lvl="1">
              <a:buNone/>
            </a:pPr>
            <a:r>
              <a:rPr lang="en-US" sz="2000" dirty="0"/>
              <a:t>= </a:t>
            </a:r>
            <a:r>
              <a:rPr lang="en-GB" sz="2000" dirty="0"/>
              <a:t>(0.73 * 10 + 0.17 * 30 + 0.17 * 50) / (0.73 + 0.17 + 0.17)</a:t>
            </a:r>
          </a:p>
          <a:p>
            <a:pPr lvl="1">
              <a:buNone/>
            </a:pPr>
            <a:r>
              <a:rPr lang="en-GB" sz="2000" dirty="0"/>
              <a:t>= 19.5</a:t>
            </a:r>
          </a:p>
          <a:p>
            <a:pPr lvl="1">
              <a:buNone/>
            </a:pPr>
            <a:r>
              <a:rPr lang="en-GB" sz="2000" dirty="0"/>
              <a:t>~ 20</a:t>
            </a:r>
          </a:p>
          <a:p>
            <a:pPr lvl="1">
              <a:buNone/>
            </a:pPr>
            <a:r>
              <a:rPr lang="en-US" sz="2000" dirty="0"/>
              <a:t>						</a:t>
            </a:r>
            <a:r>
              <a:rPr lang="en-US" sz="2000"/>
              <a:t>or one? 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10</a:t>
            </a:fld>
            <a:endParaRPr lang="en-IE" dirty="0"/>
          </a:p>
        </p:txBody>
      </p:sp>
      <p:pic>
        <p:nvPicPr>
          <p:cNvPr id="1026" name="Picture 2" descr="http://www.shayneparkinson.com/wp-content/uploads/2009/11/ToySoldiers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696" y="5805264"/>
            <a:ext cx="1602526" cy="911399"/>
          </a:xfrm>
          <a:prstGeom prst="rect">
            <a:avLst/>
          </a:prstGeom>
          <a:noFill/>
        </p:spPr>
      </p:pic>
      <p:pic>
        <p:nvPicPr>
          <p:cNvPr id="1028" name="Picture 4" descr="https://actionfig.files.wordpress.com/2011/09/rscn3665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96136" y="5589240"/>
            <a:ext cx="794624" cy="105949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9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1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19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19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Implementation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125538"/>
            <a:ext cx="8784976" cy="5000625"/>
          </a:xfrm>
        </p:spPr>
        <p:txBody>
          <a:bodyPr/>
          <a:lstStyle/>
          <a:p>
            <a:pPr marL="0" indent="0">
              <a:buNone/>
            </a:pPr>
            <a:r>
              <a:rPr lang="en-IE" sz="2400" dirty="0"/>
              <a:t>Decide on membership functions and code:</a:t>
            </a:r>
          </a:p>
          <a:p>
            <a:pPr>
              <a:buNone/>
            </a:pPr>
            <a:r>
              <a:rPr lang="en-IE" sz="2400" dirty="0"/>
              <a:t>e.g.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FuzzyGrade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 (double value, double x0, double x1)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double result = 0;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double x = value</a:t>
            </a:r>
          </a:p>
          <a:p>
            <a:pPr>
              <a:buNone/>
            </a:pPr>
            <a:endParaRPr lang="en-IE" sz="16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if (x &lt;= x0) 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	result = 0;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else if (x &gt; x1) 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	result = 1;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else 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	result = ( (x-x0) / (x1-x0) )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return result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11</a:t>
            </a:fld>
            <a:endParaRPr lang="en-IE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652120" y="2564904"/>
            <a:ext cx="3006371" cy="196448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Implementation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125538"/>
            <a:ext cx="8784976" cy="5000625"/>
          </a:xfrm>
        </p:spPr>
        <p:txBody>
          <a:bodyPr/>
          <a:lstStyle/>
          <a:p>
            <a:pPr>
              <a:buNone/>
            </a:pPr>
            <a:r>
              <a:rPr lang="en-IE" sz="2400" dirty="0"/>
              <a:t>e.g.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FuzzyTriangle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 (double value, double x0, double x1, double x2)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double result = 0;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double x = value</a:t>
            </a:r>
          </a:p>
          <a:p>
            <a:pPr>
              <a:buNone/>
            </a:pPr>
            <a:endParaRPr lang="en-IE" sz="16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if ((x &lt;= x0) || (x &gt;= x2)) 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	result = 0;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else if (x == x1) 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	result = 1;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else if ( (x &gt; x0) &amp;&amp; (x &lt; x1) )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	result = ( (x-x0) / (x1-x0) )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else 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	result = ( (x2-x) / (x2-x1) )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return result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12</a:t>
            </a:fld>
            <a:endParaRPr lang="en-IE" dirty="0"/>
          </a:p>
        </p:txBody>
      </p:sp>
      <p:pic>
        <p:nvPicPr>
          <p:cNvPr id="7" name="Picture 5" descr="fuzzy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092"/>
          <a:stretch/>
        </p:blipFill>
        <p:spPr bwMode="auto">
          <a:xfrm>
            <a:off x="5179706" y="2211093"/>
            <a:ext cx="3352734" cy="28740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Implementation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125538"/>
            <a:ext cx="8784976" cy="5000625"/>
          </a:xfrm>
        </p:spPr>
        <p:txBody>
          <a:bodyPr/>
          <a:lstStyle/>
          <a:p>
            <a:pPr>
              <a:buNone/>
            </a:pPr>
            <a:r>
              <a:rPr lang="en-IE" sz="2400" dirty="0"/>
              <a:t>e.g.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FuzzyTrapezoid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 (double value, double x0, double x1, double x2, double x3)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double result = 0;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double x = value</a:t>
            </a:r>
          </a:p>
          <a:p>
            <a:pPr>
              <a:buNone/>
            </a:pPr>
            <a:endParaRPr lang="en-IE" sz="16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if ((x &lt;= x0) || (x &gt;= x3)) 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	result = 0;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else if ( (x &gt;= x1) &amp;&amp; (x &lt;= x2) 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	result = 1;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else if ( (x &gt; x0) &amp;&amp; (x &lt; x1) )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	result = ( (x-x0) / (x1-x0) )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else 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	result = ( (x3-x) / (x3-x2) )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return result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}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13</a:t>
            </a:fld>
            <a:endParaRPr lang="en-IE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128" y="2698461"/>
            <a:ext cx="3011376" cy="224821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Implementation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125538"/>
            <a:ext cx="8784976" cy="5000625"/>
          </a:xfrm>
        </p:spPr>
        <p:txBody>
          <a:bodyPr/>
          <a:lstStyle/>
          <a:p>
            <a:pPr>
              <a:buNone/>
            </a:pPr>
            <a:r>
              <a:rPr lang="en-IE" sz="2400" dirty="0"/>
              <a:t>Implement Fuzzy logical operators:</a:t>
            </a:r>
          </a:p>
          <a:p>
            <a:pPr>
              <a:buNone/>
            </a:pPr>
            <a:endParaRPr lang="en-IE" sz="16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IE" sz="16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IE" sz="1800" b="1" dirty="0">
                <a:latin typeface="Courier New" pitchFamily="49" charset="0"/>
                <a:cs typeface="Courier New" pitchFamily="49" charset="0"/>
              </a:rPr>
              <a:t>Double </a:t>
            </a:r>
            <a:r>
              <a:rPr lang="en-IE" sz="1800" b="1" dirty="0" err="1">
                <a:latin typeface="Courier New" pitchFamily="49" charset="0"/>
                <a:cs typeface="Courier New" pitchFamily="49" charset="0"/>
              </a:rPr>
              <a:t>FuzzyAND</a:t>
            </a:r>
            <a:r>
              <a:rPr lang="en-IE" sz="1800" b="1" dirty="0">
                <a:latin typeface="Courier New" pitchFamily="49" charset="0"/>
                <a:cs typeface="Courier New" pitchFamily="49" charset="0"/>
              </a:rPr>
              <a:t> (double A, double B)</a:t>
            </a:r>
          </a:p>
          <a:p>
            <a:pPr>
              <a:buNone/>
            </a:pPr>
            <a:r>
              <a:rPr lang="en-IE" sz="1800" b="1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IE" sz="1800" b="1" dirty="0">
                <a:latin typeface="Courier New" pitchFamily="49" charset="0"/>
                <a:cs typeface="Courier New" pitchFamily="49" charset="0"/>
              </a:rPr>
              <a:t>		return MIN(A, B);</a:t>
            </a:r>
          </a:p>
          <a:p>
            <a:pPr>
              <a:buNone/>
            </a:pPr>
            <a:r>
              <a:rPr lang="en-IE" sz="18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None/>
            </a:pPr>
            <a:endParaRPr lang="en-IE" sz="18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IE" sz="1800" b="1" dirty="0">
                <a:latin typeface="Courier New" pitchFamily="49" charset="0"/>
                <a:cs typeface="Courier New" pitchFamily="49" charset="0"/>
              </a:rPr>
              <a:t>	Double </a:t>
            </a:r>
            <a:r>
              <a:rPr lang="en-IE" sz="1800" b="1" dirty="0" err="1">
                <a:latin typeface="Courier New" pitchFamily="49" charset="0"/>
                <a:cs typeface="Courier New" pitchFamily="49" charset="0"/>
              </a:rPr>
              <a:t>FuzzyOR</a:t>
            </a:r>
            <a:r>
              <a:rPr lang="en-IE" sz="1800" b="1" dirty="0">
                <a:latin typeface="Courier New" pitchFamily="49" charset="0"/>
                <a:cs typeface="Courier New" pitchFamily="49" charset="0"/>
              </a:rPr>
              <a:t> (double A, double B)</a:t>
            </a:r>
          </a:p>
          <a:p>
            <a:pPr>
              <a:buNone/>
            </a:pPr>
            <a:r>
              <a:rPr lang="en-IE" sz="1800" b="1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IE" sz="1800" b="1" dirty="0">
                <a:latin typeface="Courier New" pitchFamily="49" charset="0"/>
                <a:cs typeface="Courier New" pitchFamily="49" charset="0"/>
              </a:rPr>
              <a:t>		return MAX(A, B);</a:t>
            </a:r>
          </a:p>
          <a:p>
            <a:pPr>
              <a:buNone/>
            </a:pPr>
            <a:r>
              <a:rPr lang="en-IE" sz="1800" b="1" dirty="0">
                <a:latin typeface="Courier New" pitchFamily="49" charset="0"/>
                <a:cs typeface="Courier New" pitchFamily="49" charset="0"/>
              </a:rPr>
              <a:t>	}</a:t>
            </a: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IE" sz="1800" b="1" dirty="0">
                <a:latin typeface="Courier New" pitchFamily="49" charset="0"/>
                <a:cs typeface="Courier New" pitchFamily="49" charset="0"/>
              </a:rPr>
              <a:t>	Double </a:t>
            </a:r>
            <a:r>
              <a:rPr lang="en-IE" sz="1800" b="1" dirty="0" err="1">
                <a:latin typeface="Courier New" pitchFamily="49" charset="0"/>
                <a:cs typeface="Courier New" pitchFamily="49" charset="0"/>
              </a:rPr>
              <a:t>FuzzyNOT</a:t>
            </a:r>
            <a:r>
              <a:rPr lang="en-IE" sz="1800" b="1" dirty="0">
                <a:latin typeface="Courier New" pitchFamily="49" charset="0"/>
                <a:cs typeface="Courier New" pitchFamily="49" charset="0"/>
              </a:rPr>
              <a:t> (double A)</a:t>
            </a:r>
          </a:p>
          <a:p>
            <a:pPr>
              <a:buNone/>
            </a:pPr>
            <a:r>
              <a:rPr lang="en-IE" sz="1800" b="1" dirty="0">
                <a:latin typeface="Courier New" pitchFamily="49" charset="0"/>
                <a:cs typeface="Courier New" pitchFamily="49" charset="0"/>
              </a:rPr>
              <a:t>	{</a:t>
            </a:r>
          </a:p>
          <a:p>
            <a:pPr>
              <a:buNone/>
            </a:pPr>
            <a:r>
              <a:rPr lang="en-IE" sz="1800" b="1" dirty="0">
                <a:latin typeface="Courier New" pitchFamily="49" charset="0"/>
                <a:cs typeface="Courier New" pitchFamily="49" charset="0"/>
              </a:rPr>
              <a:t>		return 1.0 - A;</a:t>
            </a:r>
          </a:p>
          <a:p>
            <a:pPr>
              <a:buNone/>
            </a:pPr>
            <a:r>
              <a:rPr lang="en-IE" sz="1800" b="1" dirty="0">
                <a:latin typeface="Courier New" pitchFamily="49" charset="0"/>
                <a:cs typeface="Courier New" pitchFamily="49" charset="0"/>
              </a:rPr>
              <a:t>	}</a:t>
            </a:r>
            <a:endParaRPr lang="en-US" sz="18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US" sz="18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14</a:t>
            </a:fld>
            <a:endParaRPr lang="en-IE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Implementation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125538"/>
            <a:ext cx="8784976" cy="5000625"/>
          </a:xfrm>
        </p:spPr>
        <p:txBody>
          <a:bodyPr/>
          <a:lstStyle/>
          <a:p>
            <a:pPr>
              <a:buNone/>
            </a:pPr>
            <a:r>
              <a:rPr lang="en-IE" sz="2400" dirty="0"/>
              <a:t>For our threat assessment: </a:t>
            </a:r>
          </a:p>
          <a:p>
            <a:pPr>
              <a:buNone/>
            </a:pPr>
            <a:r>
              <a:rPr lang="en-IE" sz="2400" dirty="0"/>
              <a:t>	- Enemy force of 8 troops (units)</a:t>
            </a:r>
          </a:p>
          <a:p>
            <a:pPr>
              <a:buNone/>
            </a:pPr>
            <a:endParaRPr lang="en-IE" sz="16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mTiny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FuzzyTriangle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(8, -10, 0, 10);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mSmall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FuzzyTrapezoid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(8, 2.5, 10, 15, 20);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mModerate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FuzzyTrapezoid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(8, 15, 20, 25, 30);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mLarge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FuzzyGrade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(8, 25, 30);</a:t>
            </a:r>
          </a:p>
          <a:p>
            <a:pPr>
              <a:buNone/>
            </a:pPr>
            <a:endParaRPr lang="en-IE" sz="16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IE" sz="1600" dirty="0"/>
              <a:t>	</a:t>
            </a:r>
            <a:r>
              <a:rPr lang="en-IE" sz="2400" dirty="0"/>
              <a:t>- Enemy force at a range of 25 (units)</a:t>
            </a:r>
          </a:p>
          <a:p>
            <a:pPr>
              <a:buNone/>
            </a:pPr>
            <a:endParaRPr lang="en-IE" sz="1600" dirty="0"/>
          </a:p>
          <a:p>
            <a:pPr>
              <a:buNone/>
            </a:pPr>
            <a:r>
              <a:rPr lang="en-IE" sz="18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mClose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FuzzyTriangle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(25, -30, 0, 30);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mMedium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FuzzyTrapezoid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(25, 10, 30, 50, 70);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mFar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FuzzyGrade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(25, 50, 70);</a:t>
            </a:r>
          </a:p>
          <a:p>
            <a:pPr>
              <a:buNone/>
            </a:pPr>
            <a:endParaRPr lang="en-IE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15</a:t>
            </a:fld>
            <a:endParaRPr lang="en-IE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44208" y="3284984"/>
          <a:ext cx="25202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009"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Fuzzy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Degree of Membership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009"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Close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0.17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009"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009"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Far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009"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Tiny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0.2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009"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Small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0.73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009"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009"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Large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E" sz="1600" dirty="0"/>
                        <a:t>0.0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1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9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Implementation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125538"/>
            <a:ext cx="8784976" cy="5000625"/>
          </a:xfrm>
        </p:spPr>
        <p:txBody>
          <a:bodyPr/>
          <a:lstStyle/>
          <a:p>
            <a:pPr>
              <a:buNone/>
            </a:pPr>
            <a:r>
              <a:rPr lang="en-IE" sz="2400" dirty="0"/>
              <a:t>Recall our rule matrix:</a:t>
            </a:r>
          </a:p>
          <a:p>
            <a:pPr>
              <a:buNone/>
            </a:pPr>
            <a:endParaRPr lang="en-IE" sz="2400" dirty="0"/>
          </a:p>
          <a:p>
            <a:pPr>
              <a:buNone/>
            </a:pPr>
            <a:endParaRPr lang="en-IE" sz="2400" dirty="0"/>
          </a:p>
          <a:p>
            <a:pPr>
              <a:buNone/>
            </a:pPr>
            <a:endParaRPr lang="en-IE" sz="2400" dirty="0"/>
          </a:p>
          <a:p>
            <a:pPr>
              <a:buNone/>
            </a:pPr>
            <a:endParaRPr lang="en-IE" sz="2400" dirty="0"/>
          </a:p>
          <a:p>
            <a:pPr>
              <a:buNone/>
            </a:pPr>
            <a:r>
              <a:rPr lang="en-IE" sz="2400" dirty="0"/>
              <a:t>So now we can do:</a:t>
            </a:r>
          </a:p>
          <a:p>
            <a:pPr>
              <a:buNone/>
            </a:pP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mLow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FuzzyOR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( 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FuzzyAND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mMedium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mTiny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), 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FuzzyAND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mMedium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mSmall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) );</a:t>
            </a:r>
          </a:p>
          <a:p>
            <a:pPr>
              <a:buNone/>
            </a:pP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mMedium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FuzzyAND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mClose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mTiny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None/>
            </a:pP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mHigh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FuzzyAND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mClose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, 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FuzzyNOT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mTiny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) );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=&gt;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mLow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 = 0.73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mMedium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 = 0.17</a:t>
            </a:r>
          </a:p>
          <a:p>
            <a:pPr>
              <a:buNone/>
            </a:pPr>
            <a:r>
              <a:rPr lang="en-IE" sz="16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IE" sz="1600" b="1" dirty="0" err="1">
                <a:latin typeface="Courier New" pitchFamily="49" charset="0"/>
                <a:cs typeface="Courier New" pitchFamily="49" charset="0"/>
              </a:rPr>
              <a:t>mHigh</a:t>
            </a:r>
            <a:r>
              <a:rPr lang="en-IE" sz="1600" b="1" dirty="0">
                <a:latin typeface="Courier New" pitchFamily="49" charset="0"/>
                <a:cs typeface="Courier New" pitchFamily="49" charset="0"/>
              </a:rPr>
              <a:t> = 0.17</a:t>
            </a:r>
          </a:p>
          <a:p>
            <a:pPr>
              <a:buNone/>
            </a:pPr>
            <a:endParaRPr lang="en-IE" sz="16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16</a:t>
            </a:fld>
            <a:endParaRPr lang="en-IE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63888" y="1124744"/>
            <a:ext cx="3970040" cy="2152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Implementation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125538"/>
            <a:ext cx="8784976" cy="5000625"/>
          </a:xfrm>
        </p:spPr>
        <p:txBody>
          <a:bodyPr/>
          <a:lstStyle/>
          <a:p>
            <a:pPr>
              <a:buNone/>
            </a:pPr>
            <a:r>
              <a:rPr lang="en-IE" sz="2400" dirty="0" err="1"/>
              <a:t>Defuzzification</a:t>
            </a:r>
            <a:r>
              <a:rPr lang="en-IE" sz="2400" dirty="0"/>
              <a:t>:</a:t>
            </a:r>
          </a:p>
          <a:p>
            <a:pPr>
              <a:buNone/>
            </a:pPr>
            <a:endParaRPr lang="en-IE" sz="2400" dirty="0"/>
          </a:p>
          <a:p>
            <a:pPr>
              <a:buNone/>
            </a:pPr>
            <a:r>
              <a:rPr lang="en-IE" sz="18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IE" sz="1800" b="1" dirty="0" err="1">
                <a:latin typeface="Courier New" pitchFamily="49" charset="0"/>
                <a:cs typeface="Courier New" pitchFamily="49" charset="0"/>
              </a:rPr>
              <a:t>nDeploy</a:t>
            </a:r>
            <a:r>
              <a:rPr lang="en-IE" sz="1800" b="1" dirty="0">
                <a:latin typeface="Courier New" pitchFamily="49" charset="0"/>
                <a:cs typeface="Courier New" pitchFamily="49" charset="0"/>
              </a:rPr>
              <a:t> = 	( </a:t>
            </a:r>
            <a:r>
              <a:rPr lang="en-IE" sz="1800" b="1" dirty="0" err="1">
                <a:latin typeface="Courier New" pitchFamily="49" charset="0"/>
                <a:cs typeface="Courier New" pitchFamily="49" charset="0"/>
              </a:rPr>
              <a:t>mLow</a:t>
            </a:r>
            <a:r>
              <a:rPr lang="en-IE" sz="1800" b="1" dirty="0">
                <a:latin typeface="Courier New" pitchFamily="49" charset="0"/>
                <a:cs typeface="Courier New" pitchFamily="49" charset="0"/>
              </a:rPr>
              <a:t> * 10 + </a:t>
            </a:r>
            <a:r>
              <a:rPr lang="en-IE" sz="1800" b="1" dirty="0" err="1">
                <a:latin typeface="Courier New" pitchFamily="49" charset="0"/>
                <a:cs typeface="Courier New" pitchFamily="49" charset="0"/>
              </a:rPr>
              <a:t>mMedium</a:t>
            </a:r>
            <a:r>
              <a:rPr lang="en-IE" sz="1800" b="1" dirty="0">
                <a:latin typeface="Courier New" pitchFamily="49" charset="0"/>
                <a:cs typeface="Courier New" pitchFamily="49" charset="0"/>
              </a:rPr>
              <a:t> * 30 + </a:t>
            </a:r>
            <a:r>
              <a:rPr lang="en-IE" sz="1800" b="1" dirty="0" err="1">
                <a:latin typeface="Courier New" pitchFamily="49" charset="0"/>
                <a:cs typeface="Courier New" pitchFamily="49" charset="0"/>
              </a:rPr>
              <a:t>mHigh</a:t>
            </a:r>
            <a:r>
              <a:rPr lang="en-IE" sz="1800" b="1" dirty="0">
                <a:latin typeface="Courier New" pitchFamily="49" charset="0"/>
                <a:cs typeface="Courier New" pitchFamily="49" charset="0"/>
              </a:rPr>
              <a:t> * 50 ) / </a:t>
            </a:r>
          </a:p>
          <a:p>
            <a:pPr>
              <a:buNone/>
            </a:pPr>
            <a:r>
              <a:rPr lang="en-IE" sz="1800" b="1" dirty="0">
                <a:latin typeface="Courier New" pitchFamily="49" charset="0"/>
                <a:cs typeface="Courier New" pitchFamily="49" charset="0"/>
              </a:rPr>
              <a:t>			( </a:t>
            </a:r>
            <a:r>
              <a:rPr lang="en-IE" sz="1800" b="1" dirty="0" err="1">
                <a:latin typeface="Courier New" pitchFamily="49" charset="0"/>
                <a:cs typeface="Courier New" pitchFamily="49" charset="0"/>
              </a:rPr>
              <a:t>mLow</a:t>
            </a:r>
            <a:r>
              <a:rPr lang="en-IE" sz="1800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IE" sz="1800" b="1" dirty="0" err="1">
                <a:latin typeface="Courier New" pitchFamily="49" charset="0"/>
                <a:cs typeface="Courier New" pitchFamily="49" charset="0"/>
              </a:rPr>
              <a:t>mMedium</a:t>
            </a:r>
            <a:r>
              <a:rPr lang="en-IE" sz="1800" b="1" dirty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IE" sz="1800" b="1" dirty="0" err="1">
                <a:latin typeface="Courier New" pitchFamily="49" charset="0"/>
                <a:cs typeface="Courier New" pitchFamily="49" charset="0"/>
              </a:rPr>
              <a:t>mHigh</a:t>
            </a:r>
            <a:r>
              <a:rPr lang="en-IE" sz="1800" b="1" dirty="0">
                <a:latin typeface="Courier New" pitchFamily="49" charset="0"/>
                <a:cs typeface="Courier New" pitchFamily="49" charset="0"/>
              </a:rPr>
              <a:t> )</a:t>
            </a:r>
          </a:p>
          <a:p>
            <a:pPr>
              <a:buNone/>
            </a:pPr>
            <a:endParaRPr lang="en-IE" sz="1800" b="1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IE" sz="1800" b="1" dirty="0">
                <a:latin typeface="Courier New" pitchFamily="49" charset="0"/>
                <a:cs typeface="Courier New" pitchFamily="49" charset="0"/>
              </a:rPr>
              <a:t>	~ 20</a:t>
            </a:r>
          </a:p>
          <a:p>
            <a:pPr>
              <a:buNone/>
            </a:pPr>
            <a:endParaRPr lang="en-IE" sz="16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endParaRPr lang="en-IE" sz="1600" dirty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IE" sz="2400" dirty="0"/>
              <a:t>Trial in game play and tune:</a:t>
            </a:r>
          </a:p>
          <a:p>
            <a:pPr>
              <a:buFontTx/>
              <a:buChar char="-"/>
            </a:pPr>
            <a:r>
              <a:rPr lang="en-IE" sz="2400" dirty="0">
                <a:cs typeface="Courier New" pitchFamily="49" charset="0"/>
              </a:rPr>
              <a:t>Use different singleton values</a:t>
            </a:r>
          </a:p>
          <a:p>
            <a:pPr>
              <a:buFontTx/>
              <a:buChar char="-"/>
            </a:pPr>
            <a:r>
              <a:rPr lang="en-IE" sz="2400" dirty="0">
                <a:cs typeface="Courier New" pitchFamily="49" charset="0"/>
              </a:rPr>
              <a:t>Change shape of membership functions</a:t>
            </a:r>
          </a:p>
          <a:p>
            <a:pPr>
              <a:buFontTx/>
              <a:buChar char="-"/>
            </a:pPr>
            <a:r>
              <a:rPr lang="en-IE" sz="2400" dirty="0">
                <a:cs typeface="Courier New" pitchFamily="49" charset="0"/>
              </a:rPr>
              <a:t>Introduce more fuzzy sets</a:t>
            </a:r>
          </a:p>
          <a:p>
            <a:pPr>
              <a:buFontTx/>
              <a:buChar char="-"/>
            </a:pPr>
            <a:r>
              <a:rPr lang="en-IE" sz="2400" dirty="0">
                <a:cs typeface="Courier New" pitchFamily="49" charset="0"/>
              </a:rPr>
              <a:t>Add a </a:t>
            </a:r>
            <a:r>
              <a:rPr lang="en-IE" sz="2400">
                <a:cs typeface="Courier New" pitchFamily="49" charset="0"/>
              </a:rPr>
              <a:t>random element?</a:t>
            </a:r>
            <a:endParaRPr lang="en-IE" sz="1600" dirty="0"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17</a:t>
            </a:fld>
            <a:endParaRPr lang="en-IE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1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19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19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19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 b="1" dirty="0">
                <a:solidFill>
                  <a:schemeClr val="accent5">
                    <a:lumMod val="75000"/>
                  </a:schemeClr>
                </a:solidFill>
                <a:ea typeface="Calibri" pitchFamily="34" charset="0"/>
                <a:cs typeface="Calibri" pitchFamily="34" charset="0"/>
              </a:rPr>
              <a:t>Real world applications</a:t>
            </a:r>
          </a:p>
        </p:txBody>
      </p:sp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>
          <a:xfrm>
            <a:off x="179512" y="1125538"/>
            <a:ext cx="8784976" cy="5000625"/>
          </a:xfrm>
        </p:spPr>
        <p:txBody>
          <a:bodyPr/>
          <a:lstStyle/>
          <a:p>
            <a:pPr>
              <a:buNone/>
            </a:pPr>
            <a:endParaRPr lang="en-IE" sz="2000" dirty="0">
              <a:cs typeface="Courier New" pitchFamily="49" charset="0"/>
              <a:hlinkClick r:id="rId2"/>
            </a:endParaRPr>
          </a:p>
          <a:p>
            <a:pPr>
              <a:buNone/>
            </a:pPr>
            <a:r>
              <a:rPr lang="en-IE" sz="2000" dirty="0">
                <a:cs typeface="Courier New" pitchFamily="49" charset="0"/>
                <a:hlinkClick r:id="rId2"/>
              </a:rPr>
              <a:t>Student Project</a:t>
            </a:r>
            <a:r>
              <a:rPr lang="en-IE" sz="2000" dirty="0">
                <a:cs typeface="Courier New" pitchFamily="49" charset="0"/>
              </a:rPr>
              <a:t> showing fuzzy logic for a car Anti-lock Braking system</a:t>
            </a:r>
          </a:p>
          <a:p>
            <a:pPr>
              <a:buNone/>
            </a:pPr>
            <a:endParaRPr lang="en-IE" sz="2000" dirty="0">
              <a:cs typeface="Courier New" pitchFamily="49" charset="0"/>
            </a:endParaRPr>
          </a:p>
          <a:p>
            <a:pPr marL="0" indent="0">
              <a:buNone/>
            </a:pPr>
            <a:r>
              <a:rPr lang="en-US" sz="2000" dirty="0">
                <a:cs typeface="Courier New" pitchFamily="49" charset="0"/>
                <a:hlinkClick r:id="rId3"/>
              </a:rPr>
              <a:t>Introduction: Real Life Applications of Fuzzy Systems By Prof. </a:t>
            </a:r>
            <a:r>
              <a:rPr lang="en-US" sz="2000" dirty="0" err="1">
                <a:cs typeface="Courier New" pitchFamily="49" charset="0"/>
                <a:hlinkClick r:id="rId3"/>
              </a:rPr>
              <a:t>Nishchal</a:t>
            </a:r>
            <a:r>
              <a:rPr lang="en-US" sz="2000" dirty="0">
                <a:cs typeface="Courier New" pitchFamily="49" charset="0"/>
                <a:hlinkClick r:id="rId3"/>
              </a:rPr>
              <a:t> K. Verma</a:t>
            </a:r>
            <a:endParaRPr lang="en-US" sz="2000" dirty="0">
              <a:cs typeface="Courier New" pitchFamily="49" charset="0"/>
            </a:endParaRPr>
          </a:p>
          <a:p>
            <a:pPr marL="631825">
              <a:buNone/>
            </a:pPr>
            <a:r>
              <a:rPr lang="en-IE" sz="2000" dirty="0">
                <a:cs typeface="Courier New" pitchFamily="49" charset="0"/>
              </a:rPr>
              <a:t>A walk through of some examples such as:</a:t>
            </a:r>
          </a:p>
          <a:p>
            <a:pPr marL="631825">
              <a:buFontTx/>
              <a:buChar char="-"/>
            </a:pPr>
            <a:r>
              <a:rPr lang="en-IE" sz="2000" dirty="0">
                <a:cs typeface="Courier New" pitchFamily="49" charset="0"/>
              </a:rPr>
              <a:t>Japanese subway system</a:t>
            </a:r>
          </a:p>
          <a:p>
            <a:pPr marL="631825">
              <a:buFontTx/>
              <a:buChar char="-"/>
            </a:pPr>
            <a:r>
              <a:rPr lang="en-IE" sz="2000" dirty="0">
                <a:cs typeface="Courier New" pitchFamily="49" charset="0"/>
              </a:rPr>
              <a:t>Washing Machine</a:t>
            </a:r>
          </a:p>
          <a:p>
            <a:pPr marL="631825">
              <a:buFontTx/>
              <a:buChar char="-"/>
            </a:pPr>
            <a:r>
              <a:rPr lang="en-IE" sz="2000" dirty="0">
                <a:cs typeface="Courier New" pitchFamily="49" charset="0"/>
              </a:rPr>
              <a:t>Automatic transmission in cars</a:t>
            </a:r>
          </a:p>
          <a:p>
            <a:pPr marL="631825">
              <a:buFontTx/>
              <a:buChar char="-"/>
            </a:pPr>
            <a:r>
              <a:rPr lang="en-IE" sz="2000" dirty="0">
                <a:cs typeface="Courier New" pitchFamily="49" charset="0"/>
              </a:rPr>
              <a:t>Cement Kiln</a:t>
            </a:r>
          </a:p>
          <a:p>
            <a:pPr marL="631825">
              <a:buFontTx/>
              <a:buChar char="-"/>
            </a:pPr>
            <a:r>
              <a:rPr lang="en-IE" sz="2000" dirty="0">
                <a:cs typeface="Courier New" pitchFamily="49" charset="0"/>
              </a:rPr>
              <a:t>Photo copier</a:t>
            </a:r>
          </a:p>
          <a:p>
            <a:pPr marL="631825">
              <a:buFontTx/>
              <a:buChar char="-"/>
            </a:pPr>
            <a:r>
              <a:rPr lang="en-IE" sz="2000" dirty="0">
                <a:cs typeface="Courier New" pitchFamily="49" charset="0"/>
              </a:rPr>
              <a:t>Golf club selection and flex profile based on Golfer’s swing</a:t>
            </a:r>
          </a:p>
          <a:p>
            <a:pPr marL="631825">
              <a:buFontTx/>
              <a:buChar char="-"/>
            </a:pPr>
            <a:r>
              <a:rPr lang="en-IE" sz="2000" dirty="0">
                <a:cs typeface="Courier New" pitchFamily="49" charset="0"/>
              </a:rPr>
              <a:t>Satellite altitude control</a:t>
            </a:r>
          </a:p>
          <a:p>
            <a:pPr marL="631825">
              <a:buFontTx/>
              <a:buChar char="-"/>
            </a:pPr>
            <a:r>
              <a:rPr lang="en-IE" sz="2000" dirty="0">
                <a:cs typeface="Courier New" pitchFamily="49" charset="0"/>
              </a:rPr>
              <a:t>Human behaviour analysis</a:t>
            </a:r>
          </a:p>
          <a:p>
            <a:pPr marL="631825">
              <a:buFontTx/>
              <a:buChar char="-"/>
            </a:pPr>
            <a:r>
              <a:rPr lang="en-IE" sz="2000" dirty="0">
                <a:cs typeface="Courier New" pitchFamily="49" charset="0"/>
              </a:rPr>
              <a:t>and more</a:t>
            </a:r>
          </a:p>
          <a:p>
            <a:pPr>
              <a:buFontTx/>
              <a:buChar char="-"/>
            </a:pPr>
            <a:endParaRPr lang="en-IE" sz="2000" dirty="0">
              <a:cs typeface="Courier New" pitchFamily="49" charset="0"/>
            </a:endParaRPr>
          </a:p>
          <a:p>
            <a:pPr>
              <a:buFontTx/>
              <a:buChar char="-"/>
            </a:pPr>
            <a:endParaRPr lang="en-IE" sz="2000" dirty="0">
              <a:cs typeface="Courier New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4C9582D-2E31-434C-A6C1-A926DBB0B909}" type="slidenum">
              <a:rPr lang="en-IE" smtClean="0"/>
              <a:pPr>
                <a:defRPr/>
              </a:pPr>
              <a:t>18</a:t>
            </a:fld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15933759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Stack of books design template</Template>
  <TotalTime>13260</TotalTime>
  <Words>1143</Words>
  <Application>Microsoft Office PowerPoint</Application>
  <PresentationFormat>On-screen Show (4:3)</PresentationFormat>
  <Paragraphs>252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ＭＳ Ｐゴシック</vt:lpstr>
      <vt:lpstr>Arial</vt:lpstr>
      <vt:lpstr>Calibri</vt:lpstr>
      <vt:lpstr>Courier New</vt:lpstr>
      <vt:lpstr>Wingdings</vt:lpstr>
      <vt:lpstr>Custom Design</vt:lpstr>
      <vt:lpstr>1_Custom Design</vt:lpstr>
      <vt:lpstr>Fuzzy Example</vt:lpstr>
      <vt:lpstr>Fuzzy Example</vt:lpstr>
      <vt:lpstr>Fuzzy Example</vt:lpstr>
      <vt:lpstr>Rule Matrix for Threat Level</vt:lpstr>
      <vt:lpstr>Rule Matrix for Threat Level</vt:lpstr>
      <vt:lpstr>Membership - Range of Enemy</vt:lpstr>
      <vt:lpstr>Membership - Size of Enemy</vt:lpstr>
      <vt:lpstr>Battle Scenario</vt:lpstr>
      <vt:lpstr>Rule Application for Threat Level</vt:lpstr>
      <vt:lpstr>Defuzzification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Real world applications</vt:lpstr>
    </vt:vector>
  </TitlesOfParts>
  <Company>ModusLink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the 8086 chip set architecture course.</dc:title>
  <dc:creator>oisin_cawley</dc:creator>
  <cp:lastModifiedBy>Oisin Cawley</cp:lastModifiedBy>
  <cp:revision>1346</cp:revision>
  <dcterms:created xsi:type="dcterms:W3CDTF">2007-05-08T17:20:09Z</dcterms:created>
  <dcterms:modified xsi:type="dcterms:W3CDTF">2025-11-20T10:23:13Z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TC011594401033</vt:lpwstr>
  </property>
</Properties>
</file>