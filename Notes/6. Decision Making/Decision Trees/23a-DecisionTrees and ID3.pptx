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33"/>
  </p:notesMasterIdLst>
  <p:sldIdLst>
    <p:sldId id="273" r:id="rId3"/>
    <p:sldId id="285" r:id="rId4"/>
    <p:sldId id="278" r:id="rId5"/>
    <p:sldId id="279" r:id="rId6"/>
    <p:sldId id="280" r:id="rId7"/>
    <p:sldId id="281" r:id="rId8"/>
    <p:sldId id="295" r:id="rId9"/>
    <p:sldId id="282" r:id="rId10"/>
    <p:sldId id="284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6" r:id="rId20"/>
    <p:sldId id="300" r:id="rId21"/>
    <p:sldId id="301" r:id="rId22"/>
    <p:sldId id="306" r:id="rId23"/>
    <p:sldId id="302" r:id="rId24"/>
    <p:sldId id="303" r:id="rId25"/>
    <p:sldId id="308" r:id="rId26"/>
    <p:sldId id="304" r:id="rId27"/>
    <p:sldId id="307" r:id="rId28"/>
    <p:sldId id="297" r:id="rId29"/>
    <p:sldId id="305" r:id="rId30"/>
    <p:sldId id="298" r:id="rId31"/>
    <p:sldId id="299" r:id="rId32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1650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CAE9984D-CEFA-406F-AEE3-69D9C4BC62C5}"/>
  </pc:docChgLst>
  <pc:docChgLst>
    <pc:chgData name="Oisin Cawley" userId="c7ebb277-34aa-421f-b739-032ced270c1a" providerId="ADAL" clId="{047CA39A-7598-45EC-98FB-4D05DAD2804F}"/>
  </pc:docChgLst>
  <pc:docChgLst>
    <pc:chgData name="Oisin Cawley" userId="6b66d80f-e52a-4eb8-b588-9059f489afa4" providerId="ADAL" clId="{0266666D-8F8E-471A-B166-5305EF4D80AF}"/>
  </pc:docChgLst>
  <pc:docChgLst>
    <pc:chgData name="Oisin Cawley" userId="c7ebb277-34aa-421f-b739-032ced270c1a" providerId="ADAL" clId="{187C045A-FA7B-4F6F-9C81-FE4983F38F62}"/>
  </pc:docChgLst>
  <pc:docChgLst>
    <pc:chgData name="Oisin Cawley" userId="6b66d80f-e52a-4eb8-b588-9059f489afa4" providerId="ADAL" clId="{E76ECCB1-30AB-4174-945A-6B93868B4DB4}"/>
    <pc:docChg chg="custSel addSld modSld">
      <pc:chgData name="Oisin Cawley" userId="6b66d80f-e52a-4eb8-b588-9059f489afa4" providerId="ADAL" clId="{E76ECCB1-30AB-4174-945A-6B93868B4DB4}" dt="2025-11-24T10:45:16.677" v="73" actId="6549"/>
      <pc:docMkLst>
        <pc:docMk/>
      </pc:docMkLst>
      <pc:sldChg chg="modAnim">
        <pc:chgData name="Oisin Cawley" userId="6b66d80f-e52a-4eb8-b588-9059f489afa4" providerId="ADAL" clId="{E76ECCB1-30AB-4174-945A-6B93868B4DB4}" dt="2025-11-24T09:52:18.404" v="0"/>
        <pc:sldMkLst>
          <pc:docMk/>
          <pc:sldMk cId="2763929470" sldId="284"/>
        </pc:sldMkLst>
      </pc:sldChg>
      <pc:sldChg chg="modSp">
        <pc:chgData name="Oisin Cawley" userId="6b66d80f-e52a-4eb8-b588-9059f489afa4" providerId="ADAL" clId="{E76ECCB1-30AB-4174-945A-6B93868B4DB4}" dt="2025-11-24T09:59:36.131" v="13" actId="20577"/>
        <pc:sldMkLst>
          <pc:docMk/>
          <pc:sldMk cId="1117233136" sldId="291"/>
        </pc:sldMkLst>
        <pc:spChg chg="mod">
          <ac:chgData name="Oisin Cawley" userId="6b66d80f-e52a-4eb8-b588-9059f489afa4" providerId="ADAL" clId="{E76ECCB1-30AB-4174-945A-6B93868B4DB4}" dt="2025-11-24T09:59:36.131" v="13" actId="20577"/>
          <ac:spMkLst>
            <pc:docMk/>
            <pc:sldMk cId="1117233136" sldId="291"/>
            <ac:spMk id="3" creationId="{00000000-0000-0000-0000-000000000000}"/>
          </ac:spMkLst>
        </pc:spChg>
      </pc:sldChg>
      <pc:sldChg chg="modSp">
        <pc:chgData name="Oisin Cawley" userId="6b66d80f-e52a-4eb8-b588-9059f489afa4" providerId="ADAL" clId="{E76ECCB1-30AB-4174-945A-6B93868B4DB4}" dt="2025-11-24T09:59:14.033" v="1" actId="403"/>
        <pc:sldMkLst>
          <pc:docMk/>
          <pc:sldMk cId="1117233136" sldId="293"/>
        </pc:sldMkLst>
        <pc:spChg chg="mod">
          <ac:chgData name="Oisin Cawley" userId="6b66d80f-e52a-4eb8-b588-9059f489afa4" providerId="ADAL" clId="{E76ECCB1-30AB-4174-945A-6B93868B4DB4}" dt="2025-11-24T09:59:14.033" v="1" actId="403"/>
          <ac:spMkLst>
            <pc:docMk/>
            <pc:sldMk cId="1117233136" sldId="293"/>
            <ac:spMk id="3" creationId="{00000000-0000-0000-0000-000000000000}"/>
          </ac:spMkLst>
        </pc:spChg>
      </pc:sldChg>
      <pc:sldChg chg="modSp modAnim">
        <pc:chgData name="Oisin Cawley" userId="6b66d80f-e52a-4eb8-b588-9059f489afa4" providerId="ADAL" clId="{E76ECCB1-30AB-4174-945A-6B93868B4DB4}" dt="2025-11-24T10:45:16.677" v="73" actId="6549"/>
        <pc:sldMkLst>
          <pc:docMk/>
          <pc:sldMk cId="1117233136" sldId="297"/>
        </pc:sldMkLst>
        <pc:spChg chg="mod">
          <ac:chgData name="Oisin Cawley" userId="6b66d80f-e52a-4eb8-b588-9059f489afa4" providerId="ADAL" clId="{E76ECCB1-30AB-4174-945A-6B93868B4DB4}" dt="2025-11-24T10:45:16.677" v="73" actId="6549"/>
          <ac:spMkLst>
            <pc:docMk/>
            <pc:sldMk cId="1117233136" sldId="297"/>
            <ac:spMk id="3" creationId="{00000000-0000-0000-0000-000000000000}"/>
          </ac:spMkLst>
        </pc:spChg>
      </pc:sldChg>
      <pc:sldChg chg="modSp modAnim">
        <pc:chgData name="Oisin Cawley" userId="6b66d80f-e52a-4eb8-b588-9059f489afa4" providerId="ADAL" clId="{E76ECCB1-30AB-4174-945A-6B93868B4DB4}" dt="2025-11-24T10:19:12.944" v="17" actId="113"/>
        <pc:sldMkLst>
          <pc:docMk/>
          <pc:sldMk cId="3518893759" sldId="300"/>
        </pc:sldMkLst>
        <pc:spChg chg="mod">
          <ac:chgData name="Oisin Cawley" userId="6b66d80f-e52a-4eb8-b588-9059f489afa4" providerId="ADAL" clId="{E76ECCB1-30AB-4174-945A-6B93868B4DB4}" dt="2025-11-24T10:19:12.944" v="17" actId="113"/>
          <ac:spMkLst>
            <pc:docMk/>
            <pc:sldMk cId="3518893759" sldId="300"/>
            <ac:spMk id="3" creationId="{00000000-0000-0000-0000-000000000000}"/>
          </ac:spMkLst>
        </pc:spChg>
      </pc:sldChg>
      <pc:sldChg chg="delSp modSp delAnim modAnim modNotesTx">
        <pc:chgData name="Oisin Cawley" userId="6b66d80f-e52a-4eb8-b588-9059f489afa4" providerId="ADAL" clId="{E76ECCB1-30AB-4174-945A-6B93868B4DB4}" dt="2025-11-24T10:30:27.420" v="43" actId="20577"/>
        <pc:sldMkLst>
          <pc:docMk/>
          <pc:sldMk cId="1435635908" sldId="303"/>
        </pc:sldMkLst>
        <pc:spChg chg="mod">
          <ac:chgData name="Oisin Cawley" userId="6b66d80f-e52a-4eb8-b588-9059f489afa4" providerId="ADAL" clId="{E76ECCB1-30AB-4174-945A-6B93868B4DB4}" dt="2025-11-24T10:30:27.420" v="43" actId="20577"/>
          <ac:spMkLst>
            <pc:docMk/>
            <pc:sldMk cId="1435635908" sldId="303"/>
            <ac:spMk id="3" creationId="{00000000-0000-0000-0000-000000000000}"/>
          </ac:spMkLst>
        </pc:spChg>
        <pc:picChg chg="mod">
          <ac:chgData name="Oisin Cawley" userId="6b66d80f-e52a-4eb8-b588-9059f489afa4" providerId="ADAL" clId="{E76ECCB1-30AB-4174-945A-6B93868B4DB4}" dt="2025-11-24T10:30:23.599" v="39" actId="1076"/>
          <ac:picMkLst>
            <pc:docMk/>
            <pc:sldMk cId="1435635908" sldId="303"/>
            <ac:picMk id="5" creationId="{00000000-0000-0000-0000-000000000000}"/>
          </ac:picMkLst>
        </pc:picChg>
        <pc:picChg chg="del">
          <ac:chgData name="Oisin Cawley" userId="6b66d80f-e52a-4eb8-b588-9059f489afa4" providerId="ADAL" clId="{E76ECCB1-30AB-4174-945A-6B93868B4DB4}" dt="2025-11-24T10:30:02.039" v="36" actId="478"/>
          <ac:picMkLst>
            <pc:docMk/>
            <pc:sldMk cId="1435635908" sldId="303"/>
            <ac:picMk id="6" creationId="{00000000-0000-0000-0000-000000000000}"/>
          </ac:picMkLst>
        </pc:picChg>
      </pc:sldChg>
      <pc:sldChg chg="delSp modSp add modAnim">
        <pc:chgData name="Oisin Cawley" userId="6b66d80f-e52a-4eb8-b588-9059f489afa4" providerId="ADAL" clId="{E76ECCB1-30AB-4174-945A-6B93868B4DB4}" dt="2025-11-24T10:32:45.444" v="53" actId="1076"/>
        <pc:sldMkLst>
          <pc:docMk/>
          <pc:sldMk cId="2121579422" sldId="308"/>
        </pc:sldMkLst>
        <pc:spChg chg="mod">
          <ac:chgData name="Oisin Cawley" userId="6b66d80f-e52a-4eb8-b588-9059f489afa4" providerId="ADAL" clId="{E76ECCB1-30AB-4174-945A-6B93868B4DB4}" dt="2025-11-24T10:32:39.032" v="52" actId="20577"/>
          <ac:spMkLst>
            <pc:docMk/>
            <pc:sldMk cId="2121579422" sldId="308"/>
            <ac:spMk id="3" creationId="{00000000-0000-0000-0000-000000000000}"/>
          </ac:spMkLst>
        </pc:spChg>
        <pc:picChg chg="del">
          <ac:chgData name="Oisin Cawley" userId="6b66d80f-e52a-4eb8-b588-9059f489afa4" providerId="ADAL" clId="{E76ECCB1-30AB-4174-945A-6B93868B4DB4}" dt="2025-11-24T10:31:18.107" v="44" actId="478"/>
          <ac:picMkLst>
            <pc:docMk/>
            <pc:sldMk cId="2121579422" sldId="308"/>
            <ac:picMk id="5" creationId="{00000000-0000-0000-0000-000000000000}"/>
          </ac:picMkLst>
        </pc:picChg>
        <pc:picChg chg="mod">
          <ac:chgData name="Oisin Cawley" userId="6b66d80f-e52a-4eb8-b588-9059f489afa4" providerId="ADAL" clId="{E76ECCB1-30AB-4174-945A-6B93868B4DB4}" dt="2025-11-24T10:32:45.444" v="53" actId="1076"/>
          <ac:picMkLst>
            <pc:docMk/>
            <pc:sldMk cId="2121579422" sldId="308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has linear time complexity:  O(N)</a:t>
            </a:r>
          </a:p>
          <a:p>
            <a:r>
              <a:rPr lang="en-US" dirty="0"/>
              <a:t>Binary search has logarithmic time complexity: O(log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if </a:t>
            </a:r>
            <a:r>
              <a:rPr lang="en-US" sz="1200" kern="1200" dirty="0" err="1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b</a:t>
            </a:r>
            <a:r>
              <a:rPr lang="en-US" sz="1200" kern="1200" baseline="30000" dirty="0" err="1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x</a:t>
            </a:r>
            <a:r>
              <a:rPr lang="en-US" sz="1200" kern="1200" dirty="0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 = n, then </a:t>
            </a:r>
            <a:r>
              <a:rPr lang="en-US" sz="1200" kern="1200" dirty="0" err="1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log</a:t>
            </a:r>
            <a:r>
              <a:rPr lang="en-US" sz="1200" kern="1200" baseline="-25000" dirty="0" err="1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b</a:t>
            </a:r>
            <a:r>
              <a:rPr lang="en-US" sz="1200" kern="1200" dirty="0" err="1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n</a:t>
            </a:r>
            <a:r>
              <a:rPr lang="en-US" sz="1200" kern="1200" dirty="0">
                <a:solidFill>
                  <a:schemeClr val="bg1"/>
                </a:solidFill>
                <a:latin typeface="Calibri" pitchFamily="34" charset="0"/>
                <a:ea typeface="+mn-ea"/>
                <a:cs typeface="Calibri" pitchFamily="34" charset="0"/>
              </a:rPr>
              <a:t> = x</a:t>
            </a:r>
          </a:p>
          <a:p>
            <a:r>
              <a:rPr lang="en-US" dirty="0"/>
              <a:t>If b=2 and</a:t>
            </a:r>
            <a:r>
              <a:rPr lang="en-US" baseline="0" dirty="0"/>
              <a:t> n=no. of nodes then we are simply figuring out how many times we need to split the tree in half.</a:t>
            </a:r>
            <a:endParaRPr lang="en-US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60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84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Under Attack? -&gt;	Yes	-&gt; Defend</a:t>
            </a:r>
          </a:p>
          <a:p>
            <a:r>
              <a:rPr lang="en-IE" dirty="0"/>
              <a:t>	</a:t>
            </a:r>
            <a:r>
              <a:rPr lang="en-IE" baseline="0" dirty="0"/>
              <a:t>	No	-&gt; Toss a coin -&gt; 	H	-&gt; Patrol</a:t>
            </a:r>
          </a:p>
          <a:p>
            <a:r>
              <a:rPr lang="en-IE" baseline="0" dirty="0"/>
              <a:t>					T	-&gt; Stand still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39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>
                <a:cs typeface="Courier New" pitchFamily="49" charset="0"/>
              </a:rPr>
              <a:t>ID3: https://link.springer.com/content/pdf/10.1007/BF00116251.pdf</a:t>
            </a:r>
          </a:p>
          <a:p>
            <a:r>
              <a:rPr lang="en-IE" sz="1200" dirty="0">
                <a:cs typeface="Courier New" pitchFamily="49" charset="0"/>
              </a:rPr>
              <a:t>https://medium.com/machine-learning-guy/an-introduction-to-decision-tree-learning-id3-algorithm-54c74eb2ad55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81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13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5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negate the values since if you take the Log of a probability you will get a negative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50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000" b="1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Logarithm of probabilities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Since the probabilities are always between 0 and 1, the result of a log will be negative or zero (for p=1).</a:t>
            </a:r>
          </a:p>
          <a:p>
            <a:r>
              <a:rPr lang="en-US" sz="1000" b="1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Non-negative result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The negative sign in the formula cancels out the negative result of the logarithm, ensuring that the final entropy value is always greater than or equal to zero.</a:t>
            </a:r>
          </a:p>
          <a:p>
            <a:endParaRPr lang="en-IE" sz="10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75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000" b="1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Logarithm of probabilities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Since the probabilities are always between 0 and 1, the result of a log will be negative or zero (for p=1).</a:t>
            </a:r>
          </a:p>
          <a:p>
            <a:r>
              <a:rPr lang="en-US" sz="1000" b="1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Non-negative result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 The negative sign in the formula cancels out the negative result of the logarithm, ensuring that the final entropy value is always greater than or equal to zero.</a:t>
            </a:r>
          </a:p>
          <a:p>
            <a:endParaRPr lang="en-IE" sz="10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6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61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Check out the following website for calculating Information Gain: https://planetcalc.com/8421/?license=1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2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25CFA5D1-77CC-45BD-ADFE-521020C59F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CE588E76-12AB-44F8-9EA2-0A54F6316D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indent="-274320" fontAlgn="auto">
              <a:spcAft>
                <a:spcPts val="0"/>
              </a:spcAft>
              <a:defRPr/>
            </a:pPr>
            <a:endParaRPr lang="en-GB" sz="2800" dirty="0">
              <a:ea typeface="+mn-ea"/>
              <a:cs typeface="Arial" charset="0"/>
            </a:endParaRPr>
          </a:p>
          <a:p>
            <a:pPr indent="-274320" fontAlgn="auto">
              <a:spcAft>
                <a:spcPts val="0"/>
              </a:spcAft>
              <a:defRPr/>
            </a:pPr>
            <a:endParaRPr lang="en-GB" sz="2800" dirty="0">
              <a:cs typeface="Arial" charset="0"/>
            </a:endParaRPr>
          </a:p>
          <a:p>
            <a:pPr indent="-274320" algn="ctr" fontAlgn="auto">
              <a:spcAft>
                <a:spcPts val="0"/>
              </a:spcAft>
              <a:buNone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Decision Trees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 fontScale="92500" lnSpcReduction="20000"/>
          </a:bodyPr>
          <a:lstStyle/>
          <a:p>
            <a:pPr marL="58738" lvl="1" indent="11113">
              <a:buNone/>
            </a:pPr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Commonly used for NPC behavior and animation control.</a:t>
            </a:r>
          </a:p>
          <a:p>
            <a:pPr marL="401638" lvl="1" indent="-331788">
              <a:buFontTx/>
              <a:buChar char="-"/>
            </a:pPr>
            <a:r>
              <a:rPr lang="en-IE" dirty="0"/>
              <a:t>Used to solve a classification problem: </a:t>
            </a:r>
          </a:p>
          <a:p>
            <a:pPr marL="801688" lvl="2" indent="-331788">
              <a:buFontTx/>
              <a:buChar char="-"/>
            </a:pPr>
            <a:r>
              <a:rPr lang="en-IE" dirty="0"/>
              <a:t>The state of the world is a set of attributes (or features) Who I can see, how far away they are, how much energy, … </a:t>
            </a:r>
          </a:p>
          <a:p>
            <a:pPr marL="801688" lvl="2" indent="-331788">
              <a:buFontTx/>
              <a:buChar char="-"/>
            </a:pPr>
            <a:r>
              <a:rPr lang="en-IE" dirty="0"/>
              <a:t>Given any state, there is one appropriate action</a:t>
            </a:r>
          </a:p>
          <a:p>
            <a:pPr marL="58738" lvl="1" indent="11113">
              <a:buFontTx/>
              <a:buChar char="-"/>
            </a:pPr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 trees are:</a:t>
            </a:r>
          </a:p>
          <a:p>
            <a:pPr marL="798513" lvl="2" indent="-285750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 to execute in code</a:t>
            </a:r>
          </a:p>
          <a:p>
            <a:pPr marL="798513" lvl="2" indent="-285750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 to implement in a scripting language</a:t>
            </a:r>
          </a:p>
          <a:p>
            <a:pPr marL="798513" lvl="2" indent="-285750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 to understand</a:t>
            </a:r>
          </a:p>
          <a:p>
            <a:pPr marL="798513" lvl="2" indent="-285750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 to modify</a:t>
            </a:r>
          </a:p>
          <a:p>
            <a:pPr marL="798513" lvl="2" indent="-285750"/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used for 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4169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are usually binary trees</a:t>
            </a:r>
          </a:p>
          <a:p>
            <a:pPr lvl="2"/>
            <a:r>
              <a:rPr lang="en-IE" dirty="0"/>
              <a:t>Nodes represent attribute tests</a:t>
            </a:r>
          </a:p>
          <a:p>
            <a:pPr lvl="2"/>
            <a:r>
              <a:rPr lang="en-IE" dirty="0"/>
              <a:t>One child for each possible outcome of the test</a:t>
            </a:r>
          </a:p>
          <a:p>
            <a:pPr lvl="2"/>
            <a:r>
              <a:rPr lang="en-IE" dirty="0"/>
              <a:t>Leaves represent classifications (actions)</a:t>
            </a:r>
          </a:p>
          <a:p>
            <a:pPr lvl="2"/>
            <a:r>
              <a:rPr lang="en-IE" dirty="0"/>
              <a:t>Can have the same classification for several leaves 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decision node has two child nodes</a:t>
            </a: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node represents either:</a:t>
            </a:r>
          </a:p>
          <a:p>
            <a:pPr lvl="2"/>
            <a:r>
              <a:rPr lang="en-US" sz="2600" dirty="0"/>
              <a:t>an </a:t>
            </a:r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 Decision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3049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action is a call to th</a:t>
            </a:r>
            <a:r>
              <a:rPr lang="en-US" dirty="0"/>
              <a:t>e </a:t>
            </a:r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 engine API</a:t>
            </a: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API defines callable functions in a game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e.g. </a:t>
            </a:r>
            <a:r>
              <a:rPr lang="en-US" sz="26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ShootAt(location</a:t>
            </a:r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en-US" sz="26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MoveTo(Position</a:t>
            </a:r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etc.</a:t>
            </a: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 node is a leaf node</a:t>
            </a:r>
          </a:p>
          <a:p>
            <a:pPr lvl="1"/>
            <a:r>
              <a:rPr lang="en-US" dirty="0"/>
              <a:t>Multiple leaf nodes can have the same action</a:t>
            </a:r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864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Binary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execute a decision tree we start at the root node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Evaluate the decision in the node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Chose which node to move to based on the outcome of the decision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 to child node and repeat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stop when we reach an action node, where we perform the associated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9877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are obviously true/false nodes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typically only two outcomes</a:t>
            </a: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 decisions will be based on game variables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(global or local)</a:t>
            </a:r>
            <a:endParaRPr lang="en-US" dirty="0"/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variables can have different types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Enumeration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</a:t>
            </a:r>
          </a:p>
          <a:p>
            <a:pPr lvl="2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4182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Tree for Quake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4186808" cy="5399806"/>
          </a:xfrm>
        </p:spPr>
        <p:txBody>
          <a:bodyPr>
            <a:normAutofit fontScale="85000" lnSpcReduction="20000"/>
          </a:bodyPr>
          <a:lstStyle/>
          <a:p>
            <a:pPr marL="228600" lvl="1" indent="-228600">
              <a:buFont typeface="Wingdings" pitchFamily="2" charset="2"/>
              <a:buChar char="§"/>
            </a:pPr>
            <a:r>
              <a:rPr lang="en-IE" dirty="0"/>
              <a:t>Just one tree </a:t>
            </a:r>
          </a:p>
          <a:p>
            <a:pPr marL="228600" lvl="1" indent="-228600">
              <a:buFont typeface="Wingdings" pitchFamily="2" charset="2"/>
              <a:buChar char="§"/>
            </a:pPr>
            <a:r>
              <a:rPr lang="en-IE" dirty="0"/>
              <a:t>Attributes: Enemy=&lt;</a:t>
            </a:r>
            <a:r>
              <a:rPr lang="en-IE" dirty="0" err="1"/>
              <a:t>t,f</a:t>
            </a:r>
            <a:r>
              <a:rPr lang="en-IE" dirty="0"/>
              <a:t>&gt; Low=&lt;</a:t>
            </a:r>
            <a:r>
              <a:rPr lang="en-IE" dirty="0" err="1"/>
              <a:t>t,f</a:t>
            </a:r>
            <a:r>
              <a:rPr lang="en-IE" dirty="0"/>
              <a:t>&gt; Sound=&lt;</a:t>
            </a:r>
            <a:r>
              <a:rPr lang="en-IE" dirty="0" err="1"/>
              <a:t>t,f</a:t>
            </a:r>
            <a:r>
              <a:rPr lang="en-IE" dirty="0"/>
              <a:t>&gt;  Death=&lt;</a:t>
            </a:r>
            <a:r>
              <a:rPr lang="en-IE" dirty="0" err="1"/>
              <a:t>t,f</a:t>
            </a:r>
            <a:r>
              <a:rPr lang="en-IE" dirty="0"/>
              <a:t>&gt; </a:t>
            </a:r>
          </a:p>
          <a:p>
            <a:pPr marL="228600" lvl="1" indent="-228600">
              <a:buFont typeface="Wingdings" pitchFamily="2" charset="2"/>
              <a:buChar char="§"/>
            </a:pPr>
            <a:r>
              <a:rPr lang="en-IE" dirty="0"/>
              <a:t>Actions: Attack, Retreat, Chase, Spawn, Wander </a:t>
            </a:r>
          </a:p>
          <a:p>
            <a:pPr marL="228600" lvl="1" indent="-228600">
              <a:buFont typeface="Wingdings" pitchFamily="2" charset="2"/>
              <a:buChar char="§"/>
            </a:pPr>
            <a:r>
              <a:rPr lang="en-IE" dirty="0"/>
              <a:t>Could add additional trees: </a:t>
            </a:r>
          </a:p>
          <a:p>
            <a:pPr marL="685800" lvl="3">
              <a:buFont typeface="Wingdings" pitchFamily="2" charset="2"/>
              <a:buChar char="§"/>
            </a:pPr>
            <a:r>
              <a:rPr lang="en-IE" sz="2600" dirty="0"/>
              <a:t>If I’m attacking, which weapon should I use? </a:t>
            </a:r>
          </a:p>
          <a:p>
            <a:pPr marL="685800" lvl="3">
              <a:buFont typeface="Wingdings" pitchFamily="2" charset="2"/>
              <a:buChar char="§"/>
            </a:pPr>
            <a:r>
              <a:rPr lang="en-IE" sz="2600" dirty="0"/>
              <a:t>If I’m wandering, which way should I go? </a:t>
            </a:r>
          </a:p>
          <a:p>
            <a:pPr marL="685800" lvl="3">
              <a:buFont typeface="Wingdings" pitchFamily="2" charset="2"/>
              <a:buChar char="§"/>
            </a:pPr>
            <a:r>
              <a:rPr lang="en-IE" sz="2600" dirty="0"/>
              <a:t>Can be thought of as just extending given tree (but easier to design) </a:t>
            </a:r>
          </a:p>
          <a:p>
            <a:pPr marL="685800" lvl="3">
              <a:buFont typeface="Wingdings" pitchFamily="2" charset="2"/>
              <a:buChar char="§"/>
            </a:pPr>
            <a:r>
              <a:rPr lang="en-IE" sz="2600" dirty="0"/>
              <a:t>Or, can share pieces of tree, such as a Retreat sub-tree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9271" y="1556792"/>
            <a:ext cx="44672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213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kern="1200" baseline="0" dirty="0">
                <a:solidFill>
                  <a:schemeClr val="tx1"/>
                </a:solidFill>
              </a:rPr>
              <a:t>Generally we do not allow compound propositions</a:t>
            </a:r>
          </a:p>
          <a:p>
            <a:pPr lvl="2"/>
            <a:r>
              <a:rPr lang="en-IE" sz="2600" kern="1200" baseline="0" dirty="0">
                <a:solidFill>
                  <a:schemeClr val="tx1"/>
                </a:solidFill>
              </a:rPr>
              <a:t>Propositions containing AND, OR connectives</a:t>
            </a:r>
          </a:p>
          <a:p>
            <a:pPr lvl="1"/>
            <a:r>
              <a:rPr lang="en-IE" sz="2800" kern="1200" baseline="0" dirty="0">
                <a:solidFill>
                  <a:schemeClr val="tx1"/>
                </a:solidFill>
              </a:rPr>
              <a:t>This makes them more readable</a:t>
            </a:r>
          </a:p>
          <a:p>
            <a:pPr lvl="2"/>
            <a:r>
              <a:rPr lang="en-IE" sz="2600" kern="1200" baseline="0" dirty="0">
                <a:solidFill>
                  <a:schemeClr val="tx1"/>
                </a:solidFill>
              </a:rPr>
              <a:t>But requires bigger decision trees</a:t>
            </a:r>
          </a:p>
          <a:p>
            <a:pPr lvl="2"/>
            <a:r>
              <a:rPr lang="en-IE" sz="2600" dirty="0"/>
              <a:t>However, not all decisions will be examined</a:t>
            </a:r>
            <a:endParaRPr lang="en-IE" sz="2600" kern="1200" baseline="0" dirty="0">
              <a:solidFill>
                <a:schemeClr val="tx1"/>
              </a:solidFill>
            </a:endParaRPr>
          </a:p>
          <a:p>
            <a:pPr lvl="1"/>
            <a:r>
              <a:rPr lang="en-IE" sz="2800" kern="1200" baseline="0" dirty="0">
                <a:solidFill>
                  <a:schemeClr val="tx1"/>
                </a:solidFill>
              </a:rPr>
              <a:t>Entire tree can be translated directly into if-else statements</a:t>
            </a:r>
          </a:p>
          <a:p>
            <a:pPr lvl="1"/>
            <a:endParaRPr lang="en-IE" sz="2400" kern="1200" baseline="0" dirty="0">
              <a:solidFill>
                <a:schemeClr val="tx1"/>
              </a:solidFill>
            </a:endParaRPr>
          </a:p>
          <a:p>
            <a:pPr lvl="1"/>
            <a:endParaRPr lang="en-IE" dirty="0"/>
          </a:p>
          <a:p>
            <a:pPr lvl="1"/>
            <a:r>
              <a:rPr lang="en-IE" dirty="0"/>
              <a:t>In OO game engines, the DT can delegate more complex processing to (optimised?) methods of instances</a:t>
            </a:r>
          </a:p>
          <a:p>
            <a:pPr lvl="2"/>
            <a:r>
              <a:rPr lang="en-IE" dirty="0"/>
              <a:t>This leaves the DT to maintain the simple decision making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9213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Balanced binary trees are more efficient</a:t>
            </a:r>
          </a:p>
          <a:p>
            <a:pPr lvl="1"/>
            <a:r>
              <a:rPr lang="en-US" sz="2400" dirty="0"/>
              <a:t>Why?</a:t>
            </a:r>
          </a:p>
          <a:p>
            <a:r>
              <a:rPr lang="en-US" sz="2800" dirty="0"/>
              <a:t>Try to keep trees balanced if possible</a:t>
            </a:r>
          </a:p>
          <a:p>
            <a:r>
              <a:rPr lang="en-US" sz="2800" dirty="0"/>
              <a:t>Binary decision trees are about as efficient as more complex decision trees</a:t>
            </a:r>
          </a:p>
          <a:p>
            <a:r>
              <a:rPr lang="en-US" sz="2800" dirty="0"/>
              <a:t>However, for games AI, it may not be so simple</a:t>
            </a:r>
          </a:p>
          <a:p>
            <a:pPr lvl="1"/>
            <a:r>
              <a:rPr lang="en-US" sz="2400" dirty="0"/>
              <a:t>not all decisions are equal </a:t>
            </a:r>
          </a:p>
          <a:p>
            <a:pPr lvl="2">
              <a:buNone/>
            </a:pPr>
            <a:r>
              <a:rPr lang="en-US" sz="2000" dirty="0"/>
              <a:t>e.g. is there an enemy within my LOS?</a:t>
            </a:r>
          </a:p>
          <a:p>
            <a:pPr lvl="2"/>
            <a:r>
              <a:rPr lang="en-US" sz="2000" dirty="0"/>
              <a:t>put it further down the tree </a:t>
            </a:r>
            <a:r>
              <a:rPr lang="en-US" sz="1800" dirty="0"/>
              <a:t>(even if it causes an unbalance)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639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Hard Coding</a:t>
            </a:r>
          </a:p>
          <a:p>
            <a:r>
              <a:rPr lang="en-US" dirty="0"/>
              <a:t>They can be implemented directly as a series of if-</a:t>
            </a:r>
            <a:r>
              <a:rPr lang="en-US" dirty="0" err="1"/>
              <a:t>elseif</a:t>
            </a:r>
            <a:r>
              <a:rPr lang="en-US" dirty="0"/>
              <a:t> statements</a:t>
            </a:r>
          </a:p>
          <a:p>
            <a:r>
              <a:rPr lang="en-US" dirty="0"/>
              <a:t>Nested inside each other</a:t>
            </a:r>
          </a:p>
          <a:p>
            <a:r>
              <a:rPr lang="en-US" dirty="0"/>
              <a:t>Very simple to do</a:t>
            </a:r>
          </a:p>
          <a:p>
            <a:r>
              <a:rPr lang="en-US" dirty="0"/>
              <a:t>Can be messy if rules change over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9953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Tree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r>
              <a:rPr lang="en-US" sz="2800" dirty="0"/>
              <a:t>A decision tree consists of nodes</a:t>
            </a:r>
          </a:p>
          <a:p>
            <a:pPr marL="354013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DTNode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54013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makeDecision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//recursively</a:t>
            </a:r>
            <a:r>
              <a:rPr lang="en-US" sz="180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walks the tree!</a:t>
            </a:r>
          </a:p>
          <a:p>
            <a:pPr lvl="1"/>
            <a:endParaRPr lang="en-US" sz="2400" dirty="0"/>
          </a:p>
          <a:p>
            <a:r>
              <a:rPr lang="en-US" sz="2800" dirty="0" err="1"/>
              <a:t>DTNode</a:t>
            </a:r>
            <a:r>
              <a:rPr lang="en-US" sz="2800" dirty="0"/>
              <a:t> has two subtypes/sub classes:</a:t>
            </a:r>
          </a:p>
          <a:p>
            <a:pPr lvl="1"/>
            <a:r>
              <a:rPr lang="en-US" sz="2400" dirty="0"/>
              <a:t>Decision node</a:t>
            </a:r>
          </a:p>
          <a:p>
            <a:pPr lvl="1"/>
            <a:r>
              <a:rPr lang="en-US" sz="2400" dirty="0"/>
              <a:t>Action Node</a:t>
            </a:r>
          </a:p>
          <a:p>
            <a:r>
              <a:rPr lang="en-US" sz="2800" dirty="0"/>
              <a:t>An action node simply contains the action to perform if we get there</a:t>
            </a:r>
          </a:p>
          <a:p>
            <a:pPr marL="354013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Action:</a:t>
            </a:r>
          </a:p>
          <a:p>
            <a:pPr marL="354013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makeDecision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1349375" indent="-45720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34267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Decision(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DTNode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trueDTNode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//if True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falseDTNode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//if False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testValue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getBranch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makeDecision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DTNode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Branch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getBranch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6576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Branch.makeDecision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C5A75E2-6436-40AA-B12A-9DF49188F8EA}"/>
              </a:ext>
            </a:extLst>
          </p:cNvPr>
          <p:cNvSpPr/>
          <p:nvPr/>
        </p:nvSpPr>
        <p:spPr>
          <a:xfrm>
            <a:off x="6552642" y="1484784"/>
            <a:ext cx="1944216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Pointers to other tree nodes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9418169-567F-4F98-8344-F2B4C40F2631}"/>
              </a:ext>
            </a:extLst>
          </p:cNvPr>
          <p:cNvSpPr/>
          <p:nvPr/>
        </p:nvSpPr>
        <p:spPr>
          <a:xfrm>
            <a:off x="5940152" y="1628800"/>
            <a:ext cx="504056" cy="7920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767B7A05-1A78-46B0-893F-0712F30774C4}"/>
              </a:ext>
            </a:extLst>
          </p:cNvPr>
          <p:cNvSpPr/>
          <p:nvPr/>
        </p:nvSpPr>
        <p:spPr>
          <a:xfrm>
            <a:off x="6098058" y="2688890"/>
            <a:ext cx="2398799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Internal or external knowledge to be tested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C07C15-37DB-4D77-AEA6-55496763648A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275856" y="2688890"/>
            <a:ext cx="2822202" cy="396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01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may need to subclass the Decision</a:t>
            </a:r>
            <a:r>
              <a:rPr lang="en-US" baseline="0" dirty="0"/>
              <a:t> nodes for each different type of test</a:t>
            </a:r>
          </a:p>
          <a:p>
            <a:pPr lvl="1"/>
            <a:r>
              <a:rPr lang="en-US" dirty="0"/>
              <a:t>Equality, in</a:t>
            </a:r>
            <a:r>
              <a:rPr lang="en-US" baseline="0" dirty="0"/>
              <a:t> range, etc.</a:t>
            </a:r>
          </a:p>
          <a:p>
            <a:pPr marL="457200" lvl="1" indent="0">
              <a:buNone/>
            </a:pPr>
            <a:r>
              <a:rPr lang="en-US" baseline="0" dirty="0"/>
              <a:t>e.g.</a:t>
            </a: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FloatDecision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(Decision):</a:t>
            </a: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minValue</a:t>
            </a:r>
            <a:endParaRPr lang="en-I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maxValue</a:t>
            </a:r>
            <a:endParaRPr lang="en-I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getBranch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maxValue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testValue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minValue</a:t>
            </a: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trueDTNode</a:t>
            </a:r>
            <a:endParaRPr lang="en-I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else:</a:t>
            </a:r>
          </a:p>
          <a:p>
            <a:pPr marL="400050" lvl="1" indent="0">
              <a:buNone/>
            </a:pPr>
            <a:r>
              <a:rPr lang="en-I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I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falseDTNode</a:t>
            </a:r>
            <a:endParaRPr lang="en-US" sz="800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22234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Action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sz="2800" dirty="0"/>
              <a:t>An action node simply contains the action to perform if we get there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68580" lvl="0" indent="0">
              <a:buNone/>
            </a:pP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marL="68580" lvl="0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ActionNode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DTNode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marL="68580" lvl="0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makeDecision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68580" lvl="0" indent="0">
              <a:buNone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doAction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68580" lvl="0" indent="0">
              <a:buNone/>
            </a:pPr>
            <a:endParaRPr lang="en-US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5861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Random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dirty="0"/>
              <a:t>We can use randomness to make behaviour less mechanical/predictable</a:t>
            </a:r>
          </a:p>
          <a:p>
            <a:pPr lvl="2"/>
            <a:r>
              <a:rPr lang="en-IE" dirty="0"/>
              <a:t>Toss a coin to decide what branch to take.</a:t>
            </a:r>
          </a:p>
          <a:p>
            <a:pPr lvl="2"/>
            <a:r>
              <a:rPr lang="en-IE" dirty="0"/>
              <a:t>However, watch out for odd behaviour if executing with high frequency</a:t>
            </a:r>
          </a:p>
          <a:p>
            <a:pPr lvl="2"/>
            <a:r>
              <a:rPr lang="en-IE" dirty="0"/>
              <a:t>Store last choice and maintain this choice</a:t>
            </a:r>
          </a:p>
          <a:p>
            <a:pPr lvl="2"/>
            <a:r>
              <a:rPr lang="en-IE" dirty="0"/>
              <a:t>At some stage a different  decision will force another action -&gt; remove old choice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Random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E" sz="24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RandomDecision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(Decision):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lastFrame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= -1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lastDecision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= false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def test():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	if frame() &gt; 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lastFrame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+ 1: # old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		# Make a new decision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lastDecision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randomBoolean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lastFrame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 = frame() # 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curr</a:t>
            </a:r>
            <a:r>
              <a:rPr lang="en-IE" sz="2400" dirty="0">
                <a:latin typeface="Courier New" pitchFamily="49" charset="0"/>
                <a:cs typeface="Courier New" pitchFamily="49" charset="0"/>
              </a:rPr>
              <a:t>. frame num.</a:t>
            </a:r>
          </a:p>
          <a:p>
            <a:pPr>
              <a:buNone/>
            </a:pPr>
            <a:r>
              <a:rPr lang="en-IE" sz="2400" dirty="0">
                <a:latin typeface="Courier New" pitchFamily="49" charset="0"/>
                <a:cs typeface="Courier New" pitchFamily="49" charset="0"/>
              </a:rPr>
              <a:t>		return </a:t>
            </a:r>
            <a:r>
              <a:rPr lang="en-IE" sz="2400" dirty="0" err="1">
                <a:latin typeface="Courier New" pitchFamily="49" charset="0"/>
                <a:cs typeface="Courier New" pitchFamily="49" charset="0"/>
              </a:rPr>
              <a:t>lastDecision</a:t>
            </a:r>
            <a:endParaRPr lang="en-IE" sz="8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  <p:sp>
        <p:nvSpPr>
          <p:cNvPr id="5" name="Rounded Rectangle 4"/>
          <p:cNvSpPr/>
          <p:nvPr/>
        </p:nvSpPr>
        <p:spPr>
          <a:xfrm>
            <a:off x="6588224" y="2132856"/>
            <a:ext cx="1944216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 frame  # instead of decision variable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788024" y="2672916"/>
            <a:ext cx="1800200" cy="75608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Random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dirty="0">
                <a:cs typeface="Courier New" pitchFamily="49" charset="0"/>
              </a:rPr>
              <a:t>NPC may start looking dumb if continuously doing the same thing</a:t>
            </a:r>
          </a:p>
          <a:p>
            <a:r>
              <a:rPr lang="en-IE" sz="2800" dirty="0">
                <a:cs typeface="Courier New" pitchFamily="49" charset="0"/>
              </a:rPr>
              <a:t>Add a timeout to the decision making algorithm</a:t>
            </a:r>
          </a:p>
          <a:p>
            <a:endParaRPr lang="en-IE" sz="2800" dirty="0">
              <a:cs typeface="Courier New" pitchFamily="49" charset="0"/>
            </a:endParaRPr>
          </a:p>
          <a:p>
            <a:r>
              <a:rPr lang="en-IE" sz="2800" dirty="0">
                <a:cs typeface="Courier New" pitchFamily="49" charset="0"/>
              </a:rPr>
              <a:t>Can we still see a recurring pattern?</a:t>
            </a:r>
          </a:p>
          <a:p>
            <a:pPr lvl="1"/>
            <a:r>
              <a:rPr lang="en-IE" dirty="0">
                <a:cs typeface="Courier New" pitchFamily="49" charset="0"/>
              </a:rPr>
              <a:t> add a random timeout!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Building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400" dirty="0">
                <a:cs typeface="Courier New" pitchFamily="49" charset="0"/>
              </a:rPr>
              <a:t>Decision trees can be constructed by hand</a:t>
            </a:r>
          </a:p>
          <a:p>
            <a:pPr lvl="1"/>
            <a:r>
              <a:rPr lang="en-IE" sz="2000" dirty="0">
                <a:cs typeface="Courier New" pitchFamily="49" charset="0"/>
              </a:rPr>
              <a:t>But how do I decide which decisions should be made?</a:t>
            </a:r>
          </a:p>
          <a:p>
            <a:endParaRPr lang="en-IE" sz="2400" dirty="0">
              <a:cs typeface="Courier New" pitchFamily="49" charset="0"/>
            </a:endParaRPr>
          </a:p>
          <a:p>
            <a:r>
              <a:rPr lang="en-IE" sz="2400" dirty="0">
                <a:cs typeface="Courier New" pitchFamily="49" charset="0"/>
              </a:rPr>
              <a:t>Decision trees are typically learned:</a:t>
            </a:r>
          </a:p>
          <a:p>
            <a:pPr lvl="1"/>
            <a:r>
              <a:rPr lang="en-IE" sz="2000" dirty="0">
                <a:cs typeface="Courier New" pitchFamily="49" charset="0"/>
              </a:rPr>
              <a:t>Why? We don’t know how to decide on an action, so let the computer do the work</a:t>
            </a:r>
          </a:p>
          <a:p>
            <a:pPr lvl="1"/>
            <a:r>
              <a:rPr lang="en-IE" sz="2000" dirty="0">
                <a:cs typeface="Courier New" pitchFamily="49" charset="0"/>
              </a:rPr>
              <a:t>Provide examples: many sets of attribute values and resulting actions</a:t>
            </a:r>
          </a:p>
          <a:p>
            <a:pPr lvl="1"/>
            <a:r>
              <a:rPr lang="en-IE" sz="2000" dirty="0">
                <a:cs typeface="Courier New" pitchFamily="49" charset="0"/>
              </a:rPr>
              <a:t>An algorithm then constructs a tree from the examples e.g. ID3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400" dirty="0"/>
              <a:t>ID3 is a basic learning algorithm created by Ross Quinlan in 1986 “Induction of Decision Trees”</a:t>
            </a:r>
          </a:p>
          <a:p>
            <a:r>
              <a:rPr lang="en-IE" sz="2400" dirty="0"/>
              <a:t>C4.5 and now C5.0 are updated and extended versions (look them up if you like) </a:t>
            </a:r>
          </a:p>
          <a:p>
            <a:r>
              <a:rPr lang="en-IE" sz="2400" dirty="0">
                <a:cs typeface="Courier New" pitchFamily="49" charset="0"/>
              </a:rPr>
              <a:t>A </a:t>
            </a:r>
            <a:r>
              <a:rPr lang="en-IE" sz="2400" b="1" dirty="0">
                <a:cs typeface="Courier New" pitchFamily="49" charset="0"/>
              </a:rPr>
              <a:t>classification solving algorithm</a:t>
            </a:r>
          </a:p>
          <a:p>
            <a:pPr lvl="1"/>
            <a:r>
              <a:rPr lang="en-US" sz="2000" dirty="0">
                <a:cs typeface="Courier New" pitchFamily="49" charset="0"/>
              </a:rPr>
              <a:t>If we have categorical data, for example: hot, mild, and cold.</a:t>
            </a:r>
          </a:p>
          <a:p>
            <a:pPr lvl="1"/>
            <a:r>
              <a:rPr lang="en-US" sz="2000" dirty="0">
                <a:cs typeface="Courier New" pitchFamily="49" charset="0"/>
              </a:rPr>
              <a:t>If we have attribute-value pairs of data, for example: an attribute ‘temperature’ may have some discrete values ‘hot’, ‘mild’, and ‘cold’.</a:t>
            </a:r>
          </a:p>
          <a:p>
            <a:pPr lvl="1"/>
            <a:r>
              <a:rPr lang="en-US" sz="2000" dirty="0">
                <a:cs typeface="Courier New" pitchFamily="49" charset="0"/>
              </a:rPr>
              <a:t>If the objective value has discrete output values, for example ‘yes’, or ‘no’</a:t>
            </a:r>
          </a:p>
          <a:p>
            <a:r>
              <a:rPr lang="en-IE" sz="2400" dirty="0">
                <a:cs typeface="Courier New" pitchFamily="49" charset="0"/>
              </a:rPr>
              <a:t>Given some </a:t>
            </a:r>
            <a:r>
              <a:rPr lang="en-IE" sz="2400" b="1" dirty="0">
                <a:cs typeface="Courier New" pitchFamily="49" charset="0"/>
              </a:rPr>
              <a:t>sample data</a:t>
            </a:r>
            <a:r>
              <a:rPr lang="en-IE" sz="2400" dirty="0">
                <a:cs typeface="Courier New" pitchFamily="49" charset="0"/>
              </a:rPr>
              <a:t>, ID3 Learns the decision tree by constructing it top-down.</a:t>
            </a:r>
          </a:p>
          <a:p>
            <a:pPr lvl="1"/>
            <a:r>
              <a:rPr lang="en-IE" sz="2000" dirty="0">
                <a:cs typeface="Courier New" pitchFamily="49" charset="0"/>
              </a:rPr>
              <a:t>Starting with the question “Which attribute should be tested at the root of the tree?”</a:t>
            </a:r>
          </a:p>
          <a:p>
            <a:pPr lvl="2"/>
            <a:endParaRPr lang="en-IE" sz="16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1889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>
                <a:cs typeface="Courier New" pitchFamily="49" charset="0"/>
              </a:rPr>
              <a:t>At each step in the algorithm, decide which attribute best classifies (divides up) the training data at that point.</a:t>
            </a:r>
          </a:p>
          <a:p>
            <a:pPr marL="0" indent="0">
              <a:buNone/>
            </a:pPr>
            <a:r>
              <a:rPr lang="en-IE" sz="2400" dirty="0">
                <a:cs typeface="Courier New" pitchFamily="49" charset="0"/>
              </a:rPr>
              <a:t>We end up with a tree structure representing a hypothesis which works best for that training data.</a:t>
            </a:r>
          </a:p>
          <a:p>
            <a:pPr marL="0" indent="0">
              <a:buNone/>
            </a:pPr>
            <a:r>
              <a:rPr lang="en-IE" sz="2400" dirty="0">
                <a:cs typeface="Courier New" pitchFamily="49" charset="0"/>
              </a:rPr>
              <a:t>But what is a good quantitative measure of the worth of an attribute?</a:t>
            </a: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85725" indent="-85725">
              <a:buNone/>
            </a:pPr>
            <a:r>
              <a:rPr lang="en-US" sz="2400" dirty="0">
                <a:cs typeface="Courier New" pitchFamily="49" charset="0"/>
              </a:rPr>
              <a:t>“</a:t>
            </a:r>
            <a:r>
              <a:rPr lang="en-US" sz="2400" i="1" dirty="0">
                <a:solidFill>
                  <a:srgbClr val="FF0000"/>
                </a:solidFill>
                <a:cs typeface="Courier New" pitchFamily="49" charset="0"/>
              </a:rPr>
              <a:t>Knowledge once gained casts a faint light beyond its own immediate boundaries</a:t>
            </a:r>
            <a:r>
              <a:rPr lang="en-US" sz="2400" dirty="0">
                <a:cs typeface="Courier New" pitchFamily="49" charset="0"/>
              </a:rPr>
              <a:t>.”</a:t>
            </a:r>
          </a:p>
          <a:p>
            <a:pPr marL="0" indent="0">
              <a:buNone/>
            </a:pPr>
            <a:r>
              <a:rPr lang="en-US" sz="2400" dirty="0">
                <a:cs typeface="Courier New" pitchFamily="49" charset="0"/>
              </a:rPr>
              <a:t>– John Tyndall 1870 </a:t>
            </a:r>
          </a:p>
          <a:p>
            <a:pPr marL="180975" indent="0">
              <a:buNone/>
            </a:pPr>
            <a:r>
              <a:rPr lang="en-US" sz="2400" dirty="0">
                <a:cs typeface="Courier New" pitchFamily="49" charset="0"/>
              </a:rPr>
              <a:t>“On the Methods and Tendencies of Physical Investigation”</a:t>
            </a:r>
            <a:endParaRPr lang="en-IE" sz="24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3445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b="1" dirty="0">
                <a:solidFill>
                  <a:srgbClr val="FF0000"/>
                </a:solidFill>
                <a:cs typeface="Courier New" pitchFamily="49" charset="0"/>
              </a:rPr>
              <a:t>Information Gain</a:t>
            </a:r>
          </a:p>
          <a:p>
            <a:r>
              <a:rPr lang="en-IE" sz="2400" dirty="0">
                <a:cs typeface="Courier New" pitchFamily="49" charset="0"/>
              </a:rPr>
              <a:t>Measures how well a given attribute separates the training examples according to their target classification</a:t>
            </a:r>
          </a:p>
          <a:p>
            <a:r>
              <a:rPr lang="en-IE" sz="2400" dirty="0">
                <a:cs typeface="Courier New" pitchFamily="49" charset="0"/>
              </a:rPr>
              <a:t>At each step ID3 picks the attribute with the highest gain</a:t>
            </a:r>
          </a:p>
          <a:p>
            <a:r>
              <a:rPr lang="en-IE" sz="2400" dirty="0">
                <a:cs typeface="Courier New" pitchFamily="49" charset="0"/>
              </a:rPr>
              <a:t>Information gain is therefore an Heuristic which we can estimate</a:t>
            </a:r>
          </a:p>
          <a:p>
            <a:r>
              <a:rPr lang="en-IE" sz="2400" dirty="0">
                <a:cs typeface="Courier New" pitchFamily="49" charset="0"/>
              </a:rPr>
              <a:t>But to understand information gain, we must understand entropy</a:t>
            </a:r>
          </a:p>
          <a:p>
            <a:endParaRPr lang="en-IE" sz="2400" dirty="0">
              <a:cs typeface="Courier New" pitchFamily="49" charset="0"/>
            </a:endParaRPr>
          </a:p>
          <a:p>
            <a:endParaRPr lang="en-IE" sz="24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36143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cs typeface="Courier New" pitchFamily="49" charset="0"/>
              </a:rPr>
              <a:t>Entropy</a:t>
            </a:r>
            <a:r>
              <a:rPr lang="en-US" sz="2400" dirty="0">
                <a:cs typeface="Courier New" pitchFamily="49" charset="0"/>
              </a:rPr>
              <a:t>: a measure of disorder in a probability distribution.</a:t>
            </a:r>
          </a:p>
          <a:p>
            <a:pPr marL="0" indent="0">
              <a:buNone/>
            </a:pPr>
            <a:r>
              <a:rPr lang="en-US" sz="2400" dirty="0">
                <a:cs typeface="Courier New" pitchFamily="49" charset="0"/>
              </a:rPr>
              <a:t>Entropy for a set of examples, S, can be given as follows, (relative to a binary classification task):</a:t>
            </a:r>
          </a:p>
          <a:p>
            <a:pPr marL="0" indent="0">
              <a:buNone/>
            </a:pPr>
            <a:endParaRPr lang="en-US" sz="2400" dirty="0"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dirty="0">
                <a:cs typeface="Courier New" pitchFamily="49" charset="0"/>
              </a:rPr>
              <a:t>	Entropy(S) = -p</a:t>
            </a:r>
            <a:r>
              <a:rPr lang="en-US" sz="2400" baseline="-25000" dirty="0">
                <a:cs typeface="Courier New" pitchFamily="49" charset="0"/>
              </a:rPr>
              <a:t>+</a:t>
            </a:r>
            <a:r>
              <a:rPr lang="en-US" sz="2400" dirty="0">
                <a:cs typeface="Courier New" pitchFamily="49" charset="0"/>
              </a:rPr>
              <a:t> log</a:t>
            </a:r>
            <a:r>
              <a:rPr lang="en-US" sz="2400" baseline="-25000" dirty="0">
                <a:cs typeface="Courier New" pitchFamily="49" charset="0"/>
              </a:rPr>
              <a:t>2</a:t>
            </a:r>
            <a:r>
              <a:rPr lang="en-US" sz="2400" dirty="0">
                <a:cs typeface="Courier New" pitchFamily="49" charset="0"/>
              </a:rPr>
              <a:t>(p</a:t>
            </a:r>
            <a:r>
              <a:rPr lang="en-US" sz="2400" baseline="-25000" dirty="0">
                <a:cs typeface="Courier New" pitchFamily="49" charset="0"/>
              </a:rPr>
              <a:t>+</a:t>
            </a:r>
            <a:r>
              <a:rPr lang="en-US" sz="2400" dirty="0">
                <a:cs typeface="Courier New" pitchFamily="49" charset="0"/>
              </a:rPr>
              <a:t>) – p</a:t>
            </a:r>
            <a:r>
              <a:rPr lang="en-US" sz="2400" baseline="-25000" dirty="0">
                <a:cs typeface="Courier New" pitchFamily="49" charset="0"/>
              </a:rPr>
              <a:t>-</a:t>
            </a:r>
            <a:r>
              <a:rPr lang="en-US" sz="2400" dirty="0">
                <a:cs typeface="Courier New" pitchFamily="49" charset="0"/>
              </a:rPr>
              <a:t>log</a:t>
            </a:r>
            <a:r>
              <a:rPr lang="en-US" sz="2400" baseline="-25000" dirty="0">
                <a:cs typeface="Courier New" pitchFamily="49" charset="0"/>
              </a:rPr>
              <a:t>2</a:t>
            </a:r>
            <a:r>
              <a:rPr lang="en-US" sz="2400" dirty="0">
                <a:cs typeface="Courier New" pitchFamily="49" charset="0"/>
              </a:rPr>
              <a:t>(p</a:t>
            </a:r>
            <a:r>
              <a:rPr lang="en-US" sz="2400" baseline="-25000" dirty="0">
                <a:cs typeface="Courier New" pitchFamily="49" charset="0"/>
              </a:rPr>
              <a:t>-</a:t>
            </a:r>
            <a:r>
              <a:rPr lang="en-US" sz="2400" dirty="0"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r>
              <a:rPr lang="en-IE" sz="2400" dirty="0">
                <a:cs typeface="Courier New" pitchFamily="49" charset="0"/>
              </a:rPr>
              <a:t>Where </a:t>
            </a:r>
            <a:r>
              <a:rPr lang="en-US" sz="2400" dirty="0">
                <a:cs typeface="Courier New" pitchFamily="49" charset="0"/>
              </a:rPr>
              <a:t>p</a:t>
            </a:r>
            <a:r>
              <a:rPr lang="en-US" sz="2400" baseline="-25000" dirty="0">
                <a:cs typeface="Courier New" pitchFamily="49" charset="0"/>
              </a:rPr>
              <a:t>+</a:t>
            </a:r>
            <a:r>
              <a:rPr lang="en-US" sz="2400" dirty="0">
                <a:cs typeface="Courier New" pitchFamily="49" charset="0"/>
              </a:rPr>
              <a:t> is the proportion of positive examples in S and p</a:t>
            </a:r>
            <a:r>
              <a:rPr lang="en-US" sz="2400" baseline="-25000" dirty="0">
                <a:cs typeface="Courier New" pitchFamily="49" charset="0"/>
              </a:rPr>
              <a:t>-</a:t>
            </a:r>
            <a:r>
              <a:rPr lang="en-US" sz="2400" dirty="0">
                <a:cs typeface="Courier New" pitchFamily="49" charset="0"/>
              </a:rPr>
              <a:t> is the proportion of negatives (p</a:t>
            </a:r>
            <a:r>
              <a:rPr lang="en-US" sz="2400" baseline="-25000" dirty="0">
                <a:cs typeface="Courier New" pitchFamily="49" charset="0"/>
              </a:rPr>
              <a:t>+ </a:t>
            </a:r>
            <a:r>
              <a:rPr lang="en-US" sz="2400" dirty="0">
                <a:cs typeface="Courier New" pitchFamily="49" charset="0"/>
              </a:rPr>
              <a:t>and</a:t>
            </a:r>
            <a:r>
              <a:rPr lang="en-US" sz="2400" baseline="-25000" dirty="0">
                <a:cs typeface="Courier New" pitchFamily="49" charset="0"/>
              </a:rPr>
              <a:t> </a:t>
            </a:r>
            <a:r>
              <a:rPr lang="en-US" sz="2400" dirty="0">
                <a:cs typeface="Courier New" pitchFamily="49" charset="0"/>
              </a:rPr>
              <a:t>p</a:t>
            </a:r>
            <a:r>
              <a:rPr lang="en-US" sz="2400" baseline="-25000" dirty="0">
                <a:cs typeface="Courier New" pitchFamily="49" charset="0"/>
              </a:rPr>
              <a:t>- </a:t>
            </a:r>
            <a:r>
              <a:rPr lang="en-US" sz="2400" dirty="0">
                <a:cs typeface="Courier New" pitchFamily="49" charset="0"/>
              </a:rPr>
              <a:t>can be seen simply as two distinct categories).</a:t>
            </a:r>
            <a:endParaRPr lang="en-IE" sz="2400" dirty="0">
              <a:cs typeface="Courier New" pitchFamily="49" charset="0"/>
            </a:endParaRPr>
          </a:p>
          <a:p>
            <a:r>
              <a:rPr lang="en-US" sz="2000" dirty="0"/>
              <a:t>If all examples belong to the same label, entropy is 0. If all examples are equally mixed, entropy is 1. </a:t>
            </a:r>
          </a:p>
          <a:p>
            <a:r>
              <a:rPr lang="en-US" sz="2000" dirty="0"/>
              <a:t>In general, entropy represents a level of uncertainty.</a:t>
            </a:r>
            <a:endParaRPr lang="en-IE" sz="20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6865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>
                <a:cs typeface="Courier New" pitchFamily="49" charset="0"/>
              </a:rPr>
              <a:t>In general:</a:t>
            </a: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endParaRPr lang="en-IE" sz="2400" dirty="0"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dirty="0"/>
              <a:t>We can now understand the notion of </a:t>
            </a:r>
            <a:r>
              <a:rPr lang="en-US" sz="2400" dirty="0">
                <a:solidFill>
                  <a:srgbClr val="FF0000"/>
                </a:solidFill>
              </a:rPr>
              <a:t>information gain</a:t>
            </a:r>
            <a:r>
              <a:rPr lang="en-US" sz="2400" dirty="0"/>
              <a:t>: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expected reduction in entropy </a:t>
            </a:r>
            <a:r>
              <a:rPr lang="en-US" sz="2400" dirty="0"/>
              <a:t>caused by partitioning on a given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23</a:t>
            </a:fld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658" y="1772816"/>
            <a:ext cx="6548683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3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Iterative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Dichotomiser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Information gain is given as follows: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Gain of an attribute </a:t>
            </a:r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relative to a collection of examples </a:t>
            </a:r>
            <a:r>
              <a:rPr lang="en-US" sz="2400" b="1" dirty="0">
                <a:solidFill>
                  <a:srgbClr val="FF0000"/>
                </a:solidFill>
              </a:rPr>
              <a:t>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defined as: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where </a:t>
            </a:r>
            <a:r>
              <a:rPr lang="en-US" sz="2400" dirty="0" err="1"/>
              <a:t>S</a:t>
            </a:r>
            <a:r>
              <a:rPr lang="en-US" sz="2400" baseline="-25000" dirty="0" err="1"/>
              <a:t>v</a:t>
            </a:r>
            <a:r>
              <a:rPr lang="en-US" sz="2400" dirty="0"/>
              <a:t> is the subset of S where attribute 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 has value v, |</a:t>
            </a:r>
            <a:r>
              <a:rPr lang="en-US" sz="2400" dirty="0" err="1"/>
              <a:t>S</a:t>
            </a:r>
            <a:r>
              <a:rPr lang="en-US" sz="2400" baseline="-25000" dirty="0" err="1"/>
              <a:t>v</a:t>
            </a:r>
            <a:r>
              <a:rPr lang="en-US" sz="2400" dirty="0"/>
              <a:t>| is the number of rows in </a:t>
            </a:r>
            <a:r>
              <a:rPr lang="en-US" sz="2400" dirty="0" err="1"/>
              <a:t>S</a:t>
            </a:r>
            <a:r>
              <a:rPr lang="en-US" sz="2400" baseline="-25000" dirty="0" err="1"/>
              <a:t>v</a:t>
            </a:r>
            <a:r>
              <a:rPr lang="en-US" sz="2400" baseline="-25000" dirty="0"/>
              <a:t> , </a:t>
            </a:r>
            <a:r>
              <a:rPr lang="en-US" sz="2400" dirty="0"/>
              <a:t>and the entropy of partitioning the data is calculated by weighting the entropy of each partition by its size relative to the original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24</a:t>
            </a:fld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44" y="2852936"/>
            <a:ext cx="6200312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7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25539"/>
            <a:ext cx="4186807" cy="359246"/>
          </a:xfrm>
        </p:spPr>
        <p:txBody>
          <a:bodyPr/>
          <a:lstStyle/>
          <a:p>
            <a:pPr marL="0" indent="0">
              <a:buNone/>
            </a:pPr>
            <a:r>
              <a:rPr lang="en-IE" sz="2000" dirty="0">
                <a:cs typeface="Courier New" pitchFamily="49" charset="0"/>
              </a:rPr>
              <a:t>Our </a:t>
            </a:r>
            <a:r>
              <a:rPr lang="en-IE" sz="2000">
                <a:cs typeface="Courier New" pitchFamily="49" charset="0"/>
              </a:rPr>
              <a:t>Naval Fleet </a:t>
            </a:r>
            <a:r>
              <a:rPr lang="en-IE" sz="2000" dirty="0">
                <a:cs typeface="Courier New" pitchFamily="49" charset="0"/>
              </a:rPr>
              <a:t>game data: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25</a:t>
            </a:fld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557588"/>
            <a:ext cx="5616624" cy="477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30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25538"/>
            <a:ext cx="4186807" cy="5000625"/>
          </a:xfrm>
        </p:spPr>
        <p:txBody>
          <a:bodyPr/>
          <a:lstStyle/>
          <a:p>
            <a:pPr marL="0" indent="0">
              <a:buNone/>
            </a:pPr>
            <a:r>
              <a:rPr lang="en-IE" sz="2000" dirty="0">
                <a:cs typeface="Courier New" pitchFamily="49" charset="0"/>
              </a:rPr>
              <a:t>Example: Attack or not to attack?</a:t>
            </a:r>
          </a:p>
          <a:p>
            <a:pPr marL="457200" indent="-457200">
              <a:buAutoNum type="arabicPeriod"/>
            </a:pPr>
            <a:r>
              <a:rPr lang="en-IE" sz="2000" dirty="0">
                <a:cs typeface="Courier New" pitchFamily="49" charset="0"/>
              </a:rPr>
              <a:t>Find entropy of the complete space</a:t>
            </a:r>
          </a:p>
          <a:p>
            <a:pPr marL="457200" indent="-457200">
              <a:buAutoNum type="arabicPeriod"/>
            </a:pPr>
            <a:r>
              <a:rPr lang="en-IE" sz="2000" dirty="0">
                <a:cs typeface="Courier New" pitchFamily="49" charset="0"/>
              </a:rPr>
              <a:t>Compute Information Gain for each attribute</a:t>
            </a:r>
          </a:p>
          <a:p>
            <a:pPr marL="457200" indent="-457200">
              <a:buAutoNum type="arabicPeriod"/>
            </a:pPr>
            <a:r>
              <a:rPr lang="en-IE" sz="2000" dirty="0">
                <a:cs typeface="Courier New" pitchFamily="49" charset="0"/>
              </a:rPr>
              <a:t>Select attribute with highest Gain for next node in tree</a:t>
            </a:r>
          </a:p>
          <a:p>
            <a:pPr marL="457200" indent="-457200">
              <a:buAutoNum type="arabicPeriod"/>
            </a:pPr>
            <a:r>
              <a:rPr lang="en-IE" sz="2000" dirty="0">
                <a:cs typeface="Courier New" pitchFamily="49" charset="0"/>
              </a:rPr>
              <a:t>Repeat steps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26</a:t>
            </a:fld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00" y="4874569"/>
            <a:ext cx="3661202" cy="764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01" y="5721351"/>
            <a:ext cx="4381808" cy="6615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153" y="1052737"/>
            <a:ext cx="4586351" cy="39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15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ID3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/>
              <a:t>Consideration:</a:t>
            </a:r>
          </a:p>
          <a:p>
            <a:r>
              <a:rPr lang="en-IE" sz="2400" dirty="0"/>
              <a:t>What about continuous attributes?</a:t>
            </a:r>
          </a:p>
          <a:p>
            <a:pPr lvl="1"/>
            <a:r>
              <a:rPr lang="en-IE" sz="2000" dirty="0"/>
              <a:t>Divide values into small number of discrete categories</a:t>
            </a:r>
          </a:p>
          <a:p>
            <a:pPr lvl="1"/>
            <a:r>
              <a:rPr lang="en-IE" sz="2000" dirty="0"/>
              <a:t>Then run ID3</a:t>
            </a:r>
          </a:p>
          <a:p>
            <a:pPr lvl="1"/>
            <a:endParaRPr lang="en-IE" sz="2000" dirty="0"/>
          </a:p>
          <a:p>
            <a:r>
              <a:rPr lang="en-IE" sz="2400" dirty="0"/>
              <a:t>How to compute log</a:t>
            </a:r>
            <a:r>
              <a:rPr lang="en-IE" sz="2400" baseline="-25000" dirty="0"/>
              <a:t>2</a:t>
            </a:r>
            <a:r>
              <a:rPr lang="en-IE" sz="2400" dirty="0"/>
              <a:t>(x)?</a:t>
            </a:r>
          </a:p>
          <a:p>
            <a:pPr marL="457200" lvl="1" indent="0">
              <a:buNone/>
            </a:pPr>
            <a:r>
              <a:rPr lang="en-IE" sz="2000" dirty="0"/>
              <a:t>In general </a:t>
            </a:r>
          </a:p>
          <a:p>
            <a:pPr marL="457200" lvl="1" indent="0">
              <a:buNone/>
            </a:pPr>
            <a:r>
              <a:rPr lang="en-IE" sz="2000" dirty="0"/>
              <a:t>     </a:t>
            </a:r>
            <a:r>
              <a:rPr lang="en-IE" sz="2000" dirty="0" err="1"/>
              <a:t>log</a:t>
            </a:r>
            <a:r>
              <a:rPr lang="en-IE" sz="2000" baseline="-25000" dirty="0" err="1"/>
              <a:t>n</a:t>
            </a:r>
            <a:r>
              <a:rPr lang="en-IE" sz="2000" dirty="0"/>
              <a:t>(x) = log</a:t>
            </a:r>
            <a:r>
              <a:rPr lang="en-IE" sz="2000" baseline="-25000" dirty="0"/>
              <a:t>10</a:t>
            </a:r>
            <a:r>
              <a:rPr lang="en-IE" sz="2000" dirty="0"/>
              <a:t>(x) / log</a:t>
            </a:r>
            <a:r>
              <a:rPr lang="en-IE" sz="2000" baseline="-25000" dirty="0"/>
              <a:t>10</a:t>
            </a:r>
            <a:r>
              <a:rPr lang="en-IE" sz="2000" dirty="0"/>
              <a:t>(n)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IE" sz="2000" dirty="0"/>
              <a:t>log</a:t>
            </a:r>
            <a:r>
              <a:rPr lang="en-IE" sz="2000" baseline="-25000" dirty="0"/>
              <a:t>2</a:t>
            </a:r>
            <a:r>
              <a:rPr lang="en-IE" sz="2000" dirty="0"/>
              <a:t>(x) </a:t>
            </a:r>
            <a:r>
              <a:rPr lang="en-IE" sz="2000"/>
              <a:t>= log</a:t>
            </a:r>
            <a:r>
              <a:rPr lang="en-IE" sz="2000" baseline="-25000"/>
              <a:t>10</a:t>
            </a:r>
            <a:r>
              <a:rPr lang="en-IE" sz="2000"/>
              <a:t>(</a:t>
            </a:r>
            <a:r>
              <a:rPr lang="en-IE" sz="2000" dirty="0"/>
              <a:t>x</a:t>
            </a:r>
            <a:r>
              <a:rPr lang="en-IE" sz="2000"/>
              <a:t>) / log</a:t>
            </a:r>
            <a:r>
              <a:rPr lang="en-IE" sz="2000" baseline="-25000"/>
              <a:t>10 </a:t>
            </a:r>
            <a:r>
              <a:rPr lang="en-IE" sz="2000" dirty="0"/>
              <a:t>(2)</a:t>
            </a:r>
          </a:p>
          <a:p>
            <a:pPr lvl="1">
              <a:buFont typeface="Symbol" panose="05050102010706020507" pitchFamily="18" charset="2"/>
              <a:buChar char="Þ"/>
            </a:pPr>
            <a:endParaRPr lang="en-IE" sz="2000" dirty="0"/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Building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400" dirty="0"/>
              <a:t>Where do examples come from and w</a:t>
            </a:r>
            <a:r>
              <a:rPr lang="en-IE" sz="2400" dirty="0">
                <a:cs typeface="Courier New" pitchFamily="49" charset="0"/>
              </a:rPr>
              <a:t>hose behaviour would we wish to learn?</a:t>
            </a:r>
          </a:p>
          <a:p>
            <a:pPr lvl="1"/>
            <a:r>
              <a:rPr lang="en-IE" sz="2000" dirty="0"/>
              <a:t>Programmer/designer provides examples </a:t>
            </a:r>
          </a:p>
          <a:p>
            <a:pPr lvl="1"/>
            <a:r>
              <a:rPr lang="en-IE" sz="2000" dirty="0"/>
              <a:t>Capture an expert player’s actions, and the game state, while they play</a:t>
            </a:r>
          </a:p>
          <a:p>
            <a:r>
              <a:rPr lang="en-IE" sz="2400" dirty="0"/>
              <a:t>Number of examples needed depends on difficulty of concept</a:t>
            </a:r>
          </a:p>
          <a:p>
            <a:pPr lvl="1"/>
            <a:r>
              <a:rPr lang="en-IE" sz="2000" dirty="0"/>
              <a:t>Difficulty: Number of tests needed to determine the action </a:t>
            </a:r>
          </a:p>
          <a:p>
            <a:pPr lvl="1"/>
            <a:r>
              <a:rPr lang="en-IE" sz="2000" dirty="0"/>
              <a:t>More is always better </a:t>
            </a:r>
          </a:p>
          <a:p>
            <a:r>
              <a:rPr lang="en-IE" sz="2400" dirty="0"/>
              <a:t>Training set vs. Testing set </a:t>
            </a:r>
          </a:p>
          <a:p>
            <a:pPr lvl="1"/>
            <a:r>
              <a:rPr lang="en-IE" sz="2000" dirty="0"/>
              <a:t>Train on most (75%) of the examples </a:t>
            </a:r>
          </a:p>
          <a:p>
            <a:pPr lvl="1"/>
            <a:r>
              <a:rPr lang="en-IE" sz="2000" dirty="0"/>
              <a:t>Use the rest to validate the learned decision trees by estimating how well the tree does on examples it hasn’t seen </a:t>
            </a:r>
          </a:p>
          <a:p>
            <a:pPr lvl="1"/>
            <a:r>
              <a:rPr lang="en-IE" sz="2000" dirty="0">
                <a:cs typeface="Courier New" pitchFamily="49" charset="0"/>
              </a:rPr>
              <a:t>(This is the typical process of machine learning in general)</a:t>
            </a:r>
            <a:endParaRPr lang="en-IE" sz="16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3289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Trees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sz="2400" dirty="0"/>
          </a:p>
          <a:p>
            <a:r>
              <a:rPr lang="en-IE" sz="2400" dirty="0"/>
              <a:t>Simpler, more compact representation </a:t>
            </a:r>
          </a:p>
          <a:p>
            <a:r>
              <a:rPr lang="en-IE" sz="2400" dirty="0"/>
              <a:t>Easy to create and understand </a:t>
            </a:r>
          </a:p>
          <a:p>
            <a:pPr lvl="1"/>
            <a:r>
              <a:rPr lang="en-IE" sz="2000" dirty="0"/>
              <a:t>Can also be represented as rules </a:t>
            </a:r>
          </a:p>
          <a:p>
            <a:r>
              <a:rPr lang="en-IE" sz="2400" dirty="0"/>
              <a:t>Decision trees can be learned</a:t>
            </a:r>
          </a:p>
          <a:p>
            <a:r>
              <a:rPr lang="en-US" sz="2400" dirty="0"/>
              <a:t>Can handle multiple classes</a:t>
            </a:r>
          </a:p>
          <a:p>
            <a:r>
              <a:rPr lang="en-US" sz="2400" dirty="0"/>
              <a:t>Provides interpretable decision trees.</a:t>
            </a:r>
            <a:endParaRPr lang="en-IE" sz="2400" dirty="0"/>
          </a:p>
          <a:p>
            <a:endParaRPr lang="en-IE" sz="16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</a:t>
            </a:r>
            <a:r>
              <a:rPr lang="en-US" sz="3600" b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Trees Disadvantages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sz="2400" dirty="0"/>
          </a:p>
          <a:p>
            <a:r>
              <a:rPr lang="en-IE" sz="2400" dirty="0"/>
              <a:t>Decision tree engine requires more coding than FSM </a:t>
            </a:r>
          </a:p>
          <a:p>
            <a:pPr lvl="1"/>
            <a:r>
              <a:rPr lang="en-IE" sz="2000" dirty="0"/>
              <a:t>Each tree is “unique” sequence of tests, so little common structure</a:t>
            </a:r>
          </a:p>
          <a:p>
            <a:r>
              <a:rPr lang="en-IE" sz="2400" dirty="0"/>
              <a:t>Need as many examples as possible </a:t>
            </a:r>
          </a:p>
          <a:p>
            <a:r>
              <a:rPr lang="en-IE" sz="2400" dirty="0"/>
              <a:t>Higher CPU cost - but not much higher </a:t>
            </a:r>
          </a:p>
          <a:p>
            <a:r>
              <a:rPr lang="en-IE" sz="2400" dirty="0"/>
              <a:t>Learned decision trees may contain errors</a:t>
            </a:r>
          </a:p>
          <a:p>
            <a:pPr lvl="1"/>
            <a:r>
              <a:rPr lang="en-IE" sz="2000" dirty="0"/>
              <a:t>Might learn the wrong thing</a:t>
            </a:r>
          </a:p>
          <a:p>
            <a:r>
              <a:rPr lang="en-US" sz="2400" dirty="0"/>
              <a:t>Prone to overfitting, especially with noisy data or when the tree becomes very deep</a:t>
            </a:r>
          </a:p>
          <a:p>
            <a:r>
              <a:rPr lang="en-US" sz="2400" dirty="0">
                <a:cs typeface="Courier New" pitchFamily="49" charset="0"/>
              </a:rPr>
              <a:t>Is not inherently designed for continuous data</a:t>
            </a:r>
          </a:p>
          <a:p>
            <a:pPr lvl="1"/>
            <a:r>
              <a:rPr lang="en-US" sz="2000" dirty="0">
                <a:cs typeface="Courier New" pitchFamily="49" charset="0"/>
              </a:rPr>
              <a:t>However, preprocessing can be done to </a:t>
            </a:r>
            <a:r>
              <a:rPr lang="en-IE" sz="2000" dirty="0">
                <a:cs typeface="Courier New" pitchFamily="49" charset="0"/>
              </a:rPr>
              <a:t>discretise</a:t>
            </a:r>
            <a:r>
              <a:rPr lang="en-US" sz="2000" dirty="0">
                <a:cs typeface="Courier New" pitchFamily="49" charset="0"/>
              </a:rPr>
              <a:t> continuous features.</a:t>
            </a:r>
            <a:endParaRPr lang="en-IE" sz="20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72331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12455</TotalTime>
  <Words>2152</Words>
  <Application>Microsoft Office PowerPoint</Application>
  <PresentationFormat>On-screen Show (4:3)</PresentationFormat>
  <Paragraphs>309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Symbol</vt:lpstr>
      <vt:lpstr>Wingdings</vt:lpstr>
      <vt:lpstr>Custom Design</vt:lpstr>
      <vt:lpstr>1_Custom Design</vt:lpstr>
      <vt:lpstr>PowerPoint Presentation</vt:lpstr>
      <vt:lpstr>Decision Trees</vt:lpstr>
      <vt:lpstr>Decision Trees</vt:lpstr>
      <vt:lpstr>Actions</vt:lpstr>
      <vt:lpstr>Binary Decision Tree</vt:lpstr>
      <vt:lpstr>Decision Nodes</vt:lpstr>
      <vt:lpstr>Decision Tree for Quake</vt:lpstr>
      <vt:lpstr>Decision Nodes</vt:lpstr>
      <vt:lpstr>Efficiency</vt:lpstr>
      <vt:lpstr>Implementation</vt:lpstr>
      <vt:lpstr>Decision Tree Class</vt:lpstr>
      <vt:lpstr>Decision Nodes</vt:lpstr>
      <vt:lpstr>Decision Nodes</vt:lpstr>
      <vt:lpstr>Action Node</vt:lpstr>
      <vt:lpstr>Random Decision Trees</vt:lpstr>
      <vt:lpstr>Random Decision Trees</vt:lpstr>
      <vt:lpstr>Random Decision Trees</vt:lpstr>
      <vt:lpstr>Building Decision Trees</vt:lpstr>
      <vt:lpstr>ID3 - Iterative Dichotomiser 3</vt:lpstr>
      <vt:lpstr>ID3 - Iterative Dichotomiser 3</vt:lpstr>
      <vt:lpstr>ID3 - Iterative Dichotomiser 3</vt:lpstr>
      <vt:lpstr>ID3 - Iterative Dichotomiser 3</vt:lpstr>
      <vt:lpstr>ID3 - Iterative Dichotomiser 3</vt:lpstr>
      <vt:lpstr>ID3 - Iterative Dichotomiser 3</vt:lpstr>
      <vt:lpstr>ID3 - Example</vt:lpstr>
      <vt:lpstr>ID3 - Example</vt:lpstr>
      <vt:lpstr>ID3</vt:lpstr>
      <vt:lpstr>Building Decision Trees</vt:lpstr>
      <vt:lpstr>Decision Trees Advantages</vt:lpstr>
      <vt:lpstr>Decision Trees Disadvantages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1250</cp:revision>
  <dcterms:created xsi:type="dcterms:W3CDTF">2007-05-08T17:20:09Z</dcterms:created>
  <dcterms:modified xsi:type="dcterms:W3CDTF">2025-11-24T10:45:19Z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