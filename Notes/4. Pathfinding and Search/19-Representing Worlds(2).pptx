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29"/>
  </p:notesMasterIdLst>
  <p:sldIdLst>
    <p:sldId id="272" r:id="rId3"/>
    <p:sldId id="303" r:id="rId4"/>
    <p:sldId id="273" r:id="rId5"/>
    <p:sldId id="299" r:id="rId6"/>
    <p:sldId id="274" r:id="rId7"/>
    <p:sldId id="289" r:id="rId8"/>
    <p:sldId id="290" r:id="rId9"/>
    <p:sldId id="277" r:id="rId10"/>
    <p:sldId id="278" r:id="rId11"/>
    <p:sldId id="279" r:id="rId12"/>
    <p:sldId id="304" r:id="rId13"/>
    <p:sldId id="300" r:id="rId14"/>
    <p:sldId id="301" r:id="rId15"/>
    <p:sldId id="275" r:id="rId16"/>
    <p:sldId id="291" r:id="rId17"/>
    <p:sldId id="292" r:id="rId18"/>
    <p:sldId id="293" r:id="rId19"/>
    <p:sldId id="276" r:id="rId20"/>
    <p:sldId id="295" r:id="rId21"/>
    <p:sldId id="294" r:id="rId22"/>
    <p:sldId id="296" r:id="rId23"/>
    <p:sldId id="298" r:id="rId24"/>
    <p:sldId id="280" r:id="rId25"/>
    <p:sldId id="302" r:id="rId26"/>
    <p:sldId id="281" r:id="rId27"/>
    <p:sldId id="297" r:id="rId28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88" d="100"/>
          <a:sy n="88" d="100"/>
        </p:scale>
        <p:origin x="219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6b66d80f-e52a-4eb8-b588-9059f489afa4" providerId="ADAL" clId="{972AEA59-9C2E-4FF9-8952-B2AE4E41EA11}"/>
    <pc:docChg chg="custSel addSld modSld">
      <pc:chgData name="Oisin Cawley" userId="6b66d80f-e52a-4eb8-b588-9059f489afa4" providerId="ADAL" clId="{972AEA59-9C2E-4FF9-8952-B2AE4E41EA11}" dt="2025-10-20T08:28:00.147" v="292" actId="20577"/>
      <pc:docMkLst>
        <pc:docMk/>
      </pc:docMkLst>
      <pc:sldChg chg="modSp modAnim modNotesTx">
        <pc:chgData name="Oisin Cawley" userId="6b66d80f-e52a-4eb8-b588-9059f489afa4" providerId="ADAL" clId="{972AEA59-9C2E-4FF9-8952-B2AE4E41EA11}" dt="2025-10-20T08:14:56.284" v="59" actId="27636"/>
        <pc:sldMkLst>
          <pc:docMk/>
          <pc:sldMk cId="0" sldId="278"/>
        </pc:sldMkLst>
        <pc:spChg chg="mod">
          <ac:chgData name="Oisin Cawley" userId="6b66d80f-e52a-4eb8-b588-9059f489afa4" providerId="ADAL" clId="{972AEA59-9C2E-4FF9-8952-B2AE4E41EA11}" dt="2025-10-20T08:14:56.284" v="59" actId="27636"/>
          <ac:spMkLst>
            <pc:docMk/>
            <pc:sldMk cId="0" sldId="278"/>
            <ac:spMk id="3" creationId="{00000000-0000-0000-0000-000000000000}"/>
          </ac:spMkLst>
        </pc:spChg>
      </pc:sldChg>
      <pc:sldChg chg="modSp">
        <pc:chgData name="Oisin Cawley" userId="6b66d80f-e52a-4eb8-b588-9059f489afa4" providerId="ADAL" clId="{972AEA59-9C2E-4FF9-8952-B2AE4E41EA11}" dt="2025-10-20T08:16:08.952" v="71" actId="6549"/>
        <pc:sldMkLst>
          <pc:docMk/>
          <pc:sldMk cId="0" sldId="279"/>
        </pc:sldMkLst>
        <pc:spChg chg="mod">
          <ac:chgData name="Oisin Cawley" userId="6b66d80f-e52a-4eb8-b588-9059f489afa4" providerId="ADAL" clId="{972AEA59-9C2E-4FF9-8952-B2AE4E41EA11}" dt="2025-10-20T08:16:08.952" v="71" actId="6549"/>
          <ac:spMkLst>
            <pc:docMk/>
            <pc:sldMk cId="0" sldId="279"/>
            <ac:spMk id="3" creationId="{00000000-0000-0000-0000-000000000000}"/>
          </ac:spMkLst>
        </pc:spChg>
      </pc:sldChg>
      <pc:sldChg chg="modSp add">
        <pc:chgData name="Oisin Cawley" userId="6b66d80f-e52a-4eb8-b588-9059f489afa4" providerId="ADAL" clId="{972AEA59-9C2E-4FF9-8952-B2AE4E41EA11}" dt="2025-10-20T08:28:00.147" v="292" actId="20577"/>
        <pc:sldMkLst>
          <pc:docMk/>
          <pc:sldMk cId="1773666061" sldId="304"/>
        </pc:sldMkLst>
        <pc:spChg chg="mod">
          <ac:chgData name="Oisin Cawley" userId="6b66d80f-e52a-4eb8-b588-9059f489afa4" providerId="ADAL" clId="{972AEA59-9C2E-4FF9-8952-B2AE4E41EA11}" dt="2025-10-20T08:28:00.147" v="292" actId="20577"/>
          <ac:spMkLst>
            <pc:docMk/>
            <pc:sldMk cId="1773666061" sldId="304"/>
            <ac:spMk id="3" creationId="{00000000-0000-0000-0000-000000000000}"/>
          </ac:spMkLst>
        </pc:spChg>
      </pc:sldChg>
    </pc:docChg>
  </pc:docChgLst>
  <pc:docChgLst>
    <pc:chgData name="Oisin Cawley" userId="6b66d80f-e52a-4eb8-b588-9059f489afa4" providerId="ADAL" clId="{20DDC3E1-EB6C-4379-A54E-F64B50FF8E32}"/>
  </pc:docChgLst>
  <pc:docChgLst>
    <pc:chgData name="Oisin Cawley" userId="6b66d80f-e52a-4eb8-b588-9059f489afa4" providerId="ADAL" clId="{9E88E469-3041-4971-8306-EE78E495595E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PlainSight/pen/DmiGt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8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29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See “Programming Game AI by Example” - Buckland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4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7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>
                <a:hlinkClick r:id="rId3"/>
              </a:rPr>
              <a:t>https://codepen.io/PlainSight/pen/DmiGt/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30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To generate the smoothest path, we would need another search among all </a:t>
            </a:r>
            <a:r>
              <a:rPr lang="en-IE"/>
              <a:t>possible smoothest </a:t>
            </a:r>
            <a:r>
              <a:rPr lang="en-IE" dirty="0"/>
              <a:t>paths. This is rarely if ever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61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61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98CE4010-780B-4E40-915A-8F3035D45E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17C7940D-DFFE-4262-A47F-1949255D2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redblobgames.com/articles/visibility/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bZ7gstIWyI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simblob.blogspot.ie/2010/09/polygon-map-generation-part-2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odepen.io/PlainSight/pen/DmiGt/" TargetMode="External"/><Relationship Id="rId5" Type="http://schemas.openxmlformats.org/officeDocument/2006/relationships/hyperlink" Target="https://raygun.com/blog/game-development-triangulated-spaces/" TargetMode="Externa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Representing the Game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Pathfinding is carried out by means of a pathfinding graph</a:t>
            </a:r>
          </a:p>
          <a:p>
            <a:pPr lvl="1"/>
            <a:r>
              <a:rPr lang="en-US" baseline="0" dirty="0"/>
              <a:t>Nodes, connections, and costs</a:t>
            </a:r>
          </a:p>
          <a:p>
            <a:r>
              <a:rPr lang="en-US" dirty="0"/>
              <a:t>Games are not made of these</a:t>
            </a:r>
          </a:p>
          <a:p>
            <a:pPr lvl="1"/>
            <a:r>
              <a:rPr lang="en-US" baseline="0" dirty="0"/>
              <a:t>Need to be able to translate between the two</a:t>
            </a:r>
          </a:p>
          <a:p>
            <a:r>
              <a:rPr lang="en-US" baseline="0" dirty="0"/>
              <a:t>We therefore need to split the game world into regions that are linked</a:t>
            </a:r>
          </a:p>
          <a:p>
            <a:pPr lvl="1"/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Automatic</a:t>
            </a:r>
          </a:p>
          <a:p>
            <a:pPr lvl="1"/>
            <a:r>
              <a:rPr lang="en-US" dirty="0"/>
              <a:t>Easiest</a:t>
            </a:r>
          </a:p>
          <a:p>
            <a:pPr lvl="1"/>
            <a:r>
              <a:rPr lang="en-US" dirty="0" err="1"/>
              <a:t>Tilegraphs</a:t>
            </a:r>
            <a:r>
              <a:rPr lang="en-US" dirty="0"/>
              <a:t>, Points of Visibility or Navigational Polygon Meshes</a:t>
            </a:r>
          </a:p>
          <a:p>
            <a:pPr lvl="0"/>
            <a:r>
              <a:rPr lang="en-US" dirty="0"/>
              <a:t>Manual</a:t>
            </a:r>
          </a:p>
          <a:p>
            <a:pPr lvl="1"/>
            <a:r>
              <a:rPr lang="en-US" dirty="0"/>
              <a:t>Best Results (can be easily tuned)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Translation</a:t>
            </a:r>
          </a:p>
          <a:p>
            <a:pPr lvl="1"/>
            <a:r>
              <a:rPr lang="en-US" dirty="0"/>
              <a:t>Conversion of a node</a:t>
            </a:r>
            <a:r>
              <a:rPr lang="en-US" baseline="0" dirty="0"/>
              <a:t> to real world coordinates is called </a:t>
            </a:r>
            <a:r>
              <a:rPr lang="en-US" b="1" dirty="0"/>
              <a:t>l</a:t>
            </a:r>
            <a:r>
              <a:rPr lang="en-US" b="1" baseline="0" dirty="0"/>
              <a:t>ocalization</a:t>
            </a:r>
          </a:p>
          <a:p>
            <a:pPr lvl="1"/>
            <a:r>
              <a:rPr lang="en-US" baseline="0" dirty="0"/>
              <a:t>Conversion of real-world coordinates to a node is called </a:t>
            </a:r>
            <a:r>
              <a:rPr lang="en-US" b="1" dirty="0"/>
              <a:t>q</a:t>
            </a:r>
            <a:r>
              <a:rPr lang="en-US" b="1" baseline="0" dirty="0"/>
              <a:t>uantization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9655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Division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do pathfinding, we divide the space into regions and connections.</a:t>
            </a:r>
          </a:p>
          <a:p>
            <a:r>
              <a:rPr lang="en-US" sz="2800" dirty="0"/>
              <a:t>A division scheme is </a:t>
            </a:r>
            <a:r>
              <a:rPr lang="en-US" sz="2800" b="1" dirty="0">
                <a:solidFill>
                  <a:srgbClr val="FF0000"/>
                </a:solidFill>
              </a:rPr>
              <a:t>Valid</a:t>
            </a:r>
          </a:p>
          <a:p>
            <a:pPr lvl="1"/>
            <a:r>
              <a:rPr lang="en-US" sz="2400" dirty="0"/>
              <a:t>If all points in two connected regions can be reached from each other (because the graph doesn’t mislead!)</a:t>
            </a:r>
          </a:p>
          <a:p>
            <a:pPr lvl="0"/>
            <a:r>
              <a:rPr lang="en-US" sz="2800" dirty="0"/>
              <a:t>Most schemes do not enforce </a:t>
            </a:r>
            <a:r>
              <a:rPr lang="en-US" sz="2800" baseline="0" dirty="0"/>
              <a:t>validity</a:t>
            </a:r>
          </a:p>
          <a:p>
            <a:pPr lvl="1"/>
            <a:r>
              <a:rPr lang="en-US" sz="2400" dirty="0"/>
              <a:t>At least not fully!</a:t>
            </a:r>
          </a:p>
          <a:p>
            <a:endParaRPr lang="en-US" sz="2800" dirty="0"/>
          </a:p>
          <a:p>
            <a:r>
              <a:rPr lang="en-US" sz="2800" dirty="0"/>
              <a:t>We should understand the validity properties of the graphs produced by the major division schemes...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Division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The major division schemes:</a:t>
            </a:r>
          </a:p>
          <a:p>
            <a:pPr marL="2319338" indent="-514350">
              <a:buFont typeface="+mj-lt"/>
              <a:buAutoNum type="arabicPeriod"/>
            </a:pPr>
            <a:r>
              <a:rPr lang="en-US" sz="2800" dirty="0"/>
              <a:t>Tile Graphs</a:t>
            </a:r>
          </a:p>
          <a:p>
            <a:pPr marL="2319338" indent="-514350">
              <a:buFont typeface="+mj-lt"/>
              <a:buAutoNum type="arabicPeriod"/>
            </a:pPr>
            <a:r>
              <a:rPr lang="en-US" sz="2800" dirty="0"/>
              <a:t>Points of Visibility</a:t>
            </a:r>
          </a:p>
          <a:p>
            <a:pPr marL="2319338" indent="-514350">
              <a:buFont typeface="+mj-lt"/>
              <a:buAutoNum type="arabicPeriod"/>
            </a:pPr>
            <a:r>
              <a:rPr lang="en-US" sz="2800" dirty="0"/>
              <a:t>Polygonal Meshes</a:t>
            </a:r>
          </a:p>
          <a:p>
            <a:pPr marL="2319338" indent="-514350">
              <a:buFont typeface="+mj-lt"/>
              <a:buAutoNum type="arabicPeriod"/>
            </a:pPr>
            <a:r>
              <a:rPr lang="en-US" sz="2800" dirty="0" err="1"/>
              <a:t>Dirichlet</a:t>
            </a:r>
            <a:r>
              <a:rPr lang="en-US" sz="2800" dirty="0"/>
              <a:t> Domains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28847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1 - Tile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400" dirty="0"/>
              <a:t>Tile-based 2D isometric graphics are dead</a:t>
            </a:r>
          </a:p>
          <a:p>
            <a:pPr lvl="1"/>
            <a:r>
              <a:rPr lang="en-IE" sz="2000" dirty="0"/>
              <a:t>Long live the Tile</a:t>
            </a:r>
          </a:p>
          <a:p>
            <a:r>
              <a:rPr lang="en-IE" sz="2400" dirty="0"/>
              <a:t>Division Scheme</a:t>
            </a:r>
          </a:p>
          <a:p>
            <a:pPr lvl="1"/>
            <a:r>
              <a:rPr lang="en-IE" sz="2000" dirty="0"/>
              <a:t>Grid can be turned into a tile based graph.</a:t>
            </a:r>
          </a:p>
          <a:p>
            <a:pPr lvl="1"/>
            <a:r>
              <a:rPr lang="en-IE" sz="2000" dirty="0"/>
              <a:t>Nodes in the pathfinder’s graph represent tiles in the game world</a:t>
            </a:r>
          </a:p>
          <a:p>
            <a:pPr lvl="1"/>
            <a:r>
              <a:rPr lang="en-IE" sz="2000" dirty="0"/>
              <a:t>Connections between nodes connect to their immediate neighbours</a:t>
            </a:r>
          </a:p>
          <a:p>
            <a:endParaRPr lang="en-IE" sz="2400" dirty="0"/>
          </a:p>
          <a:p>
            <a:r>
              <a:rPr lang="en-IE" sz="2400" dirty="0"/>
              <a:t>Localisation and Quantization</a:t>
            </a:r>
          </a:p>
          <a:p>
            <a:pPr lvl="1"/>
            <a:r>
              <a:rPr lang="en-IE" sz="2000" dirty="0"/>
              <a:t>Can map any point in the world to a specific tile (fast)</a:t>
            </a:r>
          </a:p>
          <a:p>
            <a:pPr lvl="1"/>
            <a:r>
              <a:rPr lang="en-IE" sz="2000" dirty="0"/>
              <a:t>Square grid is the easiest:</a:t>
            </a:r>
          </a:p>
          <a:p>
            <a:pPr lvl="2"/>
            <a:r>
              <a:rPr lang="en-IE" sz="1600" dirty="0" err="1"/>
              <a:t>tileX</a:t>
            </a:r>
            <a:r>
              <a:rPr lang="en-IE" sz="1600" dirty="0"/>
              <a:t> = floor( x / </a:t>
            </a:r>
            <a:r>
              <a:rPr lang="en-IE" sz="1600" dirty="0" err="1"/>
              <a:t>tileSize</a:t>
            </a:r>
            <a:r>
              <a:rPr lang="en-IE" sz="1600" dirty="0"/>
              <a:t>);</a:t>
            </a:r>
          </a:p>
          <a:p>
            <a:pPr lvl="2"/>
            <a:r>
              <a:rPr lang="en-IE" sz="1600" dirty="0" err="1"/>
              <a:t>tiley</a:t>
            </a:r>
            <a:r>
              <a:rPr lang="en-IE" sz="1600" dirty="0"/>
              <a:t> = floor( y / </a:t>
            </a:r>
            <a:r>
              <a:rPr lang="en-IE" sz="1600" dirty="0" err="1"/>
              <a:t>tileSize</a:t>
            </a:r>
            <a:r>
              <a:rPr lang="en-IE" sz="1600" dirty="0"/>
              <a:t>);</a:t>
            </a:r>
          </a:p>
          <a:p>
            <a:pPr lvl="1"/>
            <a:r>
              <a:rPr lang="en-IE" sz="2000" dirty="0"/>
              <a:t>Use the centre point of a tile to convert a node back into the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1 - Tile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435280" cy="5000625"/>
          </a:xfrm>
        </p:spPr>
        <p:txBody>
          <a:bodyPr>
            <a:normAutofit/>
          </a:bodyPr>
          <a:lstStyle/>
          <a:p>
            <a:r>
              <a:rPr lang="en-US" sz="2400" dirty="0"/>
              <a:t>Generation (automatic)</a:t>
            </a:r>
          </a:p>
          <a:p>
            <a:pPr lvl="1"/>
            <a:r>
              <a:rPr lang="en-US" sz="2400" dirty="0"/>
              <a:t>Because</a:t>
            </a:r>
            <a:r>
              <a:rPr lang="en-US" sz="2400" baseline="0" dirty="0"/>
              <a:t> they are so simple they can be generated at run-time</a:t>
            </a:r>
          </a:p>
          <a:p>
            <a:pPr lvl="1"/>
            <a:r>
              <a:rPr lang="en-US" sz="2400" dirty="0"/>
              <a:t>No need to store connections. Can be generated as needed by the pathfinder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/>
              <a:t>Validity</a:t>
            </a:r>
          </a:p>
          <a:p>
            <a:pPr lvl="1"/>
            <a:r>
              <a:rPr lang="en-US" sz="2400" dirty="0"/>
              <a:t>If each tile is either completely blocked (occupied) or completely free then the graph is valid</a:t>
            </a:r>
          </a:p>
          <a:p>
            <a:pPr lvl="1"/>
            <a:r>
              <a:rPr lang="en-US" sz="2400" dirty="0"/>
              <a:t>Partially blocked tiles may result in an invalid graph</a:t>
            </a:r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5312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1 - Tile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Usefulness</a:t>
            </a:r>
          </a:p>
          <a:p>
            <a:pPr lvl="1"/>
            <a:r>
              <a:rPr lang="en-US" sz="2400" dirty="0"/>
              <a:t>There can</a:t>
            </a:r>
            <a:r>
              <a:rPr lang="en-US" sz="2400" baseline="0" dirty="0"/>
              <a:t> be large numbers of tiles in a level. L</a:t>
            </a:r>
            <a:r>
              <a:rPr lang="en-US" sz="2400" dirty="0"/>
              <a:t>ots of work for search</a:t>
            </a:r>
            <a:r>
              <a:rPr lang="en-US" sz="2400" baseline="0" dirty="0"/>
              <a:t> algorithm.</a:t>
            </a:r>
          </a:p>
          <a:p>
            <a:pPr lvl="1"/>
            <a:r>
              <a:rPr lang="en-US" sz="2400" dirty="0"/>
              <a:t>Paths can also appear blocky. Need to be smoothed out.</a:t>
            </a:r>
          </a:p>
          <a:p>
            <a:pPr lvl="2"/>
            <a:r>
              <a:rPr lang="en-US" sz="2000" dirty="0"/>
              <a:t>See later</a:t>
            </a:r>
          </a:p>
          <a:p>
            <a:pPr lvl="1"/>
            <a:r>
              <a:rPr lang="en-US" sz="2400" dirty="0"/>
              <a:t>Could add costs associated with moving from tile to tile</a:t>
            </a:r>
          </a:p>
          <a:p>
            <a:pPr lvl="2">
              <a:buNone/>
            </a:pPr>
            <a:r>
              <a:rPr lang="en-US" dirty="0"/>
              <a:t>e.g. moving up/down a gradient</a:t>
            </a:r>
          </a:p>
          <a:p>
            <a:pPr lvl="2"/>
            <a:r>
              <a:rPr lang="en-US" dirty="0"/>
              <a:t>Maintain a grid map of height values</a:t>
            </a:r>
          </a:p>
          <a:p>
            <a:pPr lvl="2"/>
            <a:r>
              <a:rPr lang="en-US" dirty="0"/>
              <a:t>Cost then based on distance between tiles and change in height between tiles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53129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2 - Points of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457824"/>
          </a:xfrm>
        </p:spPr>
        <p:txBody>
          <a:bodyPr>
            <a:noAutofit/>
          </a:bodyPr>
          <a:lstStyle/>
          <a:p>
            <a:r>
              <a:rPr lang="en-US" sz="2000" dirty="0"/>
              <a:t>The optimal path through a 2d environment will always have inflection points</a:t>
            </a:r>
          </a:p>
          <a:p>
            <a:pPr lvl="1"/>
            <a:r>
              <a:rPr lang="en-US" sz="1800" dirty="0"/>
              <a:t>We can use these as graph nodes (typically the shortest path anyway)</a:t>
            </a:r>
          </a:p>
          <a:p>
            <a:pPr lvl="0"/>
            <a:r>
              <a:rPr lang="en-US" sz="2000" dirty="0"/>
              <a:t>Move nodes out from obstacles</a:t>
            </a:r>
          </a:p>
          <a:p>
            <a:pPr lvl="1"/>
            <a:r>
              <a:rPr lang="en-US" sz="1800" dirty="0"/>
              <a:t>to allow for smoother movement</a:t>
            </a:r>
          </a:p>
          <a:p>
            <a:pPr lvl="0"/>
            <a:r>
              <a:rPr lang="en-US" sz="2000" dirty="0" err="1"/>
              <a:t>Raycast</a:t>
            </a:r>
            <a:r>
              <a:rPr lang="en-US" sz="2000" dirty="0"/>
              <a:t> between points to identify connections</a:t>
            </a:r>
          </a:p>
          <a:p>
            <a:pPr lvl="1"/>
            <a:r>
              <a:rPr lang="en-US" sz="1800" dirty="0"/>
              <a:t>Only if we don’t hit any obstacles</a:t>
            </a:r>
          </a:p>
          <a:p>
            <a:pPr lvl="0"/>
            <a:r>
              <a:rPr lang="en-US" sz="2000" dirty="0"/>
              <a:t>Quantization: Find closest point (centre of Polygon?)</a:t>
            </a:r>
          </a:p>
          <a:p>
            <a:pPr lvl="0"/>
            <a:r>
              <a:rPr lang="en-US" sz="2000" dirty="0"/>
              <a:t>Localization: node is a RW location!</a:t>
            </a:r>
          </a:p>
          <a:p>
            <a:pPr lvl="0"/>
            <a:r>
              <a:rPr lang="en-US" sz="2000" dirty="0"/>
              <a:t>Graphs can be generated automatically</a:t>
            </a:r>
          </a:p>
          <a:p>
            <a:pPr lvl="0"/>
            <a:r>
              <a:rPr lang="en-US" sz="2000" dirty="0"/>
              <a:t>Lots of points and edges may be generated (e.g. a large cavern)</a:t>
            </a:r>
          </a:p>
          <a:p>
            <a:pPr lvl="1"/>
            <a:r>
              <a:rPr lang="en-US" sz="1800" dirty="0"/>
              <a:t>need to be pruned! (manually)</a:t>
            </a:r>
          </a:p>
          <a:p>
            <a:pPr lvl="1"/>
            <a:r>
              <a:rPr lang="en-US" sz="1800" dirty="0"/>
              <a:t>may not be worth the effort</a:t>
            </a:r>
          </a:p>
          <a:p>
            <a:pPr lvl="1"/>
            <a:endParaRPr lang="en-US" sz="1800" dirty="0"/>
          </a:p>
          <a:p>
            <a:pPr marL="0" indent="0">
              <a:buNone/>
            </a:pPr>
            <a:r>
              <a:rPr lang="en-US" sz="2200" dirty="0">
                <a:hlinkClick r:id="rId2"/>
              </a:rPr>
              <a:t>2D Visibility Playground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6067288" y="3451624"/>
            <a:ext cx="4342512" cy="17049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3 - Polygonal Meshes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linkClick r:id="rId3"/>
              </a:rPr>
              <a:t>The humble polygon</a:t>
            </a:r>
            <a:endParaRPr lang="en-US" sz="2800" dirty="0"/>
          </a:p>
          <a:p>
            <a:r>
              <a:rPr lang="en-US" sz="2800" dirty="0"/>
              <a:t>Level consists of polygons</a:t>
            </a:r>
          </a:p>
          <a:p>
            <a:pPr lvl="1"/>
            <a:r>
              <a:rPr lang="en-US" sz="2400" dirty="0"/>
              <a:t>usually triangles (may be quads)</a:t>
            </a:r>
          </a:p>
          <a:p>
            <a:pPr lvl="1"/>
            <a:r>
              <a:rPr lang="en-US" sz="2400" dirty="0"/>
              <a:t>but should be convex</a:t>
            </a:r>
          </a:p>
          <a:p>
            <a:pPr lvl="1"/>
            <a:r>
              <a:rPr lang="en-US" sz="2400" dirty="0"/>
              <a:t>artist labels polygons as floor, wall, ceiling etc.</a:t>
            </a:r>
          </a:p>
          <a:p>
            <a:pPr lvl="0"/>
            <a:r>
              <a:rPr lang="en-US" sz="2800" dirty="0"/>
              <a:t>Each polygon is considered a node</a:t>
            </a:r>
          </a:p>
          <a:p>
            <a:pPr lvl="0"/>
            <a:r>
              <a:rPr lang="en-US" sz="2800" dirty="0"/>
              <a:t>Adjoining polygons are connected by edges</a:t>
            </a:r>
          </a:p>
          <a:p>
            <a:pPr lvl="1"/>
            <a:r>
              <a:rPr lang="en-US" sz="2400" dirty="0"/>
              <a:t>Nodes connected if their polygons share an edge</a:t>
            </a:r>
          </a:p>
          <a:p>
            <a:pPr lvl="0"/>
            <a:r>
              <a:rPr lang="en-US" sz="2800" dirty="0"/>
              <a:t>Graph is based on mesh geometry</a:t>
            </a:r>
          </a:p>
          <a:p>
            <a:pPr lvl="1"/>
            <a:r>
              <a:rPr lang="en-US" sz="2400" dirty="0"/>
              <a:t>Navigation mesh or “</a:t>
            </a:r>
            <a:r>
              <a:rPr lang="en-US" sz="2400" dirty="0" err="1"/>
              <a:t>navmesh</a:t>
            </a:r>
            <a:r>
              <a:rPr lang="en-US" sz="2400" dirty="0"/>
              <a:t>”</a:t>
            </a:r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3 - Polygonal Meshes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/>
          <a:lstStyle/>
          <a:p>
            <a:pPr lvl="0"/>
            <a:r>
              <a:rPr lang="en-US" sz="2800" dirty="0"/>
              <a:t>Localization: Any point in polygon</a:t>
            </a:r>
          </a:p>
          <a:p>
            <a:pPr lvl="1"/>
            <a:r>
              <a:rPr lang="en-US" sz="2400" dirty="0"/>
              <a:t>but normally the geometric </a:t>
            </a:r>
            <a:r>
              <a:rPr lang="en-US" sz="2400" dirty="0" err="1"/>
              <a:t>centre</a:t>
            </a:r>
            <a:endParaRPr lang="en-US" sz="2400" dirty="0"/>
          </a:p>
          <a:p>
            <a:pPr lvl="0"/>
            <a:r>
              <a:rPr lang="en-US" sz="2800" dirty="0"/>
              <a:t>Quantization: The Polygon containing point</a:t>
            </a:r>
          </a:p>
          <a:p>
            <a:pPr lvl="1"/>
            <a:r>
              <a:rPr lang="en-US" sz="2400" dirty="0"/>
              <a:t>but finding it can</a:t>
            </a:r>
            <a:r>
              <a:rPr lang="en-US" sz="2400" baseline="0" dirty="0"/>
              <a:t> take time</a:t>
            </a:r>
          </a:p>
          <a:p>
            <a:pPr lvl="1"/>
            <a:r>
              <a:rPr lang="en-US" sz="2400" baseline="0" dirty="0"/>
              <a:t>Could use coherence assumption</a:t>
            </a:r>
          </a:p>
          <a:p>
            <a:pPr lvl="2"/>
            <a:r>
              <a:rPr lang="en-US" sz="2000" dirty="0"/>
              <a:t>Search</a:t>
            </a:r>
            <a:r>
              <a:rPr lang="en-US" sz="2000" baseline="0" dirty="0"/>
              <a:t> polygons nearest last known position</a:t>
            </a:r>
          </a:p>
          <a:p>
            <a:pPr lvl="0"/>
            <a:r>
              <a:rPr lang="en-US" sz="2800" dirty="0"/>
              <a:t>Edges as nodes?</a:t>
            </a:r>
          </a:p>
          <a:p>
            <a:pPr lvl="0"/>
            <a:r>
              <a:rPr lang="en-US" sz="2800" dirty="0"/>
              <a:t>Some polygons cannot contain players/NPCs</a:t>
            </a:r>
          </a:p>
          <a:p>
            <a:pPr lvl="1"/>
            <a:r>
              <a:rPr lang="en-US" sz="2400" dirty="0"/>
              <a:t>too small, too near obstacles</a:t>
            </a:r>
          </a:p>
          <a:p>
            <a:pPr lvl="1"/>
            <a:r>
              <a:rPr lang="en-US" sz="2400" dirty="0"/>
              <a:t>need to prune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3 - Polygonal Meshes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/>
          <a:lstStyle/>
          <a:p>
            <a:pPr lvl="0"/>
            <a:r>
              <a:rPr lang="en-US" sz="2800" dirty="0"/>
              <a:t>Very popular technique</a:t>
            </a:r>
          </a:p>
          <a:p>
            <a:pPr lvl="1"/>
            <a:r>
              <a:rPr lang="en-US" sz="2400" dirty="0"/>
              <a:t>Especially for different geometries such as planning routes up walls, across ceilings e.g. spiders</a:t>
            </a:r>
          </a:p>
          <a:p>
            <a:pPr lvl="1"/>
            <a:r>
              <a:rPr lang="en-US" sz="2400" dirty="0"/>
              <a:t>NPCs can go anywhere in a cell (convex)</a:t>
            </a:r>
          </a:p>
          <a:p>
            <a:pPr lvl="2"/>
            <a:r>
              <a:rPr lang="en-US" sz="2000" dirty="0"/>
              <a:t>NPCs not limited to moving to nearest waypoint</a:t>
            </a:r>
          </a:p>
          <a:p>
            <a:pPr lvl="1"/>
            <a:r>
              <a:rPr lang="en-US" sz="2400" dirty="0"/>
              <a:t>NPCs of different sizes can use the same waypoint network</a:t>
            </a:r>
          </a:p>
          <a:p>
            <a:pPr lvl="1"/>
            <a:r>
              <a:rPr lang="en-US" sz="2400" dirty="0"/>
              <a:t>All major game engines provide </a:t>
            </a:r>
            <a:r>
              <a:rPr lang="en-US" sz="2400" dirty="0" err="1"/>
              <a:t>Navmeshes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73666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Compararison</a:t>
            </a:r>
            <a:endParaRPr lang="en-US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  <p:pic>
        <p:nvPicPr>
          <p:cNvPr id="1026" name="Picture 2" descr="https://www.researchgate.net/profile/Xiao_Cui7/publication/267809499/figure/fig3/AS:669494347304971@1536631299896/Different-representations-of-waypoint-graph-and-NavMesh-7_W640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82825"/>
            <a:ext cx="6090081" cy="446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02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Example from World of Warcraft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r>
              <a:rPr lang="en-IE" sz="2000" dirty="0"/>
              <a:t>Navigation using waypoints	vs	Navigation on a </a:t>
            </a:r>
            <a:r>
              <a:rPr lang="en-IE" sz="2000" dirty="0" err="1"/>
              <a:t>NavMesh</a:t>
            </a:r>
            <a:endParaRPr lang="en-IE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8800"/>
            <a:ext cx="4064813" cy="32366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974" y="1628800"/>
            <a:ext cx="4064813" cy="325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06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4 -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Dirichlet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E" sz="2000" b="1" dirty="0"/>
              <a:t>Johann Peter Gustav </a:t>
            </a:r>
            <a:r>
              <a:rPr lang="en-IE" sz="2000" b="1" dirty="0" err="1"/>
              <a:t>Lejeune</a:t>
            </a:r>
            <a:r>
              <a:rPr lang="en-IE" sz="2000" b="1" dirty="0"/>
              <a:t> </a:t>
            </a:r>
            <a:r>
              <a:rPr lang="en-IE" sz="2000" b="1" dirty="0" err="1"/>
              <a:t>Dirichlet</a:t>
            </a:r>
            <a:r>
              <a:rPr lang="en-IE" sz="2000" b="1" dirty="0"/>
              <a:t> (1805–1822)</a:t>
            </a:r>
            <a:endParaRPr lang="en-US" sz="2000" dirty="0">
              <a:solidFill>
                <a:schemeClr val="tx1"/>
              </a:solidFill>
            </a:endParaRPr>
          </a:p>
          <a:p>
            <a:pPr lvl="0"/>
            <a:r>
              <a:rPr lang="en-US" sz="2000" dirty="0">
                <a:solidFill>
                  <a:schemeClr val="tx1"/>
                </a:solidFill>
              </a:rPr>
              <a:t>Also known as </a:t>
            </a:r>
            <a:r>
              <a:rPr lang="en-US" sz="2000" b="1" dirty="0" err="1">
                <a:solidFill>
                  <a:schemeClr val="tx1"/>
                </a:solidFill>
              </a:rPr>
              <a:t>Voronoi</a:t>
            </a:r>
            <a:r>
              <a:rPr lang="en-US" sz="2000" dirty="0">
                <a:solidFill>
                  <a:schemeClr val="tx1"/>
                </a:solidFill>
              </a:rPr>
              <a:t> Polygons in 2D </a:t>
            </a:r>
          </a:p>
          <a:p>
            <a:pPr lvl="1"/>
            <a:r>
              <a:rPr lang="en-IE" sz="2000" b="1" dirty="0"/>
              <a:t>Georgy </a:t>
            </a:r>
            <a:r>
              <a:rPr lang="en-IE" sz="2000" b="1" dirty="0" err="1"/>
              <a:t>Voronoy</a:t>
            </a:r>
            <a:r>
              <a:rPr lang="en-IE" sz="2000" b="1" dirty="0"/>
              <a:t> (1868 – 1908)</a:t>
            </a:r>
            <a:endParaRPr lang="en-US" sz="2000" b="1" dirty="0"/>
          </a:p>
          <a:p>
            <a:r>
              <a:rPr lang="en-US" sz="2000" dirty="0">
                <a:solidFill>
                  <a:schemeClr val="tx1"/>
                </a:solidFill>
              </a:rPr>
              <a:t>Describes the spatial relationship between points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Region around one of a finite set of source points whose interior consists of everywhere that is closer to that point than any other point</a:t>
            </a:r>
          </a:p>
          <a:p>
            <a:r>
              <a:rPr lang="en-US" sz="2000" dirty="0"/>
              <a:t>Each domain has a characteristic point</a:t>
            </a:r>
          </a:p>
          <a:p>
            <a:pPr lvl="0"/>
            <a:r>
              <a:rPr lang="en-US" sz="2000" dirty="0"/>
              <a:t>Connections are placed between neighboring domains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3648" y="4088085"/>
            <a:ext cx="2809875" cy="2581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58469" y="4097958"/>
            <a:ext cx="2809875" cy="2552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4 - Delaunay Triangulation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IE" sz="2000" b="1" dirty="0"/>
              <a:t>Boris </a:t>
            </a:r>
            <a:r>
              <a:rPr lang="en-IE" sz="2000" b="1" dirty="0" err="1"/>
              <a:t>Nikolaevich</a:t>
            </a:r>
            <a:r>
              <a:rPr lang="en-IE" sz="2000" b="1" dirty="0"/>
              <a:t> Delaunay (1890 – 1980)</a:t>
            </a:r>
            <a:endParaRPr lang="en-US" sz="2000" dirty="0">
              <a:solidFill>
                <a:schemeClr val="tx1"/>
              </a:solidFill>
            </a:endParaRPr>
          </a:p>
          <a:p>
            <a:pPr lvl="0"/>
            <a:r>
              <a:rPr lang="en-US" sz="2000" dirty="0">
                <a:solidFill>
                  <a:schemeClr val="tx1"/>
                </a:solidFill>
              </a:rPr>
              <a:t>The pattern of </a:t>
            </a:r>
            <a:r>
              <a:rPr lang="en-US" sz="2000" kern="1200" dirty="0">
                <a:solidFill>
                  <a:schemeClr val="tx1"/>
                </a:solidFill>
              </a:rPr>
              <a:t>connections between </a:t>
            </a:r>
            <a:r>
              <a:rPr lang="en-US" sz="2000" kern="1200" dirty="0" err="1">
                <a:solidFill>
                  <a:schemeClr val="tx1"/>
                </a:solidFill>
              </a:rPr>
              <a:t>Veronoi</a:t>
            </a:r>
            <a:r>
              <a:rPr lang="en-US" sz="2000" kern="1200" dirty="0">
                <a:solidFill>
                  <a:schemeClr val="tx1"/>
                </a:solidFill>
              </a:rPr>
              <a:t> regions can be found using Delaunay triangulation</a:t>
            </a:r>
          </a:p>
          <a:p>
            <a:pPr lvl="1"/>
            <a:r>
              <a:rPr lang="en-IE" sz="1800" dirty="0"/>
              <a:t>The nodes (or generators) of the </a:t>
            </a:r>
            <a:r>
              <a:rPr lang="en-IE" sz="1800" dirty="0" err="1"/>
              <a:t>Voronoi</a:t>
            </a:r>
            <a:r>
              <a:rPr lang="en-IE" sz="1800" dirty="0"/>
              <a:t> diagram are the vertices of the Delaunay triangulation.</a:t>
            </a:r>
          </a:p>
          <a:p>
            <a:pPr lvl="1"/>
            <a:r>
              <a:rPr lang="en-IE" sz="1800" dirty="0"/>
              <a:t>Each triangle of the Delaunay triangulation is associated with one vertex of the </a:t>
            </a:r>
            <a:r>
              <a:rPr lang="en-IE" sz="1800" dirty="0" err="1"/>
              <a:t>Voronoi</a:t>
            </a:r>
            <a:r>
              <a:rPr lang="en-IE" sz="1800" dirty="0"/>
              <a:t> diagram.</a:t>
            </a:r>
          </a:p>
          <a:p>
            <a:pPr lvl="1"/>
            <a:r>
              <a:rPr lang="en-IE" sz="1800" dirty="0"/>
              <a:t>The vertex is located at the centre of the circumscribed circle.</a:t>
            </a:r>
          </a:p>
          <a:p>
            <a:pPr lvl="1"/>
            <a:r>
              <a:rPr lang="en-IE" sz="1800" dirty="0"/>
              <a:t>The </a:t>
            </a:r>
            <a:r>
              <a:rPr lang="en-IE" sz="1800" dirty="0" err="1"/>
              <a:t>circumcirle</a:t>
            </a:r>
            <a:r>
              <a:rPr lang="en-IE" sz="1800" dirty="0"/>
              <a:t> of each triangle is empty</a:t>
            </a:r>
            <a:endParaRPr lang="en-US" sz="1800" dirty="0"/>
          </a:p>
          <a:p>
            <a:endParaRPr lang="en-US" sz="2000" dirty="0"/>
          </a:p>
          <a:p>
            <a:r>
              <a:rPr lang="en-US" sz="2000" dirty="0"/>
              <a:t>Adds overhead to development</a:t>
            </a:r>
          </a:p>
          <a:p>
            <a:pPr lvl="0"/>
            <a:r>
              <a:rPr lang="en-US" sz="2000" kern="1200" dirty="0">
                <a:solidFill>
                  <a:schemeClr val="tx1"/>
                </a:solidFill>
              </a:rPr>
              <a:t>Can use Artist (Designer) to specify nodes </a:t>
            </a:r>
          </a:p>
          <a:p>
            <a:pPr marL="0" lvl="0" indent="354013">
              <a:buNone/>
            </a:pPr>
            <a:r>
              <a:rPr lang="en-US" sz="2000" kern="1200" dirty="0">
                <a:solidFill>
                  <a:schemeClr val="tx1"/>
                </a:solidFill>
              </a:rPr>
              <a:t>and automatically generate domains from these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  <p:pic>
        <p:nvPicPr>
          <p:cNvPr id="2052" name="Picture 4" descr="https://i.ytimg.com/vi/PdV7sCb0k3M/maxresdefaul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056562"/>
            <a:ext cx="3096344" cy="221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470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4 - Delaunay Triangulation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16</a:t>
            </a:fld>
            <a:endParaRPr lang="en-IE" dirty="0"/>
          </a:p>
        </p:txBody>
      </p:sp>
      <p:pic>
        <p:nvPicPr>
          <p:cNvPr id="3074" name="Picture 2" descr="Example Voronoi diagram with Delaunay overla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268760"/>
            <a:ext cx="5184576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016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4 - Delaunay Triangulation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600" dirty="0"/>
              <a:t>Example: </a:t>
            </a:r>
            <a:r>
              <a:rPr lang="en-US" sz="1600" dirty="0" err="1"/>
              <a:t>Voronoi</a:t>
            </a:r>
            <a:r>
              <a:rPr lang="en-US" sz="1600" dirty="0"/>
              <a:t> diagrams with Lloyd relaxation producing a nice set of polygons</a:t>
            </a:r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r>
              <a:rPr lang="en-US" sz="1200">
                <a:hlinkClick r:id="rId2"/>
              </a:rPr>
              <a:t>http://simblob.blogspot.ie/2010/09/polygon-map-generation-part-2.html</a:t>
            </a:r>
            <a:endParaRPr lang="en-US" sz="1200" kern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17</a:t>
            </a:fld>
            <a:endParaRPr lang="en-IE" dirty="0"/>
          </a:p>
        </p:txBody>
      </p:sp>
      <p:pic>
        <p:nvPicPr>
          <p:cNvPr id="4100" name="Picture 4" descr="Biome ma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5124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www-cs-students.stanford.edu/~amitp/game-programming/polygon-map-generation/voronoi-map-goal-16000-shade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256" y="1844824"/>
            <a:ext cx="3784848" cy="378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29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4 -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Dirichlet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Domains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Quantization: </a:t>
            </a:r>
          </a:p>
          <a:p>
            <a:pPr lvl="1"/>
            <a:r>
              <a:rPr lang="en-US" sz="2000" kern="1200" dirty="0">
                <a:solidFill>
                  <a:schemeClr val="tx1"/>
                </a:solidFill>
              </a:rPr>
              <a:t>Find closest point</a:t>
            </a:r>
          </a:p>
          <a:p>
            <a:pPr lvl="1"/>
            <a:r>
              <a:rPr lang="en-US" sz="2000" dirty="0"/>
              <a:t>Searching through all points to find the closest is time consuming O(n)</a:t>
            </a:r>
          </a:p>
          <a:p>
            <a:pPr lvl="1"/>
            <a:r>
              <a:rPr lang="en-US" sz="2000" dirty="0"/>
              <a:t>Use a partitioning algorithm (e.g. BSP) to only consider nearby points</a:t>
            </a:r>
          </a:p>
          <a:p>
            <a:pPr lvl="0"/>
            <a:r>
              <a:rPr lang="en-US" sz="2400" dirty="0"/>
              <a:t>Localization: </a:t>
            </a:r>
          </a:p>
          <a:p>
            <a:pPr lvl="1"/>
            <a:r>
              <a:rPr lang="en-US" sz="2000" dirty="0"/>
              <a:t>Position of characteristic point of domain</a:t>
            </a:r>
          </a:p>
          <a:p>
            <a:pPr lvl="0"/>
            <a:r>
              <a:rPr lang="en-US" sz="2400" dirty="0"/>
              <a:t>Invalid graphs can be produced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Pathfinding solution might not be feasible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Intricate shapes can be designed</a:t>
            </a:r>
            <a:r>
              <a:rPr lang="en-US" sz="2000"/>
              <a:t>, therefore traveling </a:t>
            </a:r>
            <a:r>
              <a:rPr lang="en-US" sz="2000" dirty="0"/>
              <a:t>to two adjacent Dirichlet domains might in actuality lead through a third domain that is impassable</a:t>
            </a:r>
          </a:p>
          <a:p>
            <a:pPr lvl="1"/>
            <a:r>
              <a:rPr lang="en-US" sz="2000" dirty="0"/>
              <a:t>but if we set points manually…</a:t>
            </a:r>
          </a:p>
          <a:p>
            <a:pPr lvl="1"/>
            <a:r>
              <a:rPr lang="en-US" sz="2000" dirty="0"/>
              <a:t>Incorporate obstacle avoidance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18</a:t>
            </a:fld>
            <a:endParaRPr lang="en-I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4 -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Dirichlet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Domains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Usefulness: </a:t>
            </a:r>
          </a:p>
          <a:p>
            <a:pPr lvl="1"/>
            <a:r>
              <a:rPr lang="en-US" sz="2000" kern="1200" dirty="0">
                <a:solidFill>
                  <a:schemeClr val="tx1"/>
                </a:solidFill>
              </a:rPr>
              <a:t>Widely used</a:t>
            </a:r>
          </a:p>
          <a:p>
            <a:pPr lvl="1"/>
            <a:r>
              <a:rPr lang="en-US" sz="2000" dirty="0"/>
              <a:t>Easy to program (</a:t>
            </a:r>
            <a:r>
              <a:rPr lang="en-US" sz="2000" dirty="0" err="1"/>
              <a:t>ish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Easy to change</a:t>
            </a:r>
          </a:p>
          <a:p>
            <a:pPr lvl="1"/>
            <a:r>
              <a:rPr lang="en-US" sz="2000"/>
              <a:t>Pathfinding friendly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19</a:t>
            </a:fld>
            <a:endParaRPr lang="en-I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Veronoi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is everywhere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2688044" y="13724981"/>
            <a:ext cx="778508" cy="143536"/>
          </a:xfrm>
        </p:spPr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20</a:t>
            </a:fld>
            <a:endParaRPr lang="en-IE" dirty="0"/>
          </a:p>
        </p:txBody>
      </p:sp>
      <p:pic>
        <p:nvPicPr>
          <p:cNvPr id="1026" name="Picture 2" descr="http://www.wildlifedepartment.com/wildlifemgmt/turtles/Common%20Map%20Turtl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3479841" cy="231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mg.thesun.co.uk/aidemitlum/archive/01161/giraffe-main_1161152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307754"/>
            <a:ext cx="2032274" cy="283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tomaszjaniak.files.wordpress.com/2011/04/169_lisc_l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005064"/>
            <a:ext cx="2963121" cy="222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www.simplygroupco.com/image/cache/data/honeycomb-icecream-500x50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440" y="4149080"/>
            <a:ext cx="2636912" cy="263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713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Putting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5770984" cy="5000625"/>
          </a:xfrm>
        </p:spPr>
        <p:txBody>
          <a:bodyPr>
            <a:noAutofit/>
          </a:bodyPr>
          <a:lstStyle/>
          <a:p>
            <a:endParaRPr lang="en-IE" sz="2400" dirty="0"/>
          </a:p>
          <a:p>
            <a:r>
              <a:rPr lang="en-IE" sz="2400" dirty="0"/>
              <a:t>End points normally somewhere within a triangle</a:t>
            </a:r>
          </a:p>
          <a:p>
            <a:pPr lvl="1"/>
            <a:r>
              <a:rPr lang="en-IE" sz="1600" dirty="0"/>
              <a:t>But which one? </a:t>
            </a:r>
            <a:r>
              <a:rPr lang="en-IE" sz="1600" dirty="0" err="1"/>
              <a:t>PointInsideTriangle</a:t>
            </a:r>
            <a:r>
              <a:rPr lang="en-IE" sz="1600" dirty="0"/>
              <a:t>()</a:t>
            </a:r>
          </a:p>
          <a:p>
            <a:pPr lvl="2"/>
            <a:r>
              <a:rPr lang="en-US" sz="1200" dirty="0"/>
              <a:t>Both points are located on the same triangle</a:t>
            </a:r>
          </a:p>
          <a:p>
            <a:pPr lvl="2"/>
            <a:r>
              <a:rPr lang="en-US" sz="1200" dirty="0"/>
              <a:t>One or both points are outside all triangles</a:t>
            </a:r>
          </a:p>
          <a:p>
            <a:pPr lvl="2"/>
            <a:r>
              <a:rPr lang="en-US" sz="1200" dirty="0"/>
              <a:t>Both points are located on different triangles</a:t>
            </a:r>
          </a:p>
          <a:p>
            <a:endParaRPr lang="en-US" sz="2000" dirty="0"/>
          </a:p>
          <a:p>
            <a:r>
              <a:rPr lang="en-US" sz="2000" dirty="0"/>
              <a:t>Call A*</a:t>
            </a:r>
          </a:p>
          <a:p>
            <a:pPr lvl="1"/>
            <a:r>
              <a:rPr lang="en-US" sz="1600" dirty="0"/>
              <a:t>All triangle vertices in the open list</a:t>
            </a:r>
          </a:p>
          <a:p>
            <a:pPr lvl="1"/>
            <a:r>
              <a:rPr lang="en-US" sz="1600" dirty="0"/>
              <a:t>Finished when on one of vertices from goal triangle</a:t>
            </a:r>
          </a:p>
          <a:p>
            <a:pPr lvl="1"/>
            <a:r>
              <a:rPr lang="en-US" sz="1600" dirty="0"/>
              <a:t>Straight line to goal</a:t>
            </a:r>
            <a:endParaRPr lang="en-IE" sz="1600" dirty="0"/>
          </a:p>
          <a:p>
            <a:endParaRPr lang="en-IE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21</a:t>
            </a:fld>
            <a:endParaRPr lang="en-IE" dirty="0"/>
          </a:p>
        </p:txBody>
      </p:sp>
      <p:pic>
        <p:nvPicPr>
          <p:cNvPr id="1026" name="Picture 2" descr="https://cdn-images-1.medium.com/max/1600/1*4atZ3KdFLd4MDt2P61nxe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659" y="1125538"/>
            <a:ext cx="2804181" cy="280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dn-images-1.medium.com/max/1600/1*20LHNy6YvBNK_kSY4mnc8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949" y="3988967"/>
            <a:ext cx="2411599" cy="241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2620" y="5445224"/>
            <a:ext cx="6421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Game Development – A* on Triangulated Spaces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hlinkClick r:id="rId6"/>
              </a:rPr>
              <a:t>Javascript</a:t>
            </a:r>
            <a:r>
              <a:rPr lang="en-US" dirty="0">
                <a:hlinkClick r:id="rId6"/>
              </a:rPr>
              <a:t> example</a:t>
            </a:r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 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E" sz="2800" dirty="0"/>
              <a:t>Smooth paths look more natural!</a:t>
            </a:r>
          </a:p>
          <a:p>
            <a:r>
              <a:rPr lang="en-IE" sz="2800" dirty="0"/>
              <a:t>Some graphs can be highly erratic</a:t>
            </a:r>
          </a:p>
          <a:p>
            <a:pPr lvl="1"/>
            <a:r>
              <a:rPr lang="en-IE" sz="2400" dirty="0"/>
              <a:t>NPC looks unintelligent</a:t>
            </a:r>
          </a:p>
          <a:p>
            <a:r>
              <a:rPr lang="en-IE" sz="2800" dirty="0"/>
              <a:t>Could use steering behaviour to smooth the path</a:t>
            </a:r>
          </a:p>
          <a:p>
            <a:r>
              <a:rPr lang="en-IE" sz="2800" dirty="0"/>
              <a:t>Otherwise adjust path with a smoothing algorithm</a:t>
            </a:r>
          </a:p>
          <a:p>
            <a:pPr lvl="1"/>
            <a:r>
              <a:rPr lang="en-IE" sz="2400" dirty="0"/>
              <a:t>Can be somewhat time consuming due to geometry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83726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 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Tile based graphs can be especially erratic</a:t>
            </a:r>
          </a:p>
          <a:p>
            <a:r>
              <a:rPr lang="en-US" sz="2800" dirty="0"/>
              <a:t>Use straight lines when moving where possible</a:t>
            </a:r>
          </a:p>
          <a:p>
            <a:pPr lvl="1"/>
            <a:r>
              <a:rPr lang="en-US" sz="2400" dirty="0"/>
              <a:t>where necessary (overhead of computing smooth paths)</a:t>
            </a:r>
          </a:p>
          <a:p>
            <a:pPr lvl="0"/>
            <a:r>
              <a:rPr lang="en-US" sz="2800" dirty="0"/>
              <a:t>Create</a:t>
            </a:r>
            <a:r>
              <a:rPr lang="en-US" sz="2800" baseline="0" dirty="0"/>
              <a:t> new path from old as follows</a:t>
            </a:r>
          </a:p>
          <a:p>
            <a:pPr lvl="1"/>
            <a:r>
              <a:rPr lang="en-US" sz="2400" dirty="0"/>
              <a:t>First node of new path is first node of old</a:t>
            </a:r>
            <a:r>
              <a:rPr lang="en-US" sz="2400" baseline="0" dirty="0"/>
              <a:t> path</a:t>
            </a:r>
          </a:p>
          <a:p>
            <a:pPr lvl="1"/>
            <a:r>
              <a:rPr lang="en-US" sz="2400" baseline="0" dirty="0"/>
              <a:t>Cast ray to each node in old path until </a:t>
            </a:r>
            <a:r>
              <a:rPr lang="en-US" sz="2400" baseline="0" dirty="0" err="1"/>
              <a:t>LoS</a:t>
            </a:r>
            <a:r>
              <a:rPr lang="en-US" sz="2400" baseline="0" dirty="0"/>
              <a:t> is not found</a:t>
            </a:r>
          </a:p>
          <a:p>
            <a:pPr lvl="1"/>
            <a:r>
              <a:rPr lang="en-US" sz="2400" baseline="0" dirty="0"/>
              <a:t>Add last </a:t>
            </a:r>
            <a:r>
              <a:rPr lang="en-US" sz="2400" baseline="0" dirty="0" err="1"/>
              <a:t>LoS</a:t>
            </a:r>
            <a:r>
              <a:rPr lang="en-US" sz="2400" baseline="0" dirty="0"/>
              <a:t> node to new path</a:t>
            </a:r>
          </a:p>
          <a:p>
            <a:pPr lvl="1"/>
            <a:r>
              <a:rPr lang="en-US" sz="2400" baseline="0" dirty="0"/>
              <a:t>Repeat process from new node.</a:t>
            </a:r>
          </a:p>
          <a:p>
            <a:pPr lvl="0"/>
            <a:r>
              <a:rPr lang="en-US" sz="2800" dirty="0"/>
              <a:t>Finds smoother path but not necessarily</a:t>
            </a:r>
            <a:r>
              <a:rPr lang="en-US" sz="2800" baseline="0" dirty="0"/>
              <a:t> best smooth path.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23</a:t>
            </a:fld>
            <a:endParaRPr lang="en-IE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 Smoothing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24</a:t>
            </a:fld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74E20-D6EC-4BD9-9674-C38848A2F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001" y="1412776"/>
            <a:ext cx="4847997" cy="424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63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smoothPath(oldPath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if length(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oldPath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 == 2: return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oldPath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newPath.add(oldPath[0])</a:t>
            </a:r>
          </a:p>
          <a:p>
            <a:pPr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= 2;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oldPath.length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++):</a:t>
            </a:r>
          </a:p>
          <a:p>
            <a:pPr lvl="1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if NOT(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LoS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newPath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[length(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newPath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)-1],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oldPath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])):</a:t>
            </a:r>
          </a:p>
          <a:p>
            <a:pPr lvl="2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newPath.add(oldPath[i-1])</a:t>
            </a:r>
          </a:p>
          <a:p>
            <a:pPr lvl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newPath.add(oldPath[length(oldPath)-1])</a:t>
            </a:r>
          </a:p>
          <a:p>
            <a:pPr lvl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newPath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25</a:t>
            </a:fld>
            <a:endParaRPr lang="en-IE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smoothPath(oldPath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if length(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oldPath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 == 2: return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oldPath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newPath.add(oldPath[0])</a:t>
            </a:r>
          </a:p>
          <a:p>
            <a:pPr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= 2;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oldPath.length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++):</a:t>
            </a:r>
          </a:p>
          <a:p>
            <a:pPr lvl="1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if NOT(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LoS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newPath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[length(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newPath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)-1],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oldPath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])):</a:t>
            </a:r>
          </a:p>
          <a:p>
            <a:pPr lvl="2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newPath.add(oldPath[i-1])</a:t>
            </a:r>
          </a:p>
          <a:p>
            <a:pPr lvl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newPath.add(oldPath[length(oldPath)-1])</a:t>
            </a:r>
          </a:p>
          <a:p>
            <a:pPr lvl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newPath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26</a:t>
            </a:fld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211960" y="4941168"/>
            <a:ext cx="367240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Expensive ray-casting 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771800" y="3284984"/>
            <a:ext cx="1440160" cy="1656184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6949</TotalTime>
  <Words>1465</Words>
  <Application>Microsoft Office PowerPoint</Application>
  <PresentationFormat>On-screen Show (4:3)</PresentationFormat>
  <Paragraphs>266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Custom Design</vt:lpstr>
      <vt:lpstr>1_Custom Design</vt:lpstr>
      <vt:lpstr>Representing the Game World</vt:lpstr>
      <vt:lpstr>Generation</vt:lpstr>
      <vt:lpstr>Division Scheme</vt:lpstr>
      <vt:lpstr>Division Schemes</vt:lpstr>
      <vt:lpstr>1 - Tile Graphs</vt:lpstr>
      <vt:lpstr>1 - Tile Graphs</vt:lpstr>
      <vt:lpstr>1 - Tile Graphs</vt:lpstr>
      <vt:lpstr>2 - Points of Visibility</vt:lpstr>
      <vt:lpstr>3 - Polygonal Meshes</vt:lpstr>
      <vt:lpstr>3 - Polygonal Meshes</vt:lpstr>
      <vt:lpstr>3 - Polygonal Meshes</vt:lpstr>
      <vt:lpstr>Compararison</vt:lpstr>
      <vt:lpstr>Example from World of Warcraft</vt:lpstr>
      <vt:lpstr>4 - Dirichlet Domains</vt:lpstr>
      <vt:lpstr>4 - Delaunay Triangulation</vt:lpstr>
      <vt:lpstr>4 - Delaunay Triangulation</vt:lpstr>
      <vt:lpstr>4 - Delaunay Triangulation</vt:lpstr>
      <vt:lpstr>4 - Dirichlet Domains </vt:lpstr>
      <vt:lpstr>4 - Dirichlet Domains </vt:lpstr>
      <vt:lpstr>Veronoi is everywhere</vt:lpstr>
      <vt:lpstr>Putting it all together</vt:lpstr>
      <vt:lpstr>Path Smoothing</vt:lpstr>
      <vt:lpstr>Path Smoothing</vt:lpstr>
      <vt:lpstr>Path Smoothing</vt:lpstr>
      <vt:lpstr>smoothPath(oldPath)</vt:lpstr>
      <vt:lpstr>smoothPath(oldPath)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947</cp:revision>
  <dcterms:created xsi:type="dcterms:W3CDTF">2007-05-08T17:20:09Z</dcterms:created>
  <dcterms:modified xsi:type="dcterms:W3CDTF">2025-10-20T09:31:43Z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