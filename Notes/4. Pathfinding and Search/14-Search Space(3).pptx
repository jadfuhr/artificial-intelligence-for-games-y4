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 id="2147483869" r:id="rId2"/>
  </p:sldMasterIdLst>
  <p:notesMasterIdLst>
    <p:notesMasterId r:id="rId18"/>
  </p:notesMasterIdLst>
  <p:sldIdLst>
    <p:sldId id="266" r:id="rId3"/>
    <p:sldId id="282" r:id="rId4"/>
    <p:sldId id="267" r:id="rId5"/>
    <p:sldId id="268" r:id="rId6"/>
    <p:sldId id="269" r:id="rId7"/>
    <p:sldId id="270" r:id="rId8"/>
    <p:sldId id="280" r:id="rId9"/>
    <p:sldId id="272" r:id="rId10"/>
    <p:sldId id="273" r:id="rId11"/>
    <p:sldId id="276" r:id="rId12"/>
    <p:sldId id="275" r:id="rId13"/>
    <p:sldId id="281" r:id="rId14"/>
    <p:sldId id="277" r:id="rId15"/>
    <p:sldId id="278" r:id="rId16"/>
    <p:sldId id="279" r:id="rId17"/>
  </p:sldIdLst>
  <p:sldSz cx="9144000" cy="6858000" type="screen4x3"/>
  <p:notesSz cx="6884988" cy="10088563"/>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EA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71" autoAdjust="0"/>
  </p:normalViewPr>
  <p:slideViewPr>
    <p:cSldViewPr>
      <p:cViewPr varScale="1">
        <p:scale>
          <a:sx n="88" d="100"/>
          <a:sy n="88" d="100"/>
        </p:scale>
        <p:origin x="165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isin Cawley" userId="6b66d80f-e52a-4eb8-b588-9059f489afa4" providerId="ADAL" clId="{10AE18A8-0AAA-408A-B10A-FB38A0F02E6B}"/>
    <pc:docChg chg="modSld">
      <pc:chgData name="Oisin Cawley" userId="6b66d80f-e52a-4eb8-b588-9059f489afa4" providerId="ADAL" clId="{10AE18A8-0AAA-408A-B10A-FB38A0F02E6B}" dt="2024-10-07T09:18:58.801" v="2"/>
      <pc:docMkLst>
        <pc:docMk/>
      </pc:docMkLst>
      <pc:sldChg chg="modSp">
        <pc:chgData name="Oisin Cawley" userId="6b66d80f-e52a-4eb8-b588-9059f489afa4" providerId="ADAL" clId="{10AE18A8-0AAA-408A-B10A-FB38A0F02E6B}" dt="2024-10-07T09:14:19.419" v="0" actId="404"/>
        <pc:sldMkLst>
          <pc:docMk/>
          <pc:sldMk cId="3952217964" sldId="268"/>
        </pc:sldMkLst>
        <pc:spChg chg="mod">
          <ac:chgData name="Oisin Cawley" userId="6b66d80f-e52a-4eb8-b588-9059f489afa4" providerId="ADAL" clId="{10AE18A8-0AAA-408A-B10A-FB38A0F02E6B}" dt="2024-10-07T09:14:19.419" v="0" actId="404"/>
          <ac:spMkLst>
            <pc:docMk/>
            <pc:sldMk cId="3952217964" sldId="268"/>
            <ac:spMk id="4099" creationId="{00000000-0000-0000-0000-000000000000}"/>
          </ac:spMkLst>
        </pc:spChg>
      </pc:sldChg>
      <pc:sldChg chg="modAnim">
        <pc:chgData name="Oisin Cawley" userId="6b66d80f-e52a-4eb8-b588-9059f489afa4" providerId="ADAL" clId="{10AE18A8-0AAA-408A-B10A-FB38A0F02E6B}" dt="2024-10-07T09:18:58.801" v="2"/>
        <pc:sldMkLst>
          <pc:docMk/>
          <pc:sldMk cId="1874969588" sldId="276"/>
        </pc:sldMkLst>
      </pc:sldChg>
    </pc:docChg>
  </pc:docChgLst>
  <pc:docChgLst>
    <pc:chgData name="Oisin Cawley" userId="c7ebb277-34aa-421f-b739-032ced270c1a" providerId="ADAL" clId="{B06C3E11-93A0-4D3A-BFE1-ED62FF956C42}"/>
  </pc:docChgLst>
  <pc:docChgLst>
    <pc:chgData name="Oisin Cawley" userId="c7ebb277-34aa-421f-b739-032ced270c1a" providerId="ADAL" clId="{E56AA3DC-14B3-4D5D-A40E-C5E9DBFC1FB9}"/>
  </pc:docChgLst>
  <pc:docChgLst>
    <pc:chgData name="Oisin Cawley" userId="6b66d80f-e52a-4eb8-b588-9059f489afa4" providerId="ADAL" clId="{FF04D202-02D0-4401-BEF1-3B37737641CD}"/>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84500" cy="504825"/>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lvl1pPr>
              <a:defRPr sz="1200">
                <a:latin typeface="Arial" charset="0"/>
              </a:defRPr>
            </a:lvl1pPr>
          </a:lstStyle>
          <a:p>
            <a:pPr>
              <a:defRPr/>
            </a:pPr>
            <a:endParaRPr lang="en-US"/>
          </a:p>
        </p:txBody>
      </p:sp>
      <p:sp>
        <p:nvSpPr>
          <p:cNvPr id="6147" name="Rectangle 3"/>
          <p:cNvSpPr>
            <a:spLocks noGrp="1" noChangeArrowheads="1"/>
          </p:cNvSpPr>
          <p:nvPr>
            <p:ph type="dt" idx="1"/>
          </p:nvPr>
        </p:nvSpPr>
        <p:spPr bwMode="auto">
          <a:xfrm>
            <a:off x="3898900" y="0"/>
            <a:ext cx="2984500" cy="504825"/>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lvl1pPr algn="r">
              <a:defRPr sz="1200">
                <a:latin typeface="Arial" charset="0"/>
              </a:defRPr>
            </a:lvl1pPr>
          </a:lstStyle>
          <a:p>
            <a:pPr>
              <a:defRPr/>
            </a:pPr>
            <a:endParaRPr lang="en-US"/>
          </a:p>
        </p:txBody>
      </p:sp>
      <p:sp>
        <p:nvSpPr>
          <p:cNvPr id="33796" name="Rectangle 4"/>
          <p:cNvSpPr>
            <a:spLocks noGrp="1" noRot="1" noChangeAspect="1" noChangeArrowheads="1" noTextEdit="1"/>
          </p:cNvSpPr>
          <p:nvPr>
            <p:ph type="sldImg" idx="2"/>
          </p:nvPr>
        </p:nvSpPr>
        <p:spPr bwMode="auto">
          <a:xfrm>
            <a:off x="922338" y="757238"/>
            <a:ext cx="5041900" cy="3783012"/>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7388" y="4792663"/>
            <a:ext cx="5510212" cy="4538662"/>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582150"/>
            <a:ext cx="2984500" cy="504825"/>
          </a:xfrm>
          <a:prstGeom prst="rect">
            <a:avLst/>
          </a:prstGeom>
          <a:noFill/>
          <a:ln w="9525">
            <a:noFill/>
            <a:miter lim="800000"/>
            <a:headEnd/>
            <a:tailEnd/>
          </a:ln>
          <a:effectLst/>
        </p:spPr>
        <p:txBody>
          <a:bodyPr vert="horz" wrap="square" lIns="92802" tIns="46401" rIns="92802" bIns="46401" numCol="1" anchor="b" anchorCtr="0" compatLnSpc="1">
            <a:prstTxWarp prst="textNoShape">
              <a:avLst/>
            </a:prstTxWarp>
          </a:bodyPr>
          <a:lstStyle>
            <a:lvl1pPr>
              <a:defRPr sz="12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3898900" y="9582150"/>
            <a:ext cx="2984500" cy="504825"/>
          </a:xfrm>
          <a:prstGeom prst="rect">
            <a:avLst/>
          </a:prstGeom>
          <a:noFill/>
          <a:ln w="9525">
            <a:noFill/>
            <a:miter lim="800000"/>
            <a:headEnd/>
            <a:tailEnd/>
          </a:ln>
          <a:effectLst/>
        </p:spPr>
        <p:txBody>
          <a:bodyPr vert="horz" wrap="square" lIns="92802" tIns="46401" rIns="92802" bIns="46401" numCol="1" anchor="b" anchorCtr="0" compatLnSpc="1">
            <a:prstTxWarp prst="textNoShape">
              <a:avLst/>
            </a:prstTxWarp>
          </a:bodyPr>
          <a:lstStyle>
            <a:lvl1pPr algn="r">
              <a:defRPr sz="1200">
                <a:latin typeface="Arial" charset="0"/>
              </a:defRPr>
            </a:lvl1pPr>
          </a:lstStyle>
          <a:p>
            <a:pPr>
              <a:defRPr/>
            </a:pPr>
            <a:fld id="{05ACD5CE-1CB6-4E94-A92C-124437B24A09}" type="slidenum">
              <a:rPr lang="en-US"/>
              <a:pPr>
                <a:defRPr/>
              </a:pPr>
              <a:t>‹#›</a:t>
            </a:fld>
            <a:endParaRPr lang="en-US"/>
          </a:p>
        </p:txBody>
      </p:sp>
    </p:spTree>
    <p:extLst>
      <p:ext uri="{BB962C8B-B14F-4D97-AF65-F5344CB8AC3E}">
        <p14:creationId xmlns:p14="http://schemas.microsoft.com/office/powerpoint/2010/main" val="26899546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E" dirty="0"/>
              <a:t>Thought this was interesting:</a:t>
            </a:r>
            <a:r>
              <a:rPr lang="en-IE" baseline="0" dirty="0"/>
              <a:t> https://www.youtube.com/watch?v=MyFIxvK-sxs</a:t>
            </a:r>
          </a:p>
          <a:p>
            <a:endParaRPr lang="en-IE" dirty="0"/>
          </a:p>
        </p:txBody>
      </p:sp>
      <p:sp>
        <p:nvSpPr>
          <p:cNvPr id="4" name="Slide Number Placeholder 3"/>
          <p:cNvSpPr>
            <a:spLocks noGrp="1"/>
          </p:cNvSpPr>
          <p:nvPr>
            <p:ph type="sldNum" sz="quarter" idx="10"/>
          </p:nvPr>
        </p:nvSpPr>
        <p:spPr/>
        <p:txBody>
          <a:bodyPr/>
          <a:lstStyle/>
          <a:p>
            <a:pPr>
              <a:defRPr/>
            </a:pPr>
            <a:fld id="{05ACD5CE-1CB6-4E94-A92C-124437B24A09}" type="slidenum">
              <a:rPr lang="en-US" smtClean="0"/>
              <a:pPr>
                <a:defRPr/>
              </a:pPr>
              <a:t>15</a:t>
            </a:fld>
            <a:endParaRPr lang="en-US"/>
          </a:p>
        </p:txBody>
      </p:sp>
    </p:spTree>
    <p:extLst>
      <p:ext uri="{BB962C8B-B14F-4D97-AF65-F5344CB8AC3E}">
        <p14:creationId xmlns:p14="http://schemas.microsoft.com/office/powerpoint/2010/main" val="22223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5B83FCE8-4119-48FF-966B-7E5136F9C4B7}" type="slidenum">
              <a:rPr lang="en-IE"/>
              <a:pPr>
                <a:defRPr/>
              </a:pPr>
              <a:t>‹#›</a:t>
            </a:fld>
            <a:endParaRPr lang="en-I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67550" cy="778098"/>
          </a:xfrm>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Slide Number Placeholder 5"/>
          <p:cNvSpPr>
            <a:spLocks noGrp="1"/>
          </p:cNvSpPr>
          <p:nvPr>
            <p:ph type="sldNum" sz="quarter" idx="10"/>
          </p:nvPr>
        </p:nvSpPr>
        <p:spPr>
          <a:xfrm>
            <a:off x="6975475" y="6453188"/>
            <a:ext cx="2133600" cy="365125"/>
          </a:xfrm>
        </p:spPr>
        <p:txBody>
          <a:bodyPr/>
          <a:lstStyle>
            <a:lvl1pPr>
              <a:defRPr>
                <a:solidFill>
                  <a:schemeClr val="tx1"/>
                </a:solidFill>
              </a:defRPr>
            </a:lvl1pPr>
          </a:lstStyle>
          <a:p>
            <a:pPr>
              <a:defRPr/>
            </a:pPr>
            <a:fld id="{8E978DDB-8E96-4DB2-8C14-28FF9F7399E6}" type="slidenum">
              <a:rPr lang="en-IE"/>
              <a:pPr>
                <a:defRPr/>
              </a:pPr>
              <a:t>‹#›</a:t>
            </a:fld>
            <a:endParaRPr lang="en-I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6F37B5FB-2642-48F7-BDAC-64F1768F7B1F}" type="slidenum">
              <a:rPr lang="en-IE"/>
              <a:pPr>
                <a:defRPr/>
              </a:pPr>
              <a:t>‹#›</a:t>
            </a:fld>
            <a:endParaRPr lang="en-I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Slide Number Placeholder 5"/>
          <p:cNvSpPr>
            <a:spLocks noGrp="1"/>
          </p:cNvSpPr>
          <p:nvPr>
            <p:ph type="sldNum" sz="quarter" idx="10"/>
          </p:nvPr>
        </p:nvSpPr>
        <p:spPr/>
        <p:txBody>
          <a:bodyPr/>
          <a:lstStyle>
            <a:lvl1pPr>
              <a:defRPr/>
            </a:lvl1pPr>
          </a:lstStyle>
          <a:p>
            <a:pPr>
              <a:defRPr/>
            </a:pPr>
            <a:fld id="{D3281E1D-31C8-4BDE-8ED6-CD407A129044}" type="slidenum">
              <a:rPr lang="en-IE"/>
              <a:pPr>
                <a:defRPr/>
              </a:pPr>
              <a:t>‹#›</a:t>
            </a:fld>
            <a:endParaRPr lang="en-I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Slide Number Placeholder 5"/>
          <p:cNvSpPr>
            <a:spLocks noGrp="1"/>
          </p:cNvSpPr>
          <p:nvPr>
            <p:ph type="sldNum" sz="quarter" idx="10"/>
          </p:nvPr>
        </p:nvSpPr>
        <p:spPr/>
        <p:txBody>
          <a:bodyPr/>
          <a:lstStyle>
            <a:lvl1pPr>
              <a:defRPr/>
            </a:lvl1pPr>
          </a:lstStyle>
          <a:p>
            <a:pPr>
              <a:defRPr/>
            </a:pPr>
            <a:fld id="{1383B10E-0F2D-456E-A6C5-ABEC760B5FEE}" type="slidenum">
              <a:rPr lang="en-IE"/>
              <a:pPr>
                <a:defRPr/>
              </a:pPr>
              <a:t>‹#›</a:t>
            </a:fld>
            <a:endParaRPr lang="en-I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Slide Number Placeholder 5"/>
          <p:cNvSpPr>
            <a:spLocks noGrp="1"/>
          </p:cNvSpPr>
          <p:nvPr>
            <p:ph type="sldNum" sz="quarter" idx="10"/>
          </p:nvPr>
        </p:nvSpPr>
        <p:spPr/>
        <p:txBody>
          <a:bodyPr/>
          <a:lstStyle>
            <a:lvl1pPr>
              <a:defRPr/>
            </a:lvl1pPr>
          </a:lstStyle>
          <a:p>
            <a:pPr>
              <a:defRPr/>
            </a:pPr>
            <a:fld id="{0E2B34AF-0A0C-4B06-AF07-DCF028B85987}" type="slidenum">
              <a:rPr lang="en-IE"/>
              <a:pPr>
                <a:defRPr/>
              </a:pPr>
              <a:t>‹#›</a:t>
            </a:fld>
            <a:endParaRPr lang="en-I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D91CED97-0F19-4EA5-951E-9254A908A87C}" type="slidenum">
              <a:rPr lang="en-IE"/>
              <a:pPr>
                <a:defRPr/>
              </a:pPr>
              <a:t>‹#›</a:t>
            </a:fld>
            <a:endParaRPr lang="en-I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B3B1C59A-8D6D-445A-8651-08EDD062102A}" type="slidenum">
              <a:rPr lang="en-IE"/>
              <a:pPr>
                <a:defRPr/>
              </a:pPr>
              <a:t>‹#›</a:t>
            </a:fld>
            <a:endParaRPr lang="en-I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7" name="Slide Number Placeholder 6"/>
          <p:cNvSpPr>
            <a:spLocks noGrp="1"/>
          </p:cNvSpPr>
          <p:nvPr>
            <p:ph type="sldNum" sz="quarter" idx="12"/>
          </p:nvPr>
        </p:nvSpPr>
        <p:spPr/>
        <p:txBody>
          <a:bodyPr/>
          <a:lstStyle>
            <a:lvl1pPr>
              <a:defRPr/>
            </a:lvl1pPr>
          </a:lstStyle>
          <a:p>
            <a:pPr>
              <a:defRPr/>
            </a:pPr>
            <a:fld id="{90F1BCED-8D94-45EF-A610-3A53DC3D39DB}" type="slidenum">
              <a:rPr lang="en-IE"/>
              <a:pPr>
                <a:defRPr/>
              </a:pPr>
              <a:t>‹#›</a:t>
            </a:fld>
            <a:endParaRPr lang="en-I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196CC426-4027-45AA-AA9D-874E74495604}" type="slidenum">
              <a:rPr lang="en-IE"/>
              <a:pPr>
                <a:defRPr/>
              </a:pPr>
              <a:t>‹#›</a:t>
            </a:fld>
            <a:endParaRPr lang="en-I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C8D66E8D-4372-4450-AF9F-1F3F69E871FC}" type="slidenum">
              <a:rPr lang="en-IE"/>
              <a:pPr>
                <a:defRPr/>
              </a:pPr>
              <a:t>‹#›</a:t>
            </a:fld>
            <a:endParaRPr lang="en-I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41CF7FFA-D0E4-4688-B2F9-1175C1B7E3CC}" type="slidenum">
              <a:rPr lang="en-IE"/>
              <a:pPr>
                <a:defRPr/>
              </a:pPr>
              <a:t>‹#›</a:t>
            </a:fld>
            <a:endParaRPr lang="en-I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67550" cy="778098"/>
          </a:xfrm>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Slide Number Placeholder 5"/>
          <p:cNvSpPr>
            <a:spLocks noGrp="1"/>
          </p:cNvSpPr>
          <p:nvPr>
            <p:ph type="sldNum" sz="quarter" idx="10"/>
          </p:nvPr>
        </p:nvSpPr>
        <p:spPr>
          <a:xfrm>
            <a:off x="6975475" y="6453188"/>
            <a:ext cx="2133600" cy="365125"/>
          </a:xfrm>
        </p:spPr>
        <p:txBody>
          <a:bodyPr/>
          <a:lstStyle>
            <a:lvl1pPr>
              <a:defRPr>
                <a:solidFill>
                  <a:schemeClr val="tx1"/>
                </a:solidFill>
              </a:defRPr>
            </a:lvl1pPr>
          </a:lstStyle>
          <a:p>
            <a:pPr>
              <a:defRPr/>
            </a:pPr>
            <a:fld id="{84C9582D-2E31-434C-A6C1-A926DBB0B909}" type="slidenum">
              <a:rPr lang="en-IE"/>
              <a:pPr>
                <a:defRPr/>
              </a:pPr>
              <a:t>‹#›</a:t>
            </a:fld>
            <a:endParaRPr lang="en-IE"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B8A3DDA3-2712-46ED-A771-5399145A3D01}" type="slidenum">
              <a:rPr lang="en-IE"/>
              <a:pPr>
                <a:defRPr/>
              </a:pPr>
              <a:t>‹#›</a:t>
            </a:fld>
            <a:endParaRPr lang="en-I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Slide Number Placeholder 5"/>
          <p:cNvSpPr>
            <a:spLocks noGrp="1"/>
          </p:cNvSpPr>
          <p:nvPr>
            <p:ph type="sldNum" sz="quarter" idx="10"/>
          </p:nvPr>
        </p:nvSpPr>
        <p:spPr/>
        <p:txBody>
          <a:bodyPr/>
          <a:lstStyle>
            <a:lvl1pPr>
              <a:defRPr/>
            </a:lvl1pPr>
          </a:lstStyle>
          <a:p>
            <a:pPr>
              <a:defRPr/>
            </a:pPr>
            <a:fld id="{D3F2DE8F-7AAD-415A-8ED8-734D637B39D2}" type="slidenum">
              <a:rPr lang="en-IE"/>
              <a:pPr>
                <a:defRPr/>
              </a:pPr>
              <a:t>‹#›</a:t>
            </a:fld>
            <a:endParaRPr lang="en-I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Slide Number Placeholder 5"/>
          <p:cNvSpPr>
            <a:spLocks noGrp="1"/>
          </p:cNvSpPr>
          <p:nvPr>
            <p:ph type="sldNum" sz="quarter" idx="10"/>
          </p:nvPr>
        </p:nvSpPr>
        <p:spPr/>
        <p:txBody>
          <a:bodyPr/>
          <a:lstStyle>
            <a:lvl1pPr>
              <a:defRPr/>
            </a:lvl1pPr>
          </a:lstStyle>
          <a:p>
            <a:pPr>
              <a:defRPr/>
            </a:pPr>
            <a:fld id="{EE10BDE4-987C-4FBC-B9CB-4D6602561EC5}" type="slidenum">
              <a:rPr lang="en-IE"/>
              <a:pPr>
                <a:defRPr/>
              </a:pPr>
              <a:t>‹#›</a:t>
            </a:fld>
            <a:endParaRPr lang="en-IE"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Slide Number Placeholder 5"/>
          <p:cNvSpPr>
            <a:spLocks noGrp="1"/>
          </p:cNvSpPr>
          <p:nvPr>
            <p:ph type="sldNum" sz="quarter" idx="10"/>
          </p:nvPr>
        </p:nvSpPr>
        <p:spPr/>
        <p:txBody>
          <a:bodyPr/>
          <a:lstStyle>
            <a:lvl1pPr>
              <a:defRPr/>
            </a:lvl1pPr>
          </a:lstStyle>
          <a:p>
            <a:pPr>
              <a:defRPr/>
            </a:pPr>
            <a:fld id="{DA15138E-20E5-4AEE-9593-4CED1FF3B4A2}" type="slidenum">
              <a:rPr lang="en-IE"/>
              <a:pPr>
                <a:defRPr/>
              </a:pPr>
              <a:t>‹#›</a:t>
            </a:fld>
            <a:endParaRPr lang="en-IE"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18EED188-593D-4E5A-8309-224710DF2B50}" type="slidenum">
              <a:rPr lang="en-IE"/>
              <a:pPr>
                <a:defRPr/>
              </a:pPr>
              <a:t>‹#›</a:t>
            </a:fld>
            <a:endParaRPr lang="en-IE"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36225A37-78AD-4AC2-8CFD-83FEBCE05026}" type="slidenum">
              <a:rPr lang="en-IE"/>
              <a:pPr>
                <a:defRPr/>
              </a:pPr>
              <a:t>‹#›</a:t>
            </a:fld>
            <a:endParaRPr lang="en-IE"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7" name="Slide Number Placeholder 6"/>
          <p:cNvSpPr>
            <a:spLocks noGrp="1"/>
          </p:cNvSpPr>
          <p:nvPr>
            <p:ph type="sldNum" sz="quarter" idx="12"/>
          </p:nvPr>
        </p:nvSpPr>
        <p:spPr/>
        <p:txBody>
          <a:bodyPr/>
          <a:lstStyle>
            <a:lvl1pPr>
              <a:defRPr/>
            </a:lvl1pPr>
          </a:lstStyle>
          <a:p>
            <a:pPr>
              <a:defRPr/>
            </a:pPr>
            <a:fld id="{19F633C3-D837-4105-940D-252BA81F6873}" type="slidenum">
              <a:rPr lang="en-IE"/>
              <a:pPr>
                <a:defRPr/>
              </a:pPr>
              <a:t>‹#›</a:t>
            </a:fld>
            <a:endParaRPr lang="en-I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86A78F10-B8B1-474C-971B-7BA47E4F6CE2}" type="slidenum">
              <a:rPr lang="en-IE"/>
              <a:pPr>
                <a:defRPr/>
              </a:pPr>
              <a:t>‹#›</a:t>
            </a:fld>
            <a:endParaRPr lang="en-I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15A31C60-EE3E-42C6-80FB-27B190A0464E}" type="slidenum">
              <a:rPr lang="en-IE"/>
              <a:pPr>
                <a:defRPr/>
              </a:pPr>
              <a:t>‹#›</a:t>
            </a:fld>
            <a:endParaRPr lang="en-I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0675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E"/>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Slide Number Placeholder 5"/>
          <p:cNvSpPr>
            <a:spLocks noGrp="1"/>
          </p:cNvSpPr>
          <p:nvPr>
            <p:ph type="sldNum" sz="quarter" idx="4"/>
          </p:nvPr>
        </p:nvSpPr>
        <p:spPr>
          <a:xfrm>
            <a:off x="6948488" y="6519863"/>
            <a:ext cx="2133600" cy="338137"/>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2E1222C4-AD1C-443F-91C8-5935F67D99D4}" type="slidenum">
              <a:rPr lang="en-IE"/>
              <a:pPr>
                <a:defRPr/>
              </a:pPr>
              <a:t>‹#›</a:t>
            </a:fld>
            <a:endParaRPr lang="en-IE" dirty="0"/>
          </a:p>
        </p:txBody>
      </p:sp>
      <p:cxnSp>
        <p:nvCxnSpPr>
          <p:cNvPr id="12" name="Straight Connector 11"/>
          <p:cNvCxnSpPr/>
          <p:nvPr userDrawn="1"/>
        </p:nvCxnSpPr>
        <p:spPr>
          <a:xfrm>
            <a:off x="0" y="1484313"/>
            <a:ext cx="9144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txBox="1">
            <a:spLocks/>
          </p:cNvSpPr>
          <p:nvPr userDrawn="1"/>
        </p:nvSpPr>
        <p:spPr>
          <a:xfrm>
            <a:off x="0" y="6519863"/>
            <a:ext cx="4211638" cy="338137"/>
          </a:xfrm>
          <a:prstGeom prst="rect">
            <a:avLst/>
          </a:prstGeom>
        </p:spPr>
        <p:txBody>
          <a:bodyPr anchor="ctr"/>
          <a:lstStyle/>
          <a:p>
            <a:pPr>
              <a:defRPr/>
            </a:pPr>
            <a:r>
              <a:rPr lang="en-IE" sz="1200" dirty="0">
                <a:solidFill>
                  <a:schemeClr val="tx1">
                    <a:tint val="75000"/>
                  </a:schemeClr>
                </a:solidFill>
                <a:latin typeface="Arial" charset="0"/>
              </a:rPr>
              <a:t>AI for Games</a:t>
            </a:r>
          </a:p>
        </p:txBody>
      </p:sp>
      <p:pic>
        <p:nvPicPr>
          <p:cNvPr id="8" name="Picture 6" descr="SETU logo">
            <a:extLst>
              <a:ext uri="{FF2B5EF4-FFF2-40B4-BE49-F238E27FC236}">
                <a16:creationId xmlns:a16="http://schemas.microsoft.com/office/drawing/2014/main" id="{44BA678B-5443-4CB1-B88E-9632CC43CC2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718041" y="93003"/>
            <a:ext cx="1342293" cy="75313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31" r:id="rId4"/>
    <p:sldLayoutId id="2147484132" r:id="rId5"/>
    <p:sldLayoutId id="2147484133" r:id="rId6"/>
    <p:sldLayoutId id="2147484134" r:id="rId7"/>
    <p:sldLayoutId id="2147484135" r:id="rId8"/>
    <p:sldLayoutId id="2147484144" r:id="rId9"/>
    <p:sldLayoutId id="2147484145" r:id="rId10"/>
    <p:sldLayoutId id="214748414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7067550" cy="6334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E"/>
          </a:p>
        </p:txBody>
      </p:sp>
      <p:sp>
        <p:nvSpPr>
          <p:cNvPr id="2051" name="Text Placeholder 2"/>
          <p:cNvSpPr>
            <a:spLocks noGrp="1"/>
          </p:cNvSpPr>
          <p:nvPr>
            <p:ph type="body" idx="1"/>
          </p:nvPr>
        </p:nvSpPr>
        <p:spPr bwMode="auto">
          <a:xfrm>
            <a:off x="457200" y="1125538"/>
            <a:ext cx="8229600" cy="5000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6" name="Slide Number Placeholder 5"/>
          <p:cNvSpPr>
            <a:spLocks noGrp="1"/>
          </p:cNvSpPr>
          <p:nvPr>
            <p:ph type="sldNum" sz="quarter" idx="4"/>
          </p:nvPr>
        </p:nvSpPr>
        <p:spPr>
          <a:xfrm>
            <a:off x="6948488" y="6519863"/>
            <a:ext cx="2133600" cy="338137"/>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798A2B5B-F3F1-46D4-B91B-268967D35FC4}" type="slidenum">
              <a:rPr lang="en-IE"/>
              <a:pPr>
                <a:defRPr/>
              </a:pPr>
              <a:t>‹#›</a:t>
            </a:fld>
            <a:endParaRPr lang="en-IE" dirty="0"/>
          </a:p>
        </p:txBody>
      </p:sp>
      <p:cxnSp>
        <p:nvCxnSpPr>
          <p:cNvPr id="12" name="Straight Connector 11"/>
          <p:cNvCxnSpPr/>
          <p:nvPr userDrawn="1"/>
        </p:nvCxnSpPr>
        <p:spPr>
          <a:xfrm>
            <a:off x="0" y="981075"/>
            <a:ext cx="9144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txBox="1">
            <a:spLocks/>
          </p:cNvSpPr>
          <p:nvPr userDrawn="1"/>
        </p:nvSpPr>
        <p:spPr>
          <a:xfrm>
            <a:off x="0" y="6519863"/>
            <a:ext cx="4211638" cy="338137"/>
          </a:xfrm>
          <a:prstGeom prst="rect">
            <a:avLst/>
          </a:prstGeom>
        </p:spPr>
        <p:txBody>
          <a:bodyPr anchor="ctr"/>
          <a:lstStyle/>
          <a:p>
            <a:pPr>
              <a:defRPr/>
            </a:pPr>
            <a:r>
              <a:rPr lang="en-IE" sz="1200" dirty="0">
                <a:solidFill>
                  <a:schemeClr val="tx1">
                    <a:tint val="75000"/>
                  </a:schemeClr>
                </a:solidFill>
                <a:latin typeface="Arial" charset="0"/>
              </a:rPr>
              <a:t>AI for Games</a:t>
            </a:r>
          </a:p>
        </p:txBody>
      </p:sp>
      <p:pic>
        <p:nvPicPr>
          <p:cNvPr id="9" name="Picture 6" descr="SETU logo">
            <a:extLst>
              <a:ext uri="{FF2B5EF4-FFF2-40B4-BE49-F238E27FC236}">
                <a16:creationId xmlns:a16="http://schemas.microsoft.com/office/drawing/2014/main" id="{65AA31B4-6BDA-45F5-9A40-1F530AFC6A40}"/>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718041" y="93003"/>
            <a:ext cx="1342293" cy="75313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7" r:id="rId1"/>
    <p:sldLayoutId id="2147484148" r:id="rId2"/>
    <p:sldLayoutId id="2147484149" r:id="rId3"/>
    <p:sldLayoutId id="2147484136" r:id="rId4"/>
    <p:sldLayoutId id="2147484137" r:id="rId5"/>
    <p:sldLayoutId id="2147484138" r:id="rId6"/>
    <p:sldLayoutId id="2147484139" r:id="rId7"/>
    <p:sldLayoutId id="2147484140" r:id="rId8"/>
    <p:sldLayoutId id="2147484150" r:id="rId9"/>
    <p:sldLayoutId id="2147484151" r:id="rId10"/>
    <p:sldLayoutId id="2147484152"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www.youtube.com/watch?v=MyFIxvK-sxs" TargetMode="External"/><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Search Space</a:t>
            </a:r>
          </a:p>
        </p:txBody>
      </p:sp>
      <p:sp>
        <p:nvSpPr>
          <p:cNvPr id="5" name="Slide Number Placeholder 4"/>
          <p:cNvSpPr>
            <a:spLocks noGrp="1"/>
          </p:cNvSpPr>
          <p:nvPr>
            <p:ph type="sldNum" sz="quarter" idx="10"/>
          </p:nvPr>
        </p:nvSpPr>
        <p:spPr/>
        <p:txBody>
          <a:bodyPr/>
          <a:lstStyle/>
          <a:p>
            <a:pPr>
              <a:defRPr/>
            </a:pPr>
            <a:fld id="{D3F2DE8F-7AAD-415A-8ED8-734D637B39D2}" type="slidenum">
              <a:rPr lang="en-IE" smtClean="0"/>
              <a:pPr>
                <a:defRPr/>
              </a:pPr>
              <a:t>1</a:t>
            </a:fld>
            <a:endParaRPr lang="en-IE" dirty="0"/>
          </a:p>
        </p:txBody>
      </p:sp>
      <p:sp>
        <p:nvSpPr>
          <p:cNvPr id="6" name="Rectangle 3"/>
          <p:cNvSpPr>
            <a:spLocks noGrp="1" noChangeArrowheads="1"/>
          </p:cNvSpPr>
          <p:nvPr>
            <p:ph idx="1"/>
          </p:nvPr>
        </p:nvSpPr>
        <p:spPr>
          <a:xfrm>
            <a:off x="457200" y="1125538"/>
            <a:ext cx="8229600" cy="5000625"/>
          </a:xfrm>
        </p:spPr>
        <p:txBody>
          <a:bodyPr>
            <a:normAutofit/>
          </a:bodyPr>
          <a:lstStyle/>
          <a:p>
            <a:pPr marL="0" indent="0">
              <a:buNone/>
            </a:pPr>
            <a:r>
              <a:rPr lang="en-GB" dirty="0"/>
              <a:t>Key Questions </a:t>
            </a:r>
            <a:r>
              <a:rPr lang="en-GB"/>
              <a:t>to consider:</a:t>
            </a:r>
            <a:endParaRPr lang="en-GB" dirty="0"/>
          </a:p>
          <a:p>
            <a:endParaRPr lang="en-GB" dirty="0"/>
          </a:p>
          <a:p>
            <a:r>
              <a:rPr lang="en-GB" dirty="0"/>
              <a:t>How do we represent our game environment?</a:t>
            </a:r>
          </a:p>
          <a:p>
            <a:r>
              <a:rPr lang="en-GB" dirty="0"/>
              <a:t>How do we find a path through it?</a:t>
            </a:r>
          </a:p>
          <a:p>
            <a:r>
              <a:rPr lang="en-GB" dirty="0"/>
              <a:t>What happens when the game space is very big?</a:t>
            </a:r>
          </a:p>
        </p:txBody>
      </p:sp>
    </p:spTree>
    <p:extLst>
      <p:ext uri="{BB962C8B-B14F-4D97-AF65-F5344CB8AC3E}">
        <p14:creationId xmlns:p14="http://schemas.microsoft.com/office/powerpoint/2010/main" val="2345996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Search - Recap</a:t>
            </a:r>
          </a:p>
        </p:txBody>
      </p:sp>
      <p:sp>
        <p:nvSpPr>
          <p:cNvPr id="34819" name="Rectangle 3"/>
          <p:cNvSpPr>
            <a:spLocks noGrp="1" noChangeArrowheads="1"/>
          </p:cNvSpPr>
          <p:nvPr>
            <p:ph sz="quarter" idx="4294967295"/>
          </p:nvPr>
        </p:nvSpPr>
        <p:spPr>
          <a:xfrm>
            <a:off x="5436096" y="2708920"/>
            <a:ext cx="3528392" cy="3493008"/>
          </a:xfrm>
          <a:prstGeom prst="rect">
            <a:avLst/>
          </a:prstGeom>
        </p:spPr>
        <p:txBody>
          <a:bodyPr>
            <a:normAutofit/>
          </a:bodyPr>
          <a:lstStyle/>
          <a:p>
            <a:r>
              <a:rPr lang="en-GB" sz="2400" dirty="0"/>
              <a:t>Consider the graph opposite</a:t>
            </a:r>
          </a:p>
          <a:p>
            <a:r>
              <a:rPr lang="en-GB" sz="2400" dirty="0"/>
              <a:t>Start Node is 1</a:t>
            </a:r>
          </a:p>
          <a:p>
            <a:pPr lvl="1"/>
            <a:r>
              <a:rPr lang="en-GB" sz="2000" dirty="0"/>
              <a:t>Where we start from</a:t>
            </a:r>
          </a:p>
          <a:p>
            <a:r>
              <a:rPr lang="en-GB" sz="2400" dirty="0"/>
              <a:t>Goal Node is 4</a:t>
            </a:r>
          </a:p>
          <a:p>
            <a:pPr lvl="1"/>
            <a:r>
              <a:rPr lang="en-GB" sz="2000" dirty="0"/>
              <a:t>Where we want to get to</a:t>
            </a:r>
            <a:endParaRPr lang="en-US" sz="2000" dirty="0"/>
          </a:p>
        </p:txBody>
      </p:sp>
      <p:sp>
        <p:nvSpPr>
          <p:cNvPr id="5" name="Slide Number Placeholder 4"/>
          <p:cNvSpPr>
            <a:spLocks noGrp="1"/>
          </p:cNvSpPr>
          <p:nvPr>
            <p:ph type="sldNum" sz="quarter" idx="10"/>
          </p:nvPr>
        </p:nvSpPr>
        <p:spPr/>
        <p:txBody>
          <a:bodyPr/>
          <a:lstStyle/>
          <a:p>
            <a:pPr>
              <a:defRPr/>
            </a:pPr>
            <a:fld id="{D3F2DE8F-7AAD-415A-8ED8-734D637B39D2}" type="slidenum">
              <a:rPr lang="en-IE" smtClean="0"/>
              <a:pPr>
                <a:defRPr/>
              </a:pPr>
              <a:t>2</a:t>
            </a:fld>
            <a:endParaRPr lang="en-IE" dirty="0"/>
          </a:p>
        </p:txBody>
      </p:sp>
      <p:pic>
        <p:nvPicPr>
          <p:cNvPr id="2" name="Picture 1"/>
          <p:cNvPicPr>
            <a:picLocks noChangeAspect="1"/>
          </p:cNvPicPr>
          <p:nvPr/>
        </p:nvPicPr>
        <p:blipFill>
          <a:blip r:embed="rId2"/>
          <a:stretch>
            <a:fillRect/>
          </a:stretch>
        </p:blipFill>
        <p:spPr>
          <a:xfrm>
            <a:off x="323528" y="1495157"/>
            <a:ext cx="4896544" cy="3111996"/>
          </a:xfrm>
          <a:prstGeom prst="rect">
            <a:avLst/>
          </a:prstGeom>
        </p:spPr>
      </p:pic>
    </p:spTree>
    <p:extLst>
      <p:ext uri="{BB962C8B-B14F-4D97-AF65-F5344CB8AC3E}">
        <p14:creationId xmlns:p14="http://schemas.microsoft.com/office/powerpoint/2010/main" val="1609343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84" name="AutoShape 44"/>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Search Tree</a:t>
            </a:r>
            <a:endParaRPr lang="en-US" sz="3600" b="1" dirty="0">
              <a:solidFill>
                <a:schemeClr val="accent5">
                  <a:lumMod val="75000"/>
                </a:schemeClr>
              </a:solidFill>
              <a:ea typeface="Calibri" pitchFamily="34" charset="0"/>
              <a:cs typeface="Calibri" pitchFamily="34" charset="0"/>
            </a:endParaRPr>
          </a:p>
        </p:txBody>
      </p:sp>
      <p:sp>
        <p:nvSpPr>
          <p:cNvPr id="35885" name="Rectangle 45"/>
          <p:cNvSpPr>
            <a:spLocks noGrp="1" noChangeArrowheads="1"/>
          </p:cNvSpPr>
          <p:nvPr>
            <p:ph idx="1"/>
          </p:nvPr>
        </p:nvSpPr>
        <p:spPr/>
        <p:txBody>
          <a:bodyPr/>
          <a:lstStyle/>
          <a:p>
            <a:r>
              <a:rPr lang="en-GB" sz="2400" dirty="0"/>
              <a:t>Search Tree contains:</a:t>
            </a:r>
          </a:p>
          <a:p>
            <a:pPr lvl="1"/>
            <a:r>
              <a:rPr lang="en-GB" sz="2000" dirty="0"/>
              <a:t>Root Node</a:t>
            </a:r>
          </a:p>
          <a:p>
            <a:pPr lvl="1"/>
            <a:r>
              <a:rPr lang="en-GB" sz="2000" dirty="0"/>
              <a:t>Parent Node</a:t>
            </a:r>
          </a:p>
          <a:p>
            <a:pPr lvl="1"/>
            <a:r>
              <a:rPr lang="en-GB" sz="2000" dirty="0"/>
              <a:t>Child Node</a:t>
            </a:r>
          </a:p>
          <a:p>
            <a:pPr lvl="1"/>
            <a:r>
              <a:rPr lang="en-GB" sz="2000" dirty="0"/>
              <a:t>Leaf Node</a:t>
            </a:r>
          </a:p>
          <a:p>
            <a:pPr lvl="1"/>
            <a:r>
              <a:rPr lang="en-GB" sz="2000" dirty="0"/>
              <a:t>Partial </a:t>
            </a:r>
            <a:r>
              <a:rPr lang="en-GB" sz="2000" dirty="0" err="1"/>
              <a:t>Path(s</a:t>
            </a:r>
            <a:r>
              <a:rPr lang="en-GB" sz="2000" dirty="0"/>
              <a:t>)</a:t>
            </a:r>
          </a:p>
          <a:p>
            <a:pPr lvl="1"/>
            <a:r>
              <a:rPr lang="en-GB" sz="2000" dirty="0"/>
              <a:t>Full </a:t>
            </a:r>
            <a:r>
              <a:rPr lang="en-GB" sz="2000" dirty="0" err="1"/>
              <a:t>Path(s</a:t>
            </a:r>
            <a:r>
              <a:rPr lang="en-GB" sz="2000" dirty="0"/>
              <a:t>)</a:t>
            </a:r>
            <a:endParaRPr lang="en-US" sz="2000" dirty="0"/>
          </a:p>
        </p:txBody>
      </p:sp>
      <p:grpSp>
        <p:nvGrpSpPr>
          <p:cNvPr id="46" name="Group 45"/>
          <p:cNvGrpSpPr>
            <a:grpSpLocks noGrp="1" noChangeAspect="1"/>
          </p:cNvGrpSpPr>
          <p:nvPr/>
        </p:nvGrpSpPr>
        <p:grpSpPr bwMode="auto">
          <a:xfrm>
            <a:off x="4724400" y="2133600"/>
            <a:ext cx="3770312" cy="3724275"/>
            <a:chOff x="459" y="-277"/>
            <a:chExt cx="7474" cy="5878"/>
          </a:xfrm>
        </p:grpSpPr>
        <p:sp>
          <p:nvSpPr>
            <p:cNvPr id="47" name="AutoShape 3"/>
            <p:cNvSpPr>
              <a:spLocks noChangeAspect="1" noChangeArrowheads="1" noTextEdit="1"/>
            </p:cNvSpPr>
            <p:nvPr/>
          </p:nvSpPr>
          <p:spPr bwMode="auto">
            <a:xfrm>
              <a:off x="459" y="-277"/>
              <a:ext cx="7474" cy="5878"/>
            </a:xfrm>
            <a:prstGeom prst="rect">
              <a:avLst/>
            </a:prstGeom>
            <a:noFill/>
            <a:ln w="9525">
              <a:noFill/>
              <a:miter lim="800000"/>
              <a:headEnd/>
              <a:tailEnd/>
            </a:ln>
          </p:spPr>
          <p:txBody>
            <a:bodyP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endParaRPr lang="en-US"/>
            </a:p>
          </p:txBody>
        </p:sp>
        <p:cxnSp>
          <p:nvCxnSpPr>
            <p:cNvPr id="48" name="_s35883"/>
            <p:cNvCxnSpPr>
              <a:cxnSpLocks noChangeShapeType="1"/>
              <a:stCxn id="84" idx="1"/>
              <a:endCxn id="76" idx="2"/>
            </p:cNvCxnSpPr>
            <p:nvPr/>
          </p:nvCxnSpPr>
          <p:spPr bwMode="auto">
            <a:xfrm rot="10800000">
              <a:off x="1623" y="3376"/>
              <a:ext cx="274" cy="426"/>
            </a:xfrm>
            <a:prstGeom prst="bentConnector2">
              <a:avLst/>
            </a:prstGeom>
            <a:noFill/>
            <a:ln w="9525">
              <a:solidFill>
                <a:schemeClr val="tx2"/>
              </a:solidFill>
              <a:miter lim="800000"/>
              <a:headEnd/>
              <a:tailEnd/>
            </a:ln>
          </p:spPr>
        </p:cxnSp>
        <p:cxnSp>
          <p:nvCxnSpPr>
            <p:cNvPr id="49" name="_s35881"/>
            <p:cNvCxnSpPr>
              <a:cxnSpLocks noChangeShapeType="1"/>
              <a:stCxn id="83" idx="1"/>
              <a:endCxn id="73" idx="2"/>
            </p:cNvCxnSpPr>
            <p:nvPr/>
          </p:nvCxnSpPr>
          <p:spPr bwMode="auto">
            <a:xfrm rot="10800000">
              <a:off x="5299" y="2193"/>
              <a:ext cx="274" cy="1018"/>
            </a:xfrm>
            <a:prstGeom prst="bentConnector2">
              <a:avLst/>
            </a:prstGeom>
            <a:noFill/>
            <a:ln w="9525">
              <a:solidFill>
                <a:schemeClr val="tx2"/>
              </a:solidFill>
              <a:miter lim="800000"/>
              <a:headEnd/>
              <a:tailEnd/>
            </a:ln>
          </p:spPr>
        </p:cxnSp>
        <p:cxnSp>
          <p:nvCxnSpPr>
            <p:cNvPr id="50" name="_s35879"/>
            <p:cNvCxnSpPr>
              <a:cxnSpLocks noChangeShapeType="1"/>
              <a:stCxn id="82" idx="1"/>
              <a:endCxn id="73" idx="2"/>
            </p:cNvCxnSpPr>
            <p:nvPr/>
          </p:nvCxnSpPr>
          <p:spPr bwMode="auto">
            <a:xfrm rot="10800000">
              <a:off x="5299" y="2193"/>
              <a:ext cx="274" cy="426"/>
            </a:xfrm>
            <a:prstGeom prst="bentConnector2">
              <a:avLst/>
            </a:prstGeom>
            <a:noFill/>
            <a:ln w="9525">
              <a:solidFill>
                <a:schemeClr val="tx2"/>
              </a:solidFill>
              <a:miter lim="800000"/>
              <a:headEnd/>
              <a:tailEnd/>
            </a:ln>
          </p:spPr>
        </p:cxnSp>
        <p:cxnSp>
          <p:nvCxnSpPr>
            <p:cNvPr id="51" name="_s35877"/>
            <p:cNvCxnSpPr>
              <a:cxnSpLocks noChangeShapeType="1"/>
              <a:stCxn id="81" idx="1"/>
              <a:endCxn id="74" idx="2"/>
            </p:cNvCxnSpPr>
            <p:nvPr/>
          </p:nvCxnSpPr>
          <p:spPr bwMode="auto">
            <a:xfrm rot="10800000">
              <a:off x="6765" y="2193"/>
              <a:ext cx="274" cy="426"/>
            </a:xfrm>
            <a:prstGeom prst="bentConnector2">
              <a:avLst/>
            </a:prstGeom>
            <a:noFill/>
            <a:ln w="9525">
              <a:solidFill>
                <a:schemeClr val="tx2"/>
              </a:solidFill>
              <a:miter lim="800000"/>
              <a:headEnd/>
              <a:tailEnd/>
            </a:ln>
          </p:spPr>
        </p:cxnSp>
        <p:cxnSp>
          <p:nvCxnSpPr>
            <p:cNvPr id="52" name="_s35875"/>
            <p:cNvCxnSpPr>
              <a:cxnSpLocks noChangeShapeType="1"/>
              <a:stCxn id="80" idx="1"/>
              <a:endCxn id="72" idx="2"/>
            </p:cNvCxnSpPr>
            <p:nvPr/>
          </p:nvCxnSpPr>
          <p:spPr bwMode="auto">
            <a:xfrm rot="10800000">
              <a:off x="3829" y="2193"/>
              <a:ext cx="274" cy="426"/>
            </a:xfrm>
            <a:prstGeom prst="bentConnector2">
              <a:avLst/>
            </a:prstGeom>
            <a:noFill/>
            <a:ln w="9525">
              <a:solidFill>
                <a:schemeClr val="tx2"/>
              </a:solidFill>
              <a:miter lim="800000"/>
              <a:headEnd/>
              <a:tailEnd/>
            </a:ln>
          </p:spPr>
        </p:cxnSp>
        <p:cxnSp>
          <p:nvCxnSpPr>
            <p:cNvPr id="53" name="_s35873"/>
            <p:cNvCxnSpPr>
              <a:cxnSpLocks noChangeShapeType="1"/>
              <a:stCxn id="79" idx="1"/>
              <a:endCxn id="78" idx="2"/>
            </p:cNvCxnSpPr>
            <p:nvPr/>
          </p:nvCxnSpPr>
          <p:spPr bwMode="auto">
            <a:xfrm rot="10800000">
              <a:off x="3093" y="2785"/>
              <a:ext cx="274" cy="426"/>
            </a:xfrm>
            <a:prstGeom prst="bentConnector2">
              <a:avLst/>
            </a:prstGeom>
            <a:noFill/>
            <a:ln w="9525">
              <a:solidFill>
                <a:schemeClr val="tx2"/>
              </a:solidFill>
              <a:miter lim="800000"/>
              <a:headEnd/>
              <a:tailEnd/>
            </a:ln>
          </p:spPr>
        </p:cxnSp>
        <p:cxnSp>
          <p:nvCxnSpPr>
            <p:cNvPr id="54" name="_s35871"/>
            <p:cNvCxnSpPr>
              <a:cxnSpLocks noChangeShapeType="1"/>
              <a:stCxn id="78" idx="1"/>
              <a:endCxn id="71" idx="2"/>
            </p:cNvCxnSpPr>
            <p:nvPr/>
          </p:nvCxnSpPr>
          <p:spPr bwMode="auto">
            <a:xfrm rot="10800000">
              <a:off x="2360" y="2193"/>
              <a:ext cx="274" cy="426"/>
            </a:xfrm>
            <a:prstGeom prst="bentConnector2">
              <a:avLst/>
            </a:prstGeom>
            <a:noFill/>
            <a:ln w="9525">
              <a:solidFill>
                <a:schemeClr val="tx2"/>
              </a:solidFill>
              <a:miter lim="800000"/>
              <a:headEnd/>
              <a:tailEnd/>
            </a:ln>
          </p:spPr>
        </p:cxnSp>
        <p:cxnSp>
          <p:nvCxnSpPr>
            <p:cNvPr id="55" name="_s35869"/>
            <p:cNvCxnSpPr>
              <a:cxnSpLocks noChangeShapeType="1"/>
              <a:stCxn id="77" idx="1"/>
              <a:endCxn id="70" idx="2"/>
            </p:cNvCxnSpPr>
            <p:nvPr/>
          </p:nvCxnSpPr>
          <p:spPr bwMode="auto">
            <a:xfrm rot="10800000">
              <a:off x="890" y="2193"/>
              <a:ext cx="274" cy="2200"/>
            </a:xfrm>
            <a:prstGeom prst="bentConnector2">
              <a:avLst/>
            </a:prstGeom>
            <a:noFill/>
            <a:ln w="9525">
              <a:solidFill>
                <a:schemeClr val="tx2"/>
              </a:solidFill>
              <a:miter lim="800000"/>
              <a:headEnd/>
              <a:tailEnd/>
            </a:ln>
          </p:spPr>
        </p:cxnSp>
        <p:cxnSp>
          <p:nvCxnSpPr>
            <p:cNvPr id="56" name="_s35867"/>
            <p:cNvCxnSpPr>
              <a:cxnSpLocks noChangeShapeType="1"/>
              <a:stCxn id="76" idx="1"/>
              <a:endCxn id="70" idx="2"/>
            </p:cNvCxnSpPr>
            <p:nvPr/>
          </p:nvCxnSpPr>
          <p:spPr bwMode="auto">
            <a:xfrm rot="10800000">
              <a:off x="890" y="2193"/>
              <a:ext cx="274" cy="1018"/>
            </a:xfrm>
            <a:prstGeom prst="bentConnector2">
              <a:avLst/>
            </a:prstGeom>
            <a:noFill/>
            <a:ln w="9525">
              <a:solidFill>
                <a:schemeClr val="tx2"/>
              </a:solidFill>
              <a:miter lim="800000"/>
              <a:headEnd/>
              <a:tailEnd/>
            </a:ln>
          </p:spPr>
        </p:cxnSp>
        <p:cxnSp>
          <p:nvCxnSpPr>
            <p:cNvPr id="57" name="_s35865"/>
            <p:cNvCxnSpPr>
              <a:cxnSpLocks noChangeShapeType="1"/>
              <a:stCxn id="75" idx="1"/>
              <a:endCxn id="70" idx="2"/>
            </p:cNvCxnSpPr>
            <p:nvPr/>
          </p:nvCxnSpPr>
          <p:spPr bwMode="auto">
            <a:xfrm rot="10800000">
              <a:off x="890" y="2193"/>
              <a:ext cx="274" cy="426"/>
            </a:xfrm>
            <a:prstGeom prst="bentConnector2">
              <a:avLst/>
            </a:prstGeom>
            <a:noFill/>
            <a:ln w="9525">
              <a:solidFill>
                <a:schemeClr val="tx2"/>
              </a:solidFill>
              <a:miter lim="800000"/>
              <a:headEnd/>
              <a:tailEnd/>
            </a:ln>
          </p:spPr>
        </p:cxnSp>
        <p:cxnSp>
          <p:nvCxnSpPr>
            <p:cNvPr id="58" name="_s35863"/>
            <p:cNvCxnSpPr>
              <a:cxnSpLocks noChangeShapeType="1"/>
              <a:stCxn id="74" idx="0"/>
              <a:endCxn id="69" idx="2"/>
            </p:cNvCxnSpPr>
            <p:nvPr/>
          </p:nvCxnSpPr>
          <p:spPr bwMode="auto">
            <a:xfrm rot="5400000" flipH="1">
              <a:off x="6455" y="1550"/>
              <a:ext cx="255" cy="365"/>
            </a:xfrm>
            <a:prstGeom prst="bentConnector3">
              <a:avLst>
                <a:gd name="adj1" fmla="val 50000"/>
              </a:avLst>
            </a:prstGeom>
            <a:noFill/>
            <a:ln w="9525">
              <a:solidFill>
                <a:schemeClr val="tx2"/>
              </a:solidFill>
              <a:miter lim="800000"/>
              <a:headEnd/>
              <a:tailEnd/>
            </a:ln>
          </p:spPr>
        </p:cxnSp>
        <p:cxnSp>
          <p:nvCxnSpPr>
            <p:cNvPr id="59" name="_s35861"/>
            <p:cNvCxnSpPr>
              <a:cxnSpLocks noChangeShapeType="1"/>
              <a:stCxn id="73" idx="0"/>
              <a:endCxn id="69" idx="2"/>
            </p:cNvCxnSpPr>
            <p:nvPr/>
          </p:nvCxnSpPr>
          <p:spPr bwMode="auto">
            <a:xfrm rot="16200000">
              <a:off x="5722" y="1182"/>
              <a:ext cx="255" cy="1101"/>
            </a:xfrm>
            <a:prstGeom prst="bentConnector3">
              <a:avLst>
                <a:gd name="adj1" fmla="val 50000"/>
              </a:avLst>
            </a:prstGeom>
            <a:noFill/>
            <a:ln w="9525">
              <a:solidFill>
                <a:schemeClr val="tx2"/>
              </a:solidFill>
              <a:miter lim="800000"/>
              <a:headEnd/>
              <a:tailEnd/>
            </a:ln>
          </p:spPr>
        </p:cxnSp>
        <p:cxnSp>
          <p:nvCxnSpPr>
            <p:cNvPr id="60" name="_s35859"/>
            <p:cNvCxnSpPr>
              <a:cxnSpLocks noChangeShapeType="1"/>
              <a:stCxn id="72" idx="0"/>
              <a:endCxn id="68" idx="2"/>
            </p:cNvCxnSpPr>
            <p:nvPr/>
          </p:nvCxnSpPr>
          <p:spPr bwMode="auto">
            <a:xfrm rot="5400000" flipH="1">
              <a:off x="3517" y="1549"/>
              <a:ext cx="255" cy="368"/>
            </a:xfrm>
            <a:prstGeom prst="bentConnector3">
              <a:avLst>
                <a:gd name="adj1" fmla="val 50000"/>
              </a:avLst>
            </a:prstGeom>
            <a:noFill/>
            <a:ln w="9525">
              <a:solidFill>
                <a:schemeClr val="tx2"/>
              </a:solidFill>
              <a:miter lim="800000"/>
              <a:headEnd/>
              <a:tailEnd/>
            </a:ln>
          </p:spPr>
        </p:cxnSp>
        <p:cxnSp>
          <p:nvCxnSpPr>
            <p:cNvPr id="61" name="_s35857"/>
            <p:cNvCxnSpPr>
              <a:cxnSpLocks noChangeShapeType="1"/>
              <a:stCxn id="71" idx="0"/>
              <a:endCxn id="68" idx="2"/>
            </p:cNvCxnSpPr>
            <p:nvPr/>
          </p:nvCxnSpPr>
          <p:spPr bwMode="auto">
            <a:xfrm rot="16200000">
              <a:off x="2783" y="1182"/>
              <a:ext cx="255" cy="1101"/>
            </a:xfrm>
            <a:prstGeom prst="bentConnector3">
              <a:avLst>
                <a:gd name="adj1" fmla="val 50000"/>
              </a:avLst>
            </a:prstGeom>
            <a:noFill/>
            <a:ln w="9525">
              <a:solidFill>
                <a:schemeClr val="tx2"/>
              </a:solidFill>
              <a:miter lim="800000"/>
              <a:headEnd/>
              <a:tailEnd/>
            </a:ln>
          </p:spPr>
        </p:cxnSp>
        <p:cxnSp>
          <p:nvCxnSpPr>
            <p:cNvPr id="62" name="_s35855"/>
            <p:cNvCxnSpPr>
              <a:cxnSpLocks noChangeShapeType="1"/>
              <a:stCxn id="70" idx="0"/>
              <a:endCxn id="67" idx="2"/>
            </p:cNvCxnSpPr>
            <p:nvPr/>
          </p:nvCxnSpPr>
          <p:spPr bwMode="auto">
            <a:xfrm rot="16200000">
              <a:off x="1131" y="1364"/>
              <a:ext cx="255" cy="737"/>
            </a:xfrm>
            <a:prstGeom prst="bentConnector3">
              <a:avLst>
                <a:gd name="adj1" fmla="val 50000"/>
              </a:avLst>
            </a:prstGeom>
            <a:noFill/>
            <a:ln w="9525">
              <a:solidFill>
                <a:schemeClr val="tx2"/>
              </a:solidFill>
              <a:miter lim="800000"/>
              <a:headEnd/>
              <a:tailEnd/>
            </a:ln>
          </p:spPr>
        </p:cxnSp>
        <p:cxnSp>
          <p:nvCxnSpPr>
            <p:cNvPr id="63" name="_s35851"/>
            <p:cNvCxnSpPr>
              <a:cxnSpLocks noChangeShapeType="1"/>
              <a:stCxn id="69" idx="0"/>
              <a:endCxn id="66" idx="2"/>
            </p:cNvCxnSpPr>
            <p:nvPr/>
          </p:nvCxnSpPr>
          <p:spPr bwMode="auto">
            <a:xfrm rot="5400000" flipH="1">
              <a:off x="5170" y="41"/>
              <a:ext cx="258" cy="2202"/>
            </a:xfrm>
            <a:prstGeom prst="bentConnector3">
              <a:avLst>
                <a:gd name="adj1" fmla="val 49514"/>
              </a:avLst>
            </a:prstGeom>
            <a:noFill/>
            <a:ln w="9525">
              <a:solidFill>
                <a:schemeClr val="tx2"/>
              </a:solidFill>
              <a:miter lim="800000"/>
              <a:headEnd/>
              <a:tailEnd/>
            </a:ln>
          </p:spPr>
        </p:cxnSp>
        <p:cxnSp>
          <p:nvCxnSpPr>
            <p:cNvPr id="64" name="_s35850"/>
            <p:cNvCxnSpPr>
              <a:cxnSpLocks noChangeShapeType="1"/>
              <a:stCxn id="68" idx="0"/>
              <a:endCxn id="66" idx="2"/>
            </p:cNvCxnSpPr>
            <p:nvPr/>
          </p:nvCxnSpPr>
          <p:spPr bwMode="auto">
            <a:xfrm rot="16200000">
              <a:off x="3701" y="773"/>
              <a:ext cx="258" cy="737"/>
            </a:xfrm>
            <a:prstGeom prst="bentConnector3">
              <a:avLst>
                <a:gd name="adj1" fmla="val 49514"/>
              </a:avLst>
            </a:prstGeom>
            <a:noFill/>
            <a:ln w="9525">
              <a:solidFill>
                <a:schemeClr val="tx2"/>
              </a:solidFill>
              <a:miter lim="800000"/>
              <a:headEnd/>
              <a:tailEnd/>
            </a:ln>
          </p:spPr>
        </p:cxnSp>
        <p:cxnSp>
          <p:nvCxnSpPr>
            <p:cNvPr id="65" name="_s35849"/>
            <p:cNvCxnSpPr>
              <a:cxnSpLocks noChangeShapeType="1"/>
              <a:stCxn id="67" idx="0"/>
              <a:endCxn id="66" idx="2"/>
            </p:cNvCxnSpPr>
            <p:nvPr/>
          </p:nvCxnSpPr>
          <p:spPr bwMode="auto">
            <a:xfrm rot="16200000">
              <a:off x="2784" y="-144"/>
              <a:ext cx="258" cy="2571"/>
            </a:xfrm>
            <a:prstGeom prst="bentConnector3">
              <a:avLst>
                <a:gd name="adj1" fmla="val 49514"/>
              </a:avLst>
            </a:prstGeom>
            <a:noFill/>
            <a:ln w="9525">
              <a:solidFill>
                <a:schemeClr val="tx2"/>
              </a:solidFill>
              <a:miter lim="800000"/>
              <a:headEnd/>
              <a:tailEnd/>
            </a:ln>
          </p:spPr>
        </p:cxnSp>
        <p:sp>
          <p:nvSpPr>
            <p:cNvPr id="66" name="_s35845"/>
            <p:cNvSpPr>
              <a:spLocks noChangeArrowheads="1"/>
            </p:cNvSpPr>
            <p:nvPr/>
          </p:nvSpPr>
          <p:spPr bwMode="auto">
            <a:xfrm>
              <a:off x="3764" y="702"/>
              <a:ext cx="864" cy="288"/>
            </a:xfrm>
            <a:prstGeom prst="roundRect">
              <a:avLst>
                <a:gd name="adj" fmla="val 50000"/>
              </a:avLst>
            </a:prstGeom>
            <a:noFill/>
            <a:ln w="28575">
              <a:solidFill>
                <a:schemeClr val="accent1"/>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A</a:t>
              </a:r>
              <a:endParaRPr lang="en-US" sz="1000"/>
            </a:p>
          </p:txBody>
        </p:sp>
        <p:sp>
          <p:nvSpPr>
            <p:cNvPr id="67" name="_s35846"/>
            <p:cNvSpPr>
              <a:spLocks noChangeArrowheads="1"/>
            </p:cNvSpPr>
            <p:nvPr/>
          </p:nvSpPr>
          <p:spPr bwMode="auto">
            <a:xfrm>
              <a:off x="1193" y="1293"/>
              <a:ext cx="864" cy="288"/>
            </a:xfrm>
            <a:prstGeom prst="roundRect">
              <a:avLst>
                <a:gd name="adj" fmla="val 50000"/>
              </a:avLst>
            </a:prstGeom>
            <a:noFill/>
            <a:ln w="28575">
              <a:solidFill>
                <a:schemeClr val="hlink"/>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B</a:t>
              </a:r>
              <a:endParaRPr lang="en-US" sz="1000"/>
            </a:p>
          </p:txBody>
        </p:sp>
        <p:sp>
          <p:nvSpPr>
            <p:cNvPr id="68" name="_s35847"/>
            <p:cNvSpPr>
              <a:spLocks noChangeArrowheads="1"/>
            </p:cNvSpPr>
            <p:nvPr/>
          </p:nvSpPr>
          <p:spPr bwMode="auto">
            <a:xfrm>
              <a:off x="3029" y="1293"/>
              <a:ext cx="864" cy="288"/>
            </a:xfrm>
            <a:prstGeom prst="roundRect">
              <a:avLst>
                <a:gd name="adj" fmla="val 50000"/>
              </a:avLst>
            </a:prstGeom>
            <a:noFill/>
            <a:ln w="28575">
              <a:solidFill>
                <a:schemeClr val="hlink"/>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dirty="0"/>
                <a:t>D</a:t>
              </a:r>
              <a:endParaRPr lang="en-US" sz="1000" dirty="0"/>
            </a:p>
          </p:txBody>
        </p:sp>
        <p:sp>
          <p:nvSpPr>
            <p:cNvPr id="69" name="_s35848"/>
            <p:cNvSpPr>
              <a:spLocks noChangeArrowheads="1"/>
            </p:cNvSpPr>
            <p:nvPr/>
          </p:nvSpPr>
          <p:spPr bwMode="auto">
            <a:xfrm>
              <a:off x="5967" y="1293"/>
              <a:ext cx="864" cy="288"/>
            </a:xfrm>
            <a:prstGeom prst="roundRect">
              <a:avLst>
                <a:gd name="adj" fmla="val 50000"/>
              </a:avLst>
            </a:prstGeom>
            <a:noFill/>
            <a:ln w="28575">
              <a:solidFill>
                <a:schemeClr val="hlink"/>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C</a:t>
              </a:r>
              <a:endParaRPr lang="en-US" sz="1000"/>
            </a:p>
          </p:txBody>
        </p:sp>
        <p:sp>
          <p:nvSpPr>
            <p:cNvPr id="70" name="_s35854"/>
            <p:cNvSpPr>
              <a:spLocks noChangeArrowheads="1"/>
            </p:cNvSpPr>
            <p:nvPr/>
          </p:nvSpPr>
          <p:spPr bwMode="auto">
            <a:xfrm>
              <a:off x="459" y="1884"/>
              <a:ext cx="863" cy="288"/>
            </a:xfrm>
            <a:prstGeom prst="roundRect">
              <a:avLst>
                <a:gd name="adj" fmla="val 50000"/>
              </a:avLst>
            </a:prstGeom>
            <a:noFill/>
            <a:ln w="28575">
              <a:solidFill>
                <a:schemeClr val="accent2"/>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D</a:t>
              </a:r>
              <a:endParaRPr lang="en-US" sz="1000"/>
            </a:p>
          </p:txBody>
        </p:sp>
        <p:sp>
          <p:nvSpPr>
            <p:cNvPr id="71" name="_s35856"/>
            <p:cNvSpPr>
              <a:spLocks noChangeArrowheads="1"/>
            </p:cNvSpPr>
            <p:nvPr/>
          </p:nvSpPr>
          <p:spPr bwMode="auto">
            <a:xfrm>
              <a:off x="1928" y="1884"/>
              <a:ext cx="863" cy="288"/>
            </a:xfrm>
            <a:prstGeom prst="roundRect">
              <a:avLst>
                <a:gd name="adj" fmla="val 50000"/>
              </a:avLst>
            </a:prstGeom>
            <a:noFill/>
            <a:ln w="28575">
              <a:solidFill>
                <a:schemeClr val="accent2"/>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C</a:t>
              </a:r>
              <a:endParaRPr lang="en-US" sz="1000"/>
            </a:p>
          </p:txBody>
        </p:sp>
        <p:sp>
          <p:nvSpPr>
            <p:cNvPr id="72" name="_s35858"/>
            <p:cNvSpPr>
              <a:spLocks noChangeArrowheads="1"/>
            </p:cNvSpPr>
            <p:nvPr/>
          </p:nvSpPr>
          <p:spPr bwMode="auto">
            <a:xfrm>
              <a:off x="3397" y="1884"/>
              <a:ext cx="863" cy="288"/>
            </a:xfrm>
            <a:prstGeom prst="roundRect">
              <a:avLst>
                <a:gd name="adj" fmla="val 50000"/>
              </a:avLst>
            </a:prstGeom>
            <a:noFill/>
            <a:ln w="28575">
              <a:solidFill>
                <a:schemeClr val="accent2"/>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E</a:t>
              </a:r>
              <a:endParaRPr lang="en-US" sz="1000"/>
            </a:p>
          </p:txBody>
        </p:sp>
        <p:sp>
          <p:nvSpPr>
            <p:cNvPr id="73" name="_s35860"/>
            <p:cNvSpPr>
              <a:spLocks noChangeArrowheads="1"/>
            </p:cNvSpPr>
            <p:nvPr/>
          </p:nvSpPr>
          <p:spPr bwMode="auto">
            <a:xfrm>
              <a:off x="4866" y="1884"/>
              <a:ext cx="863" cy="288"/>
            </a:xfrm>
            <a:prstGeom prst="roundRect">
              <a:avLst>
                <a:gd name="adj" fmla="val 50000"/>
              </a:avLst>
            </a:prstGeom>
            <a:noFill/>
            <a:ln w="28575">
              <a:solidFill>
                <a:schemeClr val="accent2"/>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D</a:t>
              </a:r>
              <a:endParaRPr lang="en-US" sz="1000"/>
            </a:p>
          </p:txBody>
        </p:sp>
        <p:sp>
          <p:nvSpPr>
            <p:cNvPr id="74" name="_s35862"/>
            <p:cNvSpPr>
              <a:spLocks noChangeArrowheads="1"/>
            </p:cNvSpPr>
            <p:nvPr/>
          </p:nvSpPr>
          <p:spPr bwMode="auto">
            <a:xfrm>
              <a:off x="6335" y="1884"/>
              <a:ext cx="863" cy="288"/>
            </a:xfrm>
            <a:prstGeom prst="roundRect">
              <a:avLst>
                <a:gd name="adj" fmla="val 50000"/>
              </a:avLst>
            </a:prstGeom>
            <a:noFill/>
            <a:ln w="28575">
              <a:solidFill>
                <a:schemeClr val="accent2"/>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E</a:t>
              </a:r>
              <a:endParaRPr lang="en-US" sz="1000"/>
            </a:p>
          </p:txBody>
        </p:sp>
        <p:sp>
          <p:nvSpPr>
            <p:cNvPr id="75" name="_s35864"/>
            <p:cNvSpPr>
              <a:spLocks noChangeArrowheads="1"/>
            </p:cNvSpPr>
            <p:nvPr/>
          </p:nvSpPr>
          <p:spPr bwMode="auto">
            <a:xfrm>
              <a:off x="1193" y="2475"/>
              <a:ext cx="863" cy="288"/>
            </a:xfrm>
            <a:prstGeom prst="roundRect">
              <a:avLst>
                <a:gd name="adj" fmla="val 50000"/>
              </a:avLst>
            </a:prstGeom>
            <a:noFill/>
            <a:ln w="28575">
              <a:solidFill>
                <a:schemeClr val="accent2"/>
              </a:solidFill>
              <a:round/>
              <a:headEnd/>
              <a:tailEnd/>
            </a:ln>
          </p:spPr>
          <p:txBody>
            <a:bodyPr wrap="none" lIns="50877" tIns="25438" rIns="50877" bIns="2543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C</a:t>
              </a:r>
              <a:endParaRPr lang="en-US" sz="1000"/>
            </a:p>
          </p:txBody>
        </p:sp>
        <p:sp>
          <p:nvSpPr>
            <p:cNvPr id="76" name="_s35866"/>
            <p:cNvSpPr>
              <a:spLocks noChangeArrowheads="1"/>
            </p:cNvSpPr>
            <p:nvPr/>
          </p:nvSpPr>
          <p:spPr bwMode="auto">
            <a:xfrm>
              <a:off x="1193" y="3066"/>
              <a:ext cx="863" cy="288"/>
            </a:xfrm>
            <a:prstGeom prst="roundRect">
              <a:avLst>
                <a:gd name="adj" fmla="val 50000"/>
              </a:avLst>
            </a:prstGeom>
            <a:noFill/>
            <a:ln w="28575">
              <a:solidFill>
                <a:schemeClr val="accent2"/>
              </a:solidFill>
              <a:round/>
              <a:headEnd/>
              <a:tailEnd/>
            </a:ln>
          </p:spPr>
          <p:txBody>
            <a:bodyPr wrap="none" lIns="51391" tIns="25696" rIns="51391" bIns="25696"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E</a:t>
              </a:r>
              <a:endParaRPr lang="en-US" sz="1000"/>
            </a:p>
          </p:txBody>
        </p:sp>
        <p:sp>
          <p:nvSpPr>
            <p:cNvPr id="77" name="_s35868"/>
            <p:cNvSpPr>
              <a:spLocks noChangeArrowheads="1"/>
            </p:cNvSpPr>
            <p:nvPr/>
          </p:nvSpPr>
          <p:spPr bwMode="auto">
            <a:xfrm>
              <a:off x="1193" y="4248"/>
              <a:ext cx="863" cy="288"/>
            </a:xfrm>
            <a:prstGeom prst="roundRect">
              <a:avLst>
                <a:gd name="adj" fmla="val 50000"/>
              </a:avLst>
            </a:prstGeom>
            <a:noFill/>
            <a:ln w="28575">
              <a:solidFill>
                <a:schemeClr val="accent2"/>
              </a:solidFill>
              <a:round/>
              <a:headEnd/>
              <a:tailEnd/>
            </a:ln>
          </p:spPr>
          <p:txBody>
            <a:bodyPr wrap="none" lIns="51391" tIns="25696" rIns="51391" bIns="25696"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F</a:t>
              </a:r>
              <a:endParaRPr lang="en-US" sz="1000"/>
            </a:p>
          </p:txBody>
        </p:sp>
        <p:sp>
          <p:nvSpPr>
            <p:cNvPr id="78" name="_s35870"/>
            <p:cNvSpPr>
              <a:spLocks noChangeArrowheads="1"/>
            </p:cNvSpPr>
            <p:nvPr/>
          </p:nvSpPr>
          <p:spPr bwMode="auto">
            <a:xfrm>
              <a:off x="2662" y="2475"/>
              <a:ext cx="863" cy="288"/>
            </a:xfrm>
            <a:prstGeom prst="roundRect">
              <a:avLst>
                <a:gd name="adj" fmla="val 50000"/>
              </a:avLst>
            </a:prstGeom>
            <a:noFill/>
            <a:ln w="28575">
              <a:solidFill>
                <a:schemeClr val="accent2"/>
              </a:solidFill>
              <a:round/>
              <a:headEnd/>
              <a:tailEnd/>
            </a:ln>
          </p:spPr>
          <p:txBody>
            <a:bodyPr wrap="none" lIns="51391" tIns="25696" rIns="51391" bIns="25696"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E</a:t>
              </a:r>
              <a:endParaRPr lang="en-US" sz="1000"/>
            </a:p>
          </p:txBody>
        </p:sp>
        <p:sp>
          <p:nvSpPr>
            <p:cNvPr id="79" name="_s35872"/>
            <p:cNvSpPr>
              <a:spLocks noChangeArrowheads="1"/>
            </p:cNvSpPr>
            <p:nvPr/>
          </p:nvSpPr>
          <p:spPr bwMode="auto">
            <a:xfrm>
              <a:off x="3396" y="3066"/>
              <a:ext cx="863" cy="287"/>
            </a:xfrm>
            <a:prstGeom prst="roundRect">
              <a:avLst>
                <a:gd name="adj" fmla="val 50000"/>
              </a:avLst>
            </a:prstGeom>
            <a:noFill/>
            <a:ln w="28575">
              <a:solidFill>
                <a:schemeClr val="accent1"/>
              </a:solidFill>
              <a:round/>
              <a:headEnd/>
              <a:tailEnd/>
            </a:ln>
          </p:spPr>
          <p:txBody>
            <a:bodyPr wrap="none" lIns="51910" tIns="25954" rIns="51910" bIns="25954"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F</a:t>
              </a:r>
              <a:endParaRPr lang="en-US" sz="1000"/>
            </a:p>
          </p:txBody>
        </p:sp>
        <p:sp>
          <p:nvSpPr>
            <p:cNvPr id="80" name="_s35874"/>
            <p:cNvSpPr>
              <a:spLocks noChangeArrowheads="1"/>
            </p:cNvSpPr>
            <p:nvPr/>
          </p:nvSpPr>
          <p:spPr bwMode="auto">
            <a:xfrm>
              <a:off x="4131" y="2475"/>
              <a:ext cx="863" cy="288"/>
            </a:xfrm>
            <a:prstGeom prst="roundRect">
              <a:avLst>
                <a:gd name="adj" fmla="val 50000"/>
              </a:avLst>
            </a:prstGeom>
            <a:noFill/>
            <a:ln w="28575">
              <a:solidFill>
                <a:schemeClr val="accent2"/>
              </a:solidFill>
              <a:round/>
              <a:headEnd/>
              <a:tailEnd/>
            </a:ln>
          </p:spPr>
          <p:txBody>
            <a:bodyPr wrap="none" lIns="51910" tIns="25954" rIns="51910" bIns="25954"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F</a:t>
              </a:r>
              <a:endParaRPr lang="en-US" sz="1000"/>
            </a:p>
          </p:txBody>
        </p:sp>
        <p:sp>
          <p:nvSpPr>
            <p:cNvPr id="81" name="_s35876"/>
            <p:cNvSpPr>
              <a:spLocks noChangeArrowheads="1"/>
            </p:cNvSpPr>
            <p:nvPr/>
          </p:nvSpPr>
          <p:spPr bwMode="auto">
            <a:xfrm>
              <a:off x="7069" y="2475"/>
              <a:ext cx="864" cy="288"/>
            </a:xfrm>
            <a:prstGeom prst="roundRect">
              <a:avLst>
                <a:gd name="adj" fmla="val 50000"/>
              </a:avLst>
            </a:prstGeom>
            <a:noFill/>
            <a:ln w="28575">
              <a:solidFill>
                <a:schemeClr val="accent2"/>
              </a:solidFill>
              <a:round/>
              <a:headEnd/>
              <a:tailEnd/>
            </a:ln>
          </p:spPr>
          <p:txBody>
            <a:bodyPr wrap="none" lIns="53516" tIns="26758" rIns="53516" bIns="26758"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F</a:t>
              </a:r>
              <a:endParaRPr lang="en-US" sz="1000"/>
            </a:p>
          </p:txBody>
        </p:sp>
        <p:sp>
          <p:nvSpPr>
            <p:cNvPr id="82" name="_s35878"/>
            <p:cNvSpPr>
              <a:spLocks noChangeArrowheads="1"/>
            </p:cNvSpPr>
            <p:nvPr/>
          </p:nvSpPr>
          <p:spPr bwMode="auto">
            <a:xfrm>
              <a:off x="5600" y="2475"/>
              <a:ext cx="863" cy="288"/>
            </a:xfrm>
            <a:prstGeom prst="roundRect">
              <a:avLst>
                <a:gd name="adj" fmla="val 50000"/>
              </a:avLst>
            </a:prstGeom>
            <a:noFill/>
            <a:ln w="28575">
              <a:solidFill>
                <a:schemeClr val="accent2"/>
              </a:solidFill>
              <a:round/>
              <a:headEnd/>
              <a:tailEnd/>
            </a:ln>
          </p:spPr>
          <p:txBody>
            <a:bodyPr wrap="none" lIns="59461" tIns="29731" rIns="59461" bIns="29731"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E</a:t>
              </a:r>
              <a:endParaRPr lang="en-US" sz="1000"/>
            </a:p>
          </p:txBody>
        </p:sp>
        <p:sp>
          <p:nvSpPr>
            <p:cNvPr id="83" name="_s35880"/>
            <p:cNvSpPr>
              <a:spLocks noChangeArrowheads="1"/>
            </p:cNvSpPr>
            <p:nvPr/>
          </p:nvSpPr>
          <p:spPr bwMode="auto">
            <a:xfrm>
              <a:off x="5600" y="3066"/>
              <a:ext cx="863" cy="288"/>
            </a:xfrm>
            <a:prstGeom prst="roundRect">
              <a:avLst>
                <a:gd name="adj" fmla="val 50000"/>
              </a:avLst>
            </a:prstGeom>
            <a:noFill/>
            <a:ln w="28575">
              <a:solidFill>
                <a:schemeClr val="accent2"/>
              </a:solidFill>
              <a:round/>
              <a:headEnd/>
              <a:tailEnd/>
            </a:ln>
          </p:spPr>
          <p:txBody>
            <a:bodyPr wrap="none" lIns="62591" tIns="31295" rIns="62591" bIns="31295"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F</a:t>
              </a:r>
              <a:endParaRPr lang="en-US" sz="1000"/>
            </a:p>
          </p:txBody>
        </p:sp>
        <p:sp>
          <p:nvSpPr>
            <p:cNvPr id="84" name="_s35882"/>
            <p:cNvSpPr>
              <a:spLocks noChangeArrowheads="1"/>
            </p:cNvSpPr>
            <p:nvPr/>
          </p:nvSpPr>
          <p:spPr bwMode="auto">
            <a:xfrm>
              <a:off x="1927" y="3657"/>
              <a:ext cx="863" cy="287"/>
            </a:xfrm>
            <a:prstGeom prst="roundRect">
              <a:avLst>
                <a:gd name="adj" fmla="val 50000"/>
              </a:avLst>
            </a:prstGeom>
            <a:noFill/>
            <a:ln w="28575">
              <a:solidFill>
                <a:schemeClr val="accent1"/>
              </a:solidFill>
              <a:round/>
              <a:headEnd/>
              <a:tailEnd/>
            </a:ln>
          </p:spPr>
          <p:txBody>
            <a:bodyPr wrap="none" lIns="62591" tIns="31295" rIns="62591" bIns="31295" anchor="ctr">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a:lstStyle>
            <a:p>
              <a:pPr algn="ctr"/>
              <a:r>
                <a:rPr lang="en-GB" sz="1000"/>
                <a:t>F</a:t>
              </a:r>
              <a:endParaRPr lang="en-US" sz="1000"/>
            </a:p>
          </p:txBody>
        </p:sp>
      </p:grpSp>
      <p:sp>
        <p:nvSpPr>
          <p:cNvPr id="43" name="Slide Number Placeholder 42"/>
          <p:cNvSpPr>
            <a:spLocks noGrp="1"/>
          </p:cNvSpPr>
          <p:nvPr>
            <p:ph type="sldNum" sz="quarter" idx="10"/>
          </p:nvPr>
        </p:nvSpPr>
        <p:spPr/>
        <p:txBody>
          <a:bodyPr/>
          <a:lstStyle/>
          <a:p>
            <a:pPr>
              <a:defRPr/>
            </a:pPr>
            <a:fld id="{84C9582D-2E31-434C-A6C1-A926DBB0B909}" type="slidenum">
              <a:rPr lang="en-IE" smtClean="0"/>
              <a:pPr>
                <a:defRPr/>
              </a:pPr>
              <a:t>3</a:t>
            </a:fld>
            <a:endParaRPr lang="en-IE" dirty="0"/>
          </a:p>
        </p:txBody>
      </p:sp>
    </p:spTree>
    <p:extLst>
      <p:ext uri="{BB962C8B-B14F-4D97-AF65-F5344CB8AC3E}">
        <p14:creationId xmlns:p14="http://schemas.microsoft.com/office/powerpoint/2010/main" val="993822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Search Space</a:t>
            </a:r>
          </a:p>
        </p:txBody>
      </p:sp>
      <p:sp>
        <p:nvSpPr>
          <p:cNvPr id="4099" name="Rectangle 3"/>
          <p:cNvSpPr>
            <a:spLocks noGrp="1" noChangeArrowheads="1"/>
          </p:cNvSpPr>
          <p:nvPr>
            <p:ph idx="1"/>
          </p:nvPr>
        </p:nvSpPr>
        <p:spPr/>
        <p:txBody>
          <a:bodyPr>
            <a:normAutofit/>
          </a:bodyPr>
          <a:lstStyle/>
          <a:p>
            <a:r>
              <a:rPr lang="en-GB" sz="2800" dirty="0"/>
              <a:t>Branching Factor</a:t>
            </a:r>
          </a:p>
          <a:p>
            <a:pPr lvl="1"/>
            <a:r>
              <a:rPr lang="en-GB" sz="2400" dirty="0"/>
              <a:t>Number of moves available from each node</a:t>
            </a:r>
          </a:p>
          <a:p>
            <a:r>
              <a:rPr lang="en-GB" sz="2800" dirty="0"/>
              <a:t>Search Depth</a:t>
            </a:r>
          </a:p>
          <a:p>
            <a:pPr lvl="1"/>
            <a:r>
              <a:rPr lang="en-GB" sz="2400" dirty="0"/>
              <a:t>Number of moves ahead we search from start position</a:t>
            </a:r>
          </a:p>
          <a:p>
            <a:r>
              <a:rPr lang="en-GB" sz="2800" dirty="0"/>
              <a:t>Branching Factor of B and Depth of D means D</a:t>
            </a:r>
            <a:r>
              <a:rPr lang="en-GB" sz="2800" baseline="30000" dirty="0"/>
              <a:t>B</a:t>
            </a:r>
            <a:r>
              <a:rPr lang="en-GB" sz="2800" dirty="0"/>
              <a:t> possible paths</a:t>
            </a:r>
          </a:p>
          <a:p>
            <a:pPr lvl="1"/>
            <a:r>
              <a:rPr lang="en-GB" sz="2400" dirty="0"/>
              <a:t>Exponential!</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4</a:t>
            </a:fld>
            <a:endParaRPr lang="en-IE" dirty="0"/>
          </a:p>
        </p:txBody>
      </p:sp>
    </p:spTree>
    <p:extLst>
      <p:ext uri="{BB962C8B-B14F-4D97-AF65-F5344CB8AC3E}">
        <p14:creationId xmlns:p14="http://schemas.microsoft.com/office/powerpoint/2010/main" val="3952217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Depth First Search</a:t>
            </a:r>
          </a:p>
        </p:txBody>
      </p:sp>
      <p:sp>
        <p:nvSpPr>
          <p:cNvPr id="10243" name="Rectangle 3"/>
          <p:cNvSpPr>
            <a:spLocks noGrp="1" noChangeArrowheads="1"/>
          </p:cNvSpPr>
          <p:nvPr>
            <p:ph idx="1"/>
          </p:nvPr>
        </p:nvSpPr>
        <p:spPr/>
        <p:txBody>
          <a:bodyPr/>
          <a:lstStyle/>
          <a:p>
            <a:r>
              <a:rPr lang="en-GB" dirty="0"/>
              <a:t>DF-Search will, when choosing among alternative paths, choose the deepest one first</a:t>
            </a:r>
          </a:p>
          <a:p>
            <a:pPr lvl="1"/>
            <a:r>
              <a:rPr lang="en-GB" dirty="0"/>
              <a:t>Deepest means furthest from root</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5</a:t>
            </a:fld>
            <a:endParaRPr lang="en-IE" dirty="0"/>
          </a:p>
        </p:txBody>
      </p:sp>
      <p:pic>
        <p:nvPicPr>
          <p:cNvPr id="2" name="Picture 1"/>
          <p:cNvPicPr>
            <a:picLocks noChangeAspect="1"/>
          </p:cNvPicPr>
          <p:nvPr/>
        </p:nvPicPr>
        <p:blipFill>
          <a:blip r:embed="rId2" cstate="print"/>
          <a:stretch>
            <a:fillRect/>
          </a:stretch>
        </p:blipFill>
        <p:spPr>
          <a:xfrm>
            <a:off x="2376488" y="3162647"/>
            <a:ext cx="4391025" cy="2714625"/>
          </a:xfrm>
          <a:prstGeom prst="rect">
            <a:avLst/>
          </a:prstGeom>
        </p:spPr>
      </p:pic>
    </p:spTree>
    <p:extLst>
      <p:ext uri="{BB962C8B-B14F-4D97-AF65-F5344CB8AC3E}">
        <p14:creationId xmlns:p14="http://schemas.microsoft.com/office/powerpoint/2010/main" val="3007296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Depth First Algorithm</a:t>
            </a:r>
          </a:p>
        </p:txBody>
      </p:sp>
      <p:sp>
        <p:nvSpPr>
          <p:cNvPr id="16387" name="Rectangle 3"/>
          <p:cNvSpPr>
            <a:spLocks noGrp="1" noChangeArrowheads="1"/>
          </p:cNvSpPr>
          <p:nvPr>
            <p:ph idx="1"/>
          </p:nvPr>
        </p:nvSpPr>
        <p:spPr/>
        <p:txBody>
          <a:bodyPr>
            <a:normAutofit/>
          </a:bodyPr>
          <a:lstStyle/>
          <a:p>
            <a:pPr marL="0" indent="0">
              <a:lnSpc>
                <a:spcPct val="80000"/>
              </a:lnSpc>
              <a:buNone/>
            </a:pPr>
            <a:endParaRPr lang="en-IE" sz="2400" dirty="0"/>
          </a:p>
          <a:p>
            <a:pPr marL="0" indent="0">
              <a:lnSpc>
                <a:spcPct val="80000"/>
              </a:lnSpc>
              <a:buNone/>
            </a:pPr>
            <a:r>
              <a:rPr lang="en-IE" sz="2400" dirty="0" err="1"/>
              <a:t>depthFirst</a:t>
            </a:r>
            <a:r>
              <a:rPr lang="en-IE" sz="2400" dirty="0"/>
              <a:t>(n)</a:t>
            </a:r>
          </a:p>
          <a:p>
            <a:pPr marL="0" indent="0">
              <a:lnSpc>
                <a:spcPct val="80000"/>
              </a:lnSpc>
              <a:buNone/>
            </a:pPr>
            <a:r>
              <a:rPr lang="en-IE" sz="2400" dirty="0"/>
              <a:t>	</a:t>
            </a:r>
            <a:r>
              <a:rPr lang="en-IE" sz="2400" dirty="0" err="1"/>
              <a:t>processNode</a:t>
            </a:r>
            <a:r>
              <a:rPr lang="en-IE" sz="2400" dirty="0"/>
              <a:t>(n)</a:t>
            </a:r>
          </a:p>
          <a:p>
            <a:pPr marL="0" indent="0">
              <a:lnSpc>
                <a:spcPct val="80000"/>
              </a:lnSpc>
              <a:buNone/>
            </a:pPr>
            <a:r>
              <a:rPr lang="en-IE" sz="2400" dirty="0"/>
              <a:t>	mark(n)</a:t>
            </a:r>
          </a:p>
          <a:p>
            <a:pPr marL="0" indent="0">
              <a:lnSpc>
                <a:spcPct val="80000"/>
              </a:lnSpc>
              <a:buNone/>
            </a:pPr>
            <a:r>
              <a:rPr lang="en-IE" sz="2400" dirty="0"/>
              <a:t>	for every child c of n</a:t>
            </a:r>
          </a:p>
          <a:p>
            <a:pPr marL="0" indent="0">
              <a:lnSpc>
                <a:spcPct val="80000"/>
              </a:lnSpc>
              <a:buNone/>
            </a:pPr>
            <a:r>
              <a:rPr lang="en-IE" sz="2400" dirty="0"/>
              <a:t>        		if </a:t>
            </a:r>
            <a:r>
              <a:rPr lang="en-IE" sz="2400" dirty="0" err="1"/>
              <a:t>notMarked</a:t>
            </a:r>
            <a:r>
              <a:rPr lang="en-IE" sz="2400" dirty="0"/>
              <a:t>(c)</a:t>
            </a:r>
          </a:p>
          <a:p>
            <a:pPr marL="0" indent="0">
              <a:lnSpc>
                <a:spcPct val="80000"/>
              </a:lnSpc>
              <a:buNone/>
            </a:pPr>
            <a:r>
              <a:rPr lang="en-IE" sz="2400" dirty="0"/>
              <a:t>		             </a:t>
            </a:r>
            <a:r>
              <a:rPr lang="en-IE" sz="2400" dirty="0" err="1"/>
              <a:t>depthFirst</a:t>
            </a:r>
            <a:r>
              <a:rPr lang="en-IE" sz="2400" dirty="0"/>
              <a:t>(c)</a:t>
            </a:r>
          </a:p>
          <a:p>
            <a:pPr marL="0" indent="0">
              <a:lnSpc>
                <a:spcPct val="80000"/>
              </a:lnSpc>
              <a:buNone/>
            </a:pPr>
            <a:r>
              <a:rPr lang="en-IE" sz="2400" dirty="0"/>
              <a:t>        		end if</a:t>
            </a:r>
          </a:p>
          <a:p>
            <a:pPr marL="0" indent="0">
              <a:lnSpc>
                <a:spcPct val="80000"/>
              </a:lnSpc>
              <a:buNone/>
            </a:pPr>
            <a:r>
              <a:rPr lang="en-IE" sz="2400" dirty="0"/>
              <a:t>	end for</a:t>
            </a:r>
          </a:p>
          <a:p>
            <a:pPr marL="0" indent="0">
              <a:lnSpc>
                <a:spcPct val="80000"/>
              </a:lnSpc>
              <a:buNone/>
            </a:pPr>
            <a:r>
              <a:rPr lang="en-IE" sz="2400" dirty="0"/>
              <a:t>end function</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6</a:t>
            </a:fld>
            <a:endParaRPr lang="en-IE" dirty="0"/>
          </a:p>
        </p:txBody>
      </p:sp>
    </p:spTree>
    <p:extLst>
      <p:ext uri="{BB962C8B-B14F-4D97-AF65-F5344CB8AC3E}">
        <p14:creationId xmlns:p14="http://schemas.microsoft.com/office/powerpoint/2010/main" val="3052516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Depth First Algorithm</a:t>
            </a:r>
          </a:p>
        </p:txBody>
      </p:sp>
      <p:sp>
        <p:nvSpPr>
          <p:cNvPr id="16387" name="Rectangle 3"/>
          <p:cNvSpPr>
            <a:spLocks noGrp="1" noChangeArrowheads="1"/>
          </p:cNvSpPr>
          <p:nvPr>
            <p:ph idx="1"/>
          </p:nvPr>
        </p:nvSpPr>
        <p:spPr>
          <a:xfrm>
            <a:off x="899592" y="1125538"/>
            <a:ext cx="7787208" cy="5000625"/>
          </a:xfrm>
        </p:spPr>
        <p:txBody>
          <a:bodyPr>
            <a:normAutofit/>
          </a:bodyPr>
          <a:lstStyle/>
          <a:p>
            <a:pPr>
              <a:lnSpc>
                <a:spcPct val="80000"/>
              </a:lnSpc>
              <a:buNone/>
            </a:pPr>
            <a:endParaRPr lang="en-GB" sz="2000" b="1" dirty="0">
              <a:latin typeface="Courier New" pitchFamily="49" charset="0"/>
              <a:cs typeface="Courier New" pitchFamily="49" charset="0"/>
            </a:endParaRPr>
          </a:p>
          <a:p>
            <a:pPr>
              <a:lnSpc>
                <a:spcPct val="80000"/>
              </a:lnSpc>
              <a:buNone/>
            </a:pPr>
            <a:r>
              <a:rPr lang="en-GB" sz="2000" b="1" dirty="0">
                <a:latin typeface="Courier New" pitchFamily="49" charset="0"/>
                <a:cs typeface="Courier New" pitchFamily="49" charset="0"/>
              </a:rPr>
              <a:t>Queue </a:t>
            </a:r>
            <a:r>
              <a:rPr lang="en-GB" sz="2000" b="1" dirty="0" err="1">
                <a:latin typeface="Courier New" pitchFamily="49" charset="0"/>
                <a:cs typeface="Courier New" pitchFamily="49" charset="0"/>
              </a:rPr>
              <a:t>PathList</a:t>
            </a:r>
            <a:r>
              <a:rPr lang="en-GB" sz="2000" b="1" dirty="0">
                <a:latin typeface="Courier New" pitchFamily="49" charset="0"/>
                <a:cs typeface="Courier New" pitchFamily="49" charset="0"/>
              </a:rPr>
              <a:t> = new queue</a:t>
            </a:r>
          </a:p>
          <a:p>
            <a:pPr>
              <a:lnSpc>
                <a:spcPct val="80000"/>
              </a:lnSpc>
              <a:buNone/>
            </a:pPr>
            <a:r>
              <a:rPr lang="en-GB" sz="2000" b="1" dirty="0">
                <a:latin typeface="Courier New" pitchFamily="49" charset="0"/>
                <a:cs typeface="Courier New" pitchFamily="49" charset="0"/>
              </a:rPr>
              <a:t>Path P = new Path(</a:t>
            </a:r>
            <a:r>
              <a:rPr lang="en-GB" sz="2000" b="1" dirty="0" err="1">
                <a:latin typeface="Courier New" pitchFamily="49" charset="0"/>
                <a:cs typeface="Courier New" pitchFamily="49" charset="0"/>
              </a:rPr>
              <a:t>StartNode</a:t>
            </a:r>
            <a:r>
              <a:rPr lang="en-GB" sz="2000" b="1" dirty="0">
                <a:latin typeface="Courier New" pitchFamily="49" charset="0"/>
                <a:cs typeface="Courier New" pitchFamily="49" charset="0"/>
              </a:rPr>
              <a:t>)</a:t>
            </a:r>
          </a:p>
          <a:p>
            <a:pPr marL="342900" lvl="1" indent="-342900">
              <a:lnSpc>
                <a:spcPct val="80000"/>
              </a:lnSpc>
              <a:buNone/>
            </a:pPr>
            <a:r>
              <a:rPr lang="en-US" altLang="en-US" sz="2000" b="1" dirty="0" err="1">
                <a:latin typeface="Courier New" pitchFamily="49" charset="0"/>
              </a:rPr>
              <a:t>PathList.Add</a:t>
            </a:r>
            <a:r>
              <a:rPr lang="en-US" altLang="en-US" sz="2000" b="1" dirty="0">
                <a:latin typeface="Courier New" pitchFamily="49" charset="0"/>
              </a:rPr>
              <a:t>(P)</a:t>
            </a:r>
            <a:endParaRPr lang="en-GB" sz="2000" b="1" dirty="0">
              <a:latin typeface="Courier New" pitchFamily="49" charset="0"/>
              <a:cs typeface="Courier New" pitchFamily="49" charset="0"/>
            </a:endParaRPr>
          </a:p>
          <a:p>
            <a:pPr>
              <a:lnSpc>
                <a:spcPct val="80000"/>
              </a:lnSpc>
              <a:buNone/>
            </a:pPr>
            <a:r>
              <a:rPr lang="en-GB" sz="2000" b="1" dirty="0">
                <a:latin typeface="Courier New" pitchFamily="49" charset="0"/>
                <a:cs typeface="Courier New" pitchFamily="49" charset="0"/>
              </a:rPr>
              <a:t>While (NOT(</a:t>
            </a:r>
            <a:r>
              <a:rPr lang="en-GB" sz="2000" b="1" dirty="0" err="1">
                <a:latin typeface="Courier New" pitchFamily="49" charset="0"/>
                <a:cs typeface="Courier New" pitchFamily="49" charset="0"/>
              </a:rPr>
              <a:t>PathList.isEmpty</a:t>
            </a:r>
            <a:r>
              <a:rPr lang="en-GB" sz="2000" b="1" dirty="0">
                <a:latin typeface="Courier New" pitchFamily="49" charset="0"/>
                <a:cs typeface="Courier New" pitchFamily="49" charset="0"/>
              </a:rPr>
              <a:t>)):</a:t>
            </a:r>
          </a:p>
          <a:p>
            <a:pPr lvl="1">
              <a:lnSpc>
                <a:spcPct val="80000"/>
              </a:lnSpc>
              <a:buNone/>
            </a:pPr>
            <a:r>
              <a:rPr lang="en-GB" sz="2000" b="1" dirty="0">
                <a:latin typeface="Courier New" pitchFamily="49" charset="0"/>
                <a:cs typeface="Courier New" pitchFamily="49" charset="0"/>
              </a:rPr>
              <a:t>Path Current = </a:t>
            </a:r>
            <a:r>
              <a:rPr lang="en-GB" sz="2000" b="1" dirty="0" err="1">
                <a:latin typeface="Courier New" pitchFamily="49" charset="0"/>
                <a:cs typeface="Courier New" pitchFamily="49" charset="0"/>
              </a:rPr>
              <a:t>PathList.dequeue</a:t>
            </a:r>
            <a:r>
              <a:rPr lang="en-GB" sz="2000" b="1" dirty="0">
                <a:latin typeface="Courier New" pitchFamily="49" charset="0"/>
                <a:cs typeface="Courier New" pitchFamily="49" charset="0"/>
              </a:rPr>
              <a:t>()</a:t>
            </a:r>
          </a:p>
          <a:p>
            <a:pPr lvl="1">
              <a:lnSpc>
                <a:spcPct val="80000"/>
              </a:lnSpc>
              <a:buNone/>
            </a:pPr>
            <a:r>
              <a:rPr lang="en-GB" sz="2000" b="1" dirty="0">
                <a:latin typeface="Courier New" pitchFamily="49" charset="0"/>
                <a:cs typeface="Courier New" pitchFamily="49" charset="0"/>
              </a:rPr>
              <a:t>Node </a:t>
            </a:r>
            <a:r>
              <a:rPr lang="en-GB" sz="2000" b="1" dirty="0" err="1">
                <a:latin typeface="Courier New" pitchFamily="49" charset="0"/>
                <a:cs typeface="Courier New" pitchFamily="49" charset="0"/>
              </a:rPr>
              <a:t>EndNode</a:t>
            </a:r>
            <a:r>
              <a:rPr lang="en-GB" sz="2000" b="1" dirty="0">
                <a:latin typeface="Courier New" pitchFamily="49" charset="0"/>
                <a:cs typeface="Courier New" pitchFamily="49" charset="0"/>
              </a:rPr>
              <a:t> = First(Current)</a:t>
            </a:r>
          </a:p>
          <a:p>
            <a:pPr lvl="1">
              <a:lnSpc>
                <a:spcPct val="80000"/>
              </a:lnSpc>
              <a:buNone/>
            </a:pPr>
            <a:r>
              <a:rPr lang="en-GB" sz="2000" b="1" dirty="0" err="1">
                <a:latin typeface="Courier New" pitchFamily="49" charset="0"/>
                <a:cs typeface="Courier New" pitchFamily="49" charset="0"/>
              </a:rPr>
              <a:t>markNode</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EndNode</a:t>
            </a:r>
            <a:r>
              <a:rPr lang="en-GB" sz="2000" b="1" dirty="0">
                <a:latin typeface="Courier New" pitchFamily="49" charset="0"/>
                <a:cs typeface="Courier New" pitchFamily="49" charset="0"/>
              </a:rPr>
              <a:t>)</a:t>
            </a:r>
          </a:p>
          <a:p>
            <a:pPr lvl="1">
              <a:lnSpc>
                <a:spcPct val="80000"/>
              </a:lnSpc>
              <a:buNone/>
            </a:pPr>
            <a:r>
              <a:rPr lang="en-GB" sz="2000" b="1" dirty="0">
                <a:latin typeface="Courier New" pitchFamily="49" charset="0"/>
                <a:cs typeface="Courier New" pitchFamily="49" charset="0"/>
              </a:rPr>
              <a:t>If (</a:t>
            </a:r>
            <a:r>
              <a:rPr lang="en-GB" sz="2000" b="1" dirty="0" err="1">
                <a:latin typeface="Courier New" pitchFamily="49" charset="0"/>
                <a:cs typeface="Courier New" pitchFamily="49" charset="0"/>
              </a:rPr>
              <a:t>EndNode</a:t>
            </a:r>
            <a:r>
              <a:rPr lang="en-GB" sz="2000" b="1" dirty="0">
                <a:latin typeface="Courier New" pitchFamily="49" charset="0"/>
                <a:cs typeface="Courier New" pitchFamily="49" charset="0"/>
              </a:rPr>
              <a:t> == Goal) then Exit Loop</a:t>
            </a:r>
          </a:p>
          <a:p>
            <a:pPr lvl="1">
              <a:lnSpc>
                <a:spcPct val="80000"/>
              </a:lnSpc>
              <a:buNone/>
            </a:pPr>
            <a:r>
              <a:rPr lang="en-GB" sz="2000" b="1" dirty="0">
                <a:latin typeface="Courier New" pitchFamily="49" charset="0"/>
                <a:cs typeface="Courier New" pitchFamily="49" charset="0"/>
              </a:rPr>
              <a:t>Else</a:t>
            </a:r>
          </a:p>
          <a:p>
            <a:pPr lvl="2">
              <a:lnSpc>
                <a:spcPct val="80000"/>
              </a:lnSpc>
              <a:buNone/>
            </a:pPr>
            <a:r>
              <a:rPr lang="en-GB" sz="2000" b="1" dirty="0" err="1">
                <a:latin typeface="Courier New" pitchFamily="49" charset="0"/>
                <a:cs typeface="Courier New" pitchFamily="49" charset="0"/>
              </a:rPr>
              <a:t>NodeList</a:t>
            </a: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nextNodes</a:t>
            </a:r>
            <a:r>
              <a:rPr lang="en-GB" sz="2000" b="1" dirty="0">
                <a:latin typeface="Courier New" pitchFamily="49" charset="0"/>
                <a:cs typeface="Courier New" pitchFamily="49" charset="0"/>
              </a:rPr>
              <a:t> = </a:t>
            </a:r>
            <a:r>
              <a:rPr lang="en-GB" sz="2000" b="1" dirty="0" err="1">
                <a:latin typeface="Courier New" pitchFamily="49" charset="0"/>
                <a:cs typeface="Courier New" pitchFamily="49" charset="0"/>
              </a:rPr>
              <a:t>genSuccessors</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EndNode</a:t>
            </a:r>
            <a:r>
              <a:rPr lang="en-GB" sz="2000" b="1" dirty="0">
                <a:latin typeface="Courier New" pitchFamily="49" charset="0"/>
                <a:cs typeface="Courier New" pitchFamily="49" charset="0"/>
              </a:rPr>
              <a:t>)</a:t>
            </a:r>
          </a:p>
          <a:p>
            <a:pPr lvl="2">
              <a:lnSpc>
                <a:spcPct val="80000"/>
              </a:lnSpc>
              <a:buNone/>
            </a:pPr>
            <a:r>
              <a:rPr lang="en-GB" sz="2000" b="1" dirty="0" err="1">
                <a:latin typeface="Courier New" pitchFamily="49" charset="0"/>
                <a:cs typeface="Courier New" pitchFamily="49" charset="0"/>
              </a:rPr>
              <a:t>ForEach</a:t>
            </a:r>
            <a:r>
              <a:rPr lang="en-GB" sz="2000" b="1" dirty="0">
                <a:latin typeface="Courier New" pitchFamily="49" charset="0"/>
                <a:cs typeface="Courier New" pitchFamily="49" charset="0"/>
              </a:rPr>
              <a:t> node in </a:t>
            </a:r>
            <a:r>
              <a:rPr lang="en-GB" sz="2000" b="1" dirty="0" err="1">
                <a:latin typeface="Courier New" pitchFamily="49" charset="0"/>
                <a:cs typeface="Courier New" pitchFamily="49" charset="0"/>
              </a:rPr>
              <a:t>nextNodes</a:t>
            </a:r>
            <a:r>
              <a:rPr lang="en-GB" sz="2000" b="1" dirty="0">
                <a:latin typeface="Courier New" pitchFamily="49" charset="0"/>
                <a:cs typeface="Courier New" pitchFamily="49" charset="0"/>
              </a:rPr>
              <a:t>:</a:t>
            </a:r>
          </a:p>
          <a:p>
            <a:pPr lvl="3">
              <a:lnSpc>
                <a:spcPct val="80000"/>
              </a:lnSpc>
              <a:buNone/>
            </a:pPr>
            <a:r>
              <a:rPr lang="en-GB" b="1" dirty="0">
                <a:latin typeface="Courier New" pitchFamily="49" charset="0"/>
                <a:cs typeface="Courier New" pitchFamily="49" charset="0"/>
              </a:rPr>
              <a:t>If </a:t>
            </a:r>
            <a:r>
              <a:rPr lang="en-GB" b="1" dirty="0" err="1">
                <a:latin typeface="Courier New" pitchFamily="49" charset="0"/>
                <a:cs typeface="Courier New" pitchFamily="49" charset="0"/>
              </a:rPr>
              <a:t>notMarked</a:t>
            </a:r>
            <a:r>
              <a:rPr lang="en-GB" b="1" dirty="0">
                <a:latin typeface="Courier New" pitchFamily="49" charset="0"/>
                <a:cs typeface="Courier New" pitchFamily="49" charset="0"/>
              </a:rPr>
              <a:t>(node):</a:t>
            </a:r>
          </a:p>
          <a:p>
            <a:pPr lvl="3">
              <a:lnSpc>
                <a:spcPct val="80000"/>
              </a:lnSpc>
              <a:buNone/>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markNode</a:t>
            </a:r>
            <a:r>
              <a:rPr lang="en-GB" b="1" dirty="0">
                <a:latin typeface="Courier New" pitchFamily="49" charset="0"/>
                <a:cs typeface="Courier New" pitchFamily="49" charset="0"/>
              </a:rPr>
              <a:t>(node)</a:t>
            </a:r>
          </a:p>
          <a:p>
            <a:pPr lvl="4">
              <a:lnSpc>
                <a:spcPct val="80000"/>
              </a:lnSpc>
              <a:buNone/>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PathList.enqueue</a:t>
            </a:r>
            <a:r>
              <a:rPr lang="en-GB" b="1" dirty="0">
                <a:latin typeface="Courier New" pitchFamily="49" charset="0"/>
                <a:cs typeface="Courier New" pitchFamily="49" charset="0"/>
              </a:rPr>
              <a:t>(node)</a:t>
            </a:r>
          </a:p>
          <a:p>
            <a:pPr marL="976313" lvl="4" indent="-82550">
              <a:lnSpc>
                <a:spcPct val="80000"/>
              </a:lnSpc>
              <a:buNone/>
            </a:pPr>
            <a:endParaRPr lang="en-GB" b="1" dirty="0">
              <a:latin typeface="Courier New" pitchFamily="49" charset="0"/>
              <a:cs typeface="Courier New" pitchFamily="49" charset="0"/>
            </a:endParaRP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7</a:t>
            </a:fld>
            <a:endParaRPr lang="en-IE" dirty="0"/>
          </a:p>
        </p:txBody>
      </p:sp>
    </p:spTree>
    <p:extLst>
      <p:ext uri="{BB962C8B-B14F-4D97-AF65-F5344CB8AC3E}">
        <p14:creationId xmlns:p14="http://schemas.microsoft.com/office/powerpoint/2010/main" val="3052516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Breath First Search</a:t>
            </a:r>
          </a:p>
        </p:txBody>
      </p:sp>
      <p:sp>
        <p:nvSpPr>
          <p:cNvPr id="15363" name="Rectangle 3"/>
          <p:cNvSpPr>
            <a:spLocks noGrp="1" noChangeArrowheads="1"/>
          </p:cNvSpPr>
          <p:nvPr>
            <p:ph idx="1"/>
          </p:nvPr>
        </p:nvSpPr>
        <p:spPr/>
        <p:txBody>
          <a:bodyPr/>
          <a:lstStyle/>
          <a:p>
            <a:r>
              <a:rPr lang="en-GB" sz="2800" dirty="0"/>
              <a:t>Checks all paths of a given length before moving on to paths of longer length</a:t>
            </a:r>
          </a:p>
          <a:p>
            <a:r>
              <a:rPr lang="en-GB" sz="2800" dirty="0"/>
              <a:t>Algorithm differs from depth first only in insertion of new paths to the </a:t>
            </a:r>
            <a:r>
              <a:rPr lang="en-GB" sz="2800" b="1" dirty="0"/>
              <a:t>BACK</a:t>
            </a:r>
            <a:r>
              <a:rPr lang="en-GB" sz="2800" dirty="0"/>
              <a:t> of the queue!</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8</a:t>
            </a:fld>
            <a:endParaRPr lang="en-IE" dirty="0"/>
          </a:p>
        </p:txBody>
      </p:sp>
      <p:pic>
        <p:nvPicPr>
          <p:cNvPr id="5" name="Picture 4"/>
          <p:cNvPicPr>
            <a:picLocks noChangeAspect="1"/>
          </p:cNvPicPr>
          <p:nvPr/>
        </p:nvPicPr>
        <p:blipFill>
          <a:blip r:embed="rId2" cstate="print"/>
          <a:stretch>
            <a:fillRect/>
          </a:stretch>
        </p:blipFill>
        <p:spPr>
          <a:xfrm>
            <a:off x="2581250" y="3362672"/>
            <a:ext cx="3790950" cy="2514600"/>
          </a:xfrm>
          <a:prstGeom prst="rect">
            <a:avLst/>
          </a:prstGeom>
        </p:spPr>
      </p:pic>
    </p:spTree>
    <p:extLst>
      <p:ext uri="{BB962C8B-B14F-4D97-AF65-F5344CB8AC3E}">
        <p14:creationId xmlns:p14="http://schemas.microsoft.com/office/powerpoint/2010/main" val="3688241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Breath First Algorithm</a:t>
            </a:r>
          </a:p>
        </p:txBody>
      </p:sp>
      <p:sp>
        <p:nvSpPr>
          <p:cNvPr id="19459" name="Rectangle 3"/>
          <p:cNvSpPr>
            <a:spLocks noGrp="1" noChangeArrowheads="1"/>
          </p:cNvSpPr>
          <p:nvPr>
            <p:ph idx="1"/>
          </p:nvPr>
        </p:nvSpPr>
        <p:spPr/>
        <p:txBody>
          <a:bodyPr>
            <a:normAutofit lnSpcReduction="10000"/>
          </a:bodyPr>
          <a:lstStyle/>
          <a:p>
            <a:pPr lvl="1" eaLnBrk="1" hangingPunct="1">
              <a:lnSpc>
                <a:spcPct val="90000"/>
              </a:lnSpc>
              <a:buFont typeface="Wingdings" pitchFamily="2" charset="2"/>
              <a:buNone/>
            </a:pPr>
            <a:endParaRPr lang="en-US" altLang="en-US" sz="2000" b="1" dirty="0">
              <a:latin typeface="Courier New" pitchFamily="49" charset="0"/>
            </a:endParaRPr>
          </a:p>
          <a:p>
            <a:pPr lvl="1" eaLnBrk="1" hangingPunct="1">
              <a:lnSpc>
                <a:spcPct val="90000"/>
              </a:lnSpc>
              <a:buFont typeface="Wingdings" pitchFamily="2" charset="2"/>
              <a:buNone/>
            </a:pPr>
            <a:r>
              <a:rPr lang="en-US" altLang="en-US" sz="2000" b="1" dirty="0">
                <a:latin typeface="Courier New" pitchFamily="49" charset="0"/>
              </a:rPr>
              <a:t>Queue </a:t>
            </a:r>
            <a:r>
              <a:rPr lang="en-US" altLang="en-US" sz="2000" b="1" dirty="0" err="1">
                <a:latin typeface="Courier New" pitchFamily="49" charset="0"/>
              </a:rPr>
              <a:t>PathList</a:t>
            </a:r>
            <a:r>
              <a:rPr lang="en-US" altLang="en-US" sz="2000" b="1" dirty="0">
                <a:latin typeface="Courier New" pitchFamily="49" charset="0"/>
              </a:rPr>
              <a:t> = new queue</a:t>
            </a:r>
          </a:p>
          <a:p>
            <a:pPr lvl="1" eaLnBrk="1" hangingPunct="1">
              <a:lnSpc>
                <a:spcPct val="90000"/>
              </a:lnSpc>
              <a:buFont typeface="Wingdings" pitchFamily="2" charset="2"/>
              <a:buNone/>
            </a:pPr>
            <a:r>
              <a:rPr lang="en-US" altLang="en-US" sz="2000" b="1" dirty="0">
                <a:latin typeface="Courier New" pitchFamily="49" charset="0"/>
              </a:rPr>
              <a:t>Path P = new Path(</a:t>
            </a:r>
            <a:r>
              <a:rPr lang="en-US" altLang="en-US" sz="2000" b="1" dirty="0" err="1">
                <a:latin typeface="Courier New" pitchFamily="49" charset="0"/>
              </a:rPr>
              <a:t>StartNode</a:t>
            </a:r>
            <a:r>
              <a:rPr lang="en-US" altLang="en-US" sz="2000" b="1" dirty="0">
                <a:latin typeface="Courier New" pitchFamily="49" charset="0"/>
              </a:rPr>
              <a:t>)</a:t>
            </a:r>
          </a:p>
          <a:p>
            <a:pPr lvl="1" eaLnBrk="1" hangingPunct="1">
              <a:lnSpc>
                <a:spcPct val="90000"/>
              </a:lnSpc>
              <a:buFont typeface="Wingdings" pitchFamily="2" charset="2"/>
              <a:buNone/>
            </a:pPr>
            <a:r>
              <a:rPr lang="en-US" altLang="en-US" sz="2000" b="1" dirty="0" err="1">
                <a:latin typeface="Courier New" pitchFamily="49" charset="0"/>
              </a:rPr>
              <a:t>PathList.Add</a:t>
            </a:r>
            <a:r>
              <a:rPr lang="en-US" altLang="en-US" sz="2000" b="1" dirty="0">
                <a:latin typeface="Courier New" pitchFamily="49" charset="0"/>
              </a:rPr>
              <a:t>(P)</a:t>
            </a:r>
          </a:p>
          <a:p>
            <a:pPr lvl="1" eaLnBrk="1" hangingPunct="1">
              <a:lnSpc>
                <a:spcPct val="90000"/>
              </a:lnSpc>
              <a:buFont typeface="Wingdings" pitchFamily="2" charset="2"/>
              <a:buNone/>
            </a:pPr>
            <a:r>
              <a:rPr lang="en-US" altLang="en-US" sz="2000" b="1" dirty="0">
                <a:latin typeface="Courier New" pitchFamily="49" charset="0"/>
              </a:rPr>
              <a:t>While (NOT(</a:t>
            </a:r>
            <a:r>
              <a:rPr lang="en-US" altLang="en-US" sz="2000" b="1" dirty="0" err="1">
                <a:latin typeface="Courier New" pitchFamily="49" charset="0"/>
              </a:rPr>
              <a:t>PathList.isEmpty</a:t>
            </a:r>
            <a:r>
              <a:rPr lang="en-US" altLang="en-US" sz="2000" b="1" dirty="0">
                <a:latin typeface="Courier New" pitchFamily="49" charset="0"/>
              </a:rPr>
              <a:t>)):</a:t>
            </a:r>
          </a:p>
          <a:p>
            <a:pPr lvl="1" eaLnBrk="1" hangingPunct="1">
              <a:lnSpc>
                <a:spcPct val="90000"/>
              </a:lnSpc>
              <a:buFont typeface="Wingdings" pitchFamily="2" charset="2"/>
              <a:buNone/>
            </a:pPr>
            <a:r>
              <a:rPr lang="en-US" altLang="en-US" sz="2000" b="1" dirty="0">
                <a:latin typeface="Courier New" pitchFamily="49" charset="0"/>
              </a:rPr>
              <a:t>	 Path Current = </a:t>
            </a:r>
            <a:r>
              <a:rPr lang="en-US" altLang="en-US" sz="2000" b="1" dirty="0" err="1">
                <a:latin typeface="Courier New" pitchFamily="49" charset="0"/>
              </a:rPr>
              <a:t>PathList.dequeue</a:t>
            </a:r>
            <a:r>
              <a:rPr lang="en-US" altLang="en-US" sz="2000" b="1" dirty="0">
                <a:latin typeface="Courier New" pitchFamily="49" charset="0"/>
              </a:rPr>
              <a:t>()</a:t>
            </a:r>
          </a:p>
          <a:p>
            <a:pPr lvl="1" eaLnBrk="1" hangingPunct="1">
              <a:lnSpc>
                <a:spcPct val="90000"/>
              </a:lnSpc>
              <a:buFont typeface="Wingdings" pitchFamily="2" charset="2"/>
              <a:buNone/>
            </a:pPr>
            <a:r>
              <a:rPr lang="en-US" altLang="en-US" sz="2000" b="1" dirty="0">
                <a:latin typeface="Courier New" pitchFamily="49" charset="0"/>
              </a:rPr>
              <a:t>	 Node </a:t>
            </a:r>
            <a:r>
              <a:rPr lang="en-US" altLang="en-US" sz="2000" b="1" dirty="0" err="1">
                <a:latin typeface="Courier New" pitchFamily="49" charset="0"/>
              </a:rPr>
              <a:t>EndNode</a:t>
            </a:r>
            <a:r>
              <a:rPr lang="en-US" altLang="en-US" sz="2000" b="1" dirty="0">
                <a:latin typeface="Courier New" pitchFamily="49" charset="0"/>
              </a:rPr>
              <a:t> = First(Current)</a:t>
            </a:r>
          </a:p>
          <a:p>
            <a:pPr lvl="1" eaLnBrk="1" hangingPunct="1">
              <a:lnSpc>
                <a:spcPct val="90000"/>
              </a:lnSpc>
              <a:buFont typeface="Wingdings" pitchFamily="2" charset="2"/>
              <a:buNone/>
            </a:pPr>
            <a:r>
              <a:rPr lang="en-US" altLang="en-US" sz="2000" b="1" dirty="0">
                <a:latin typeface="Courier New" pitchFamily="49" charset="0"/>
              </a:rPr>
              <a:t> 	 </a:t>
            </a:r>
            <a:r>
              <a:rPr lang="en-US" altLang="en-US" sz="2000" b="1" dirty="0" err="1">
                <a:latin typeface="Courier New" pitchFamily="49" charset="0"/>
              </a:rPr>
              <a:t>markNode</a:t>
            </a:r>
            <a:r>
              <a:rPr lang="en-US" altLang="en-US" sz="2000" b="1" dirty="0">
                <a:latin typeface="Courier New" pitchFamily="49" charset="0"/>
              </a:rPr>
              <a:t>(</a:t>
            </a:r>
            <a:r>
              <a:rPr lang="en-US" altLang="en-US" sz="2000" b="1" dirty="0" err="1">
                <a:latin typeface="Courier New" pitchFamily="49" charset="0"/>
              </a:rPr>
              <a:t>EndNode</a:t>
            </a:r>
            <a:r>
              <a:rPr lang="en-US" altLang="en-US" sz="2000" b="1" dirty="0">
                <a:latin typeface="Courier New" pitchFamily="49" charset="0"/>
              </a:rPr>
              <a:t>)</a:t>
            </a:r>
          </a:p>
          <a:p>
            <a:pPr lvl="1" eaLnBrk="1" hangingPunct="1">
              <a:lnSpc>
                <a:spcPct val="90000"/>
              </a:lnSpc>
              <a:buFont typeface="Wingdings" pitchFamily="2" charset="2"/>
              <a:buNone/>
            </a:pPr>
            <a:r>
              <a:rPr lang="en-US" altLang="en-US" sz="2000" b="1" dirty="0">
                <a:latin typeface="Courier New" pitchFamily="49" charset="0"/>
              </a:rPr>
              <a:t> 	 If (</a:t>
            </a:r>
            <a:r>
              <a:rPr lang="en-US" altLang="en-US" sz="2000" b="1" dirty="0" err="1">
                <a:latin typeface="Courier New" pitchFamily="49" charset="0"/>
              </a:rPr>
              <a:t>EndNode</a:t>
            </a:r>
            <a:r>
              <a:rPr lang="en-US" altLang="en-US" sz="2000" b="1" dirty="0">
                <a:latin typeface="Courier New" pitchFamily="49" charset="0"/>
              </a:rPr>
              <a:t> == Goal) then Exit Loop</a:t>
            </a:r>
          </a:p>
          <a:p>
            <a:pPr lvl="1" eaLnBrk="1" hangingPunct="1">
              <a:lnSpc>
                <a:spcPct val="90000"/>
              </a:lnSpc>
              <a:buFont typeface="Wingdings" pitchFamily="2" charset="2"/>
              <a:buNone/>
            </a:pPr>
            <a:r>
              <a:rPr lang="en-US" altLang="en-US" sz="2000" b="1" dirty="0">
                <a:latin typeface="Courier New" pitchFamily="49" charset="0"/>
              </a:rPr>
              <a:t>	 Else</a:t>
            </a:r>
          </a:p>
          <a:p>
            <a:pPr lvl="1" eaLnBrk="1" hangingPunct="1">
              <a:lnSpc>
                <a:spcPct val="90000"/>
              </a:lnSpc>
              <a:buFont typeface="Wingdings" pitchFamily="2" charset="2"/>
              <a:buNone/>
            </a:pPr>
            <a:r>
              <a:rPr lang="en-US" altLang="en-US" sz="2000" b="1" dirty="0">
                <a:latin typeface="Courier New" pitchFamily="49" charset="0"/>
              </a:rPr>
              <a:t>		   </a:t>
            </a:r>
            <a:r>
              <a:rPr lang="en-US" altLang="en-US" sz="2000" b="1" dirty="0" err="1">
                <a:latin typeface="Courier New" pitchFamily="49" charset="0"/>
              </a:rPr>
              <a:t>NodeList</a:t>
            </a:r>
            <a:r>
              <a:rPr lang="en-US" altLang="en-US" sz="2000" b="1" dirty="0">
                <a:latin typeface="Courier New" pitchFamily="49" charset="0"/>
              </a:rPr>
              <a:t> </a:t>
            </a:r>
            <a:r>
              <a:rPr lang="en-US" altLang="en-US" sz="2000" b="1" dirty="0" err="1">
                <a:latin typeface="Courier New" pitchFamily="49" charset="0"/>
              </a:rPr>
              <a:t>nextNodes</a:t>
            </a:r>
            <a:r>
              <a:rPr lang="en-US" altLang="en-US" sz="2000" b="1" dirty="0">
                <a:latin typeface="Courier New" pitchFamily="49" charset="0"/>
              </a:rPr>
              <a:t> = </a:t>
            </a:r>
            <a:r>
              <a:rPr lang="en-US" altLang="en-US" sz="2000" b="1" dirty="0" err="1">
                <a:latin typeface="Courier New" pitchFamily="49" charset="0"/>
              </a:rPr>
              <a:t>genSuccessors</a:t>
            </a:r>
            <a:r>
              <a:rPr lang="en-US" altLang="en-US" sz="2000" b="1" dirty="0">
                <a:latin typeface="Courier New" pitchFamily="49" charset="0"/>
              </a:rPr>
              <a:t>(</a:t>
            </a:r>
            <a:r>
              <a:rPr lang="en-US" altLang="en-US" sz="2000" b="1" dirty="0" err="1">
                <a:latin typeface="Courier New" pitchFamily="49" charset="0"/>
              </a:rPr>
              <a:t>EndNode</a:t>
            </a:r>
            <a:r>
              <a:rPr lang="en-US" altLang="en-US" sz="2000" b="1" dirty="0">
                <a:latin typeface="Courier New" pitchFamily="49" charset="0"/>
              </a:rPr>
              <a:t>)</a:t>
            </a:r>
          </a:p>
          <a:p>
            <a:pPr lvl="1" eaLnBrk="1" hangingPunct="1">
              <a:lnSpc>
                <a:spcPct val="90000"/>
              </a:lnSpc>
              <a:buFont typeface="Wingdings" pitchFamily="2" charset="2"/>
              <a:buNone/>
            </a:pPr>
            <a:r>
              <a:rPr lang="en-US" altLang="en-US" sz="2000" b="1" dirty="0">
                <a:latin typeface="Courier New" pitchFamily="49" charset="0"/>
              </a:rPr>
              <a:t>		   </a:t>
            </a:r>
            <a:r>
              <a:rPr lang="en-US" altLang="en-US" sz="2000" b="1" dirty="0" err="1">
                <a:latin typeface="Courier New" pitchFamily="49" charset="0"/>
              </a:rPr>
              <a:t>ForEach</a:t>
            </a:r>
            <a:r>
              <a:rPr lang="en-US" altLang="en-US" sz="2000" b="1" dirty="0">
                <a:latin typeface="Courier New" pitchFamily="49" charset="0"/>
              </a:rPr>
              <a:t> node in </a:t>
            </a:r>
            <a:r>
              <a:rPr lang="en-US" altLang="en-US" sz="2000" b="1" dirty="0" err="1">
                <a:latin typeface="Courier New" pitchFamily="49" charset="0"/>
              </a:rPr>
              <a:t>nextNodes</a:t>
            </a:r>
            <a:r>
              <a:rPr lang="en-US" altLang="en-US" sz="2000" b="1" dirty="0">
                <a:latin typeface="Courier New" pitchFamily="49" charset="0"/>
              </a:rPr>
              <a:t>:</a:t>
            </a:r>
          </a:p>
          <a:p>
            <a:pPr lvl="1" eaLnBrk="1" hangingPunct="1">
              <a:lnSpc>
                <a:spcPct val="90000"/>
              </a:lnSpc>
              <a:buFont typeface="Wingdings" pitchFamily="2" charset="2"/>
              <a:buNone/>
            </a:pPr>
            <a:r>
              <a:rPr lang="en-US" altLang="en-US" sz="2000" b="1" dirty="0">
                <a:latin typeface="Courier New" pitchFamily="49" charset="0"/>
              </a:rPr>
              <a:t>			If </a:t>
            </a:r>
            <a:r>
              <a:rPr lang="en-US" altLang="en-US" sz="2000" b="1" dirty="0" err="1">
                <a:latin typeface="Courier New" pitchFamily="49" charset="0"/>
              </a:rPr>
              <a:t>notMarked</a:t>
            </a:r>
            <a:r>
              <a:rPr lang="en-US" altLang="en-US" sz="2000" b="1" dirty="0">
                <a:latin typeface="Courier New" pitchFamily="49" charset="0"/>
              </a:rPr>
              <a:t>(node):</a:t>
            </a:r>
          </a:p>
          <a:p>
            <a:pPr lvl="1" eaLnBrk="1" hangingPunct="1">
              <a:lnSpc>
                <a:spcPct val="90000"/>
              </a:lnSpc>
              <a:buFont typeface="Wingdings" pitchFamily="2" charset="2"/>
              <a:buNone/>
            </a:pPr>
            <a:r>
              <a:rPr lang="en-US" altLang="en-US" sz="2000" b="1" dirty="0">
                <a:latin typeface="Courier New" pitchFamily="49" charset="0"/>
              </a:rPr>
              <a:t>			    </a:t>
            </a:r>
            <a:r>
              <a:rPr lang="en-US" altLang="en-US" sz="2000" b="1" dirty="0" err="1">
                <a:latin typeface="Courier New" pitchFamily="49" charset="0"/>
              </a:rPr>
              <a:t>markNode</a:t>
            </a:r>
            <a:r>
              <a:rPr lang="en-US" altLang="en-US" sz="2000" b="1" dirty="0">
                <a:latin typeface="Courier New" pitchFamily="49" charset="0"/>
              </a:rPr>
              <a:t>(node)</a:t>
            </a:r>
          </a:p>
          <a:p>
            <a:pPr lvl="1" eaLnBrk="1" hangingPunct="1">
              <a:lnSpc>
                <a:spcPct val="90000"/>
              </a:lnSpc>
              <a:buFont typeface="Wingdings" pitchFamily="2" charset="2"/>
              <a:buNone/>
            </a:pPr>
            <a:r>
              <a:rPr lang="en-US" altLang="en-US" sz="2000" b="1" dirty="0">
                <a:latin typeface="Courier New" pitchFamily="49" charset="0"/>
              </a:rPr>
              <a:t>			    </a:t>
            </a:r>
            <a:r>
              <a:rPr lang="en-US" altLang="en-US" sz="2000" b="1" dirty="0" err="1">
                <a:latin typeface="Courier New" pitchFamily="49" charset="0"/>
              </a:rPr>
              <a:t>PathList.AddToBack</a:t>
            </a:r>
            <a:r>
              <a:rPr lang="en-US" altLang="en-US" sz="2000" b="1" dirty="0">
                <a:latin typeface="Courier New" pitchFamily="49" charset="0"/>
              </a:rPr>
              <a:t>(node)</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9</a:t>
            </a:fld>
            <a:endParaRPr lang="en-IE" dirty="0"/>
          </a:p>
        </p:txBody>
      </p:sp>
    </p:spTree>
    <p:extLst>
      <p:ext uri="{BB962C8B-B14F-4D97-AF65-F5344CB8AC3E}">
        <p14:creationId xmlns:p14="http://schemas.microsoft.com/office/powerpoint/2010/main" val="2836087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Which is best?</a:t>
            </a:r>
          </a:p>
        </p:txBody>
      </p:sp>
      <p:sp>
        <p:nvSpPr>
          <p:cNvPr id="25603" name="Rectangle 3"/>
          <p:cNvSpPr>
            <a:spLocks noGrp="1" noChangeArrowheads="1"/>
          </p:cNvSpPr>
          <p:nvPr>
            <p:ph idx="1"/>
          </p:nvPr>
        </p:nvSpPr>
        <p:spPr/>
        <p:txBody>
          <a:bodyPr>
            <a:normAutofit/>
          </a:bodyPr>
          <a:lstStyle/>
          <a:p>
            <a:r>
              <a:rPr lang="en-GB" sz="2400" dirty="0"/>
              <a:t>If we are confident that all partial paths either reach dead ends or become complete after a reasonable number of steps</a:t>
            </a:r>
          </a:p>
          <a:p>
            <a:pPr lvl="1"/>
            <a:r>
              <a:rPr lang="en-GB" sz="2000" dirty="0"/>
              <a:t>Depth First</a:t>
            </a:r>
          </a:p>
          <a:p>
            <a:r>
              <a:rPr lang="en-GB" sz="2400" dirty="0"/>
              <a:t>If paths are long or even infinite</a:t>
            </a:r>
          </a:p>
          <a:p>
            <a:pPr lvl="1"/>
            <a:r>
              <a:rPr lang="en-GB" sz="2000" dirty="0"/>
              <a:t>NOT Depth First</a:t>
            </a:r>
          </a:p>
          <a:p>
            <a:r>
              <a:rPr lang="en-GB" sz="2400" dirty="0"/>
              <a:t>If all paths lead to goal at the same depth</a:t>
            </a:r>
          </a:p>
          <a:p>
            <a:pPr lvl="1"/>
            <a:r>
              <a:rPr lang="en-GB" sz="2000" dirty="0"/>
              <a:t>Breath First</a:t>
            </a:r>
          </a:p>
          <a:p>
            <a:r>
              <a:rPr lang="en-GB" sz="2400" dirty="0"/>
              <a:t>Large Branching Factor</a:t>
            </a:r>
          </a:p>
          <a:p>
            <a:pPr lvl="1"/>
            <a:r>
              <a:rPr lang="en-GB" sz="2000" dirty="0"/>
              <a:t>NOT Breath First</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10</a:t>
            </a:fld>
            <a:endParaRPr lang="en-IE" dirty="0"/>
          </a:p>
        </p:txBody>
      </p:sp>
      <p:sp>
        <p:nvSpPr>
          <p:cNvPr id="5" name="Rectangle 4"/>
          <p:cNvSpPr/>
          <p:nvPr/>
        </p:nvSpPr>
        <p:spPr>
          <a:xfrm>
            <a:off x="4572000" y="3933056"/>
            <a:ext cx="3960440" cy="2160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600" b="1" dirty="0"/>
              <a:t>Some use cases</a:t>
            </a:r>
          </a:p>
          <a:p>
            <a:pPr algn="ctr"/>
            <a:r>
              <a:rPr lang="en-IE" sz="1600" dirty="0"/>
              <a:t>GPS Navigation: BFS</a:t>
            </a:r>
          </a:p>
          <a:p>
            <a:pPr algn="ctr"/>
            <a:r>
              <a:rPr lang="en-IE" sz="1600" dirty="0"/>
              <a:t>Peer-to-peer Computer Networks: BFS</a:t>
            </a:r>
          </a:p>
          <a:p>
            <a:pPr algn="ctr"/>
            <a:r>
              <a:rPr lang="en-IE" sz="1600" dirty="0" err="1"/>
              <a:t>Facebook</a:t>
            </a:r>
            <a:r>
              <a:rPr lang="en-IE" sz="1600" dirty="0"/>
              <a:t> connections: BFS</a:t>
            </a:r>
          </a:p>
          <a:p>
            <a:pPr algn="ctr"/>
            <a:r>
              <a:rPr lang="en-IE" sz="1600" dirty="0"/>
              <a:t>Single solution problems e.g. Mazes: DFS</a:t>
            </a:r>
          </a:p>
          <a:p>
            <a:pPr algn="ctr"/>
            <a:r>
              <a:rPr lang="en-IE" sz="1600" dirty="0"/>
              <a:t>Communication/Transportation networks (search strongly connected components): DFS</a:t>
            </a:r>
          </a:p>
        </p:txBody>
      </p:sp>
    </p:spTree>
    <p:extLst>
      <p:ext uri="{BB962C8B-B14F-4D97-AF65-F5344CB8AC3E}">
        <p14:creationId xmlns:p14="http://schemas.microsoft.com/office/powerpoint/2010/main" val="187496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500"/>
                                        <p:tgtEl>
                                          <p:spTgt spid="2560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603">
                                            <p:txEl>
                                              <p:pRg st="1" end="1"/>
                                            </p:txEl>
                                          </p:spTgt>
                                        </p:tgtEl>
                                        <p:attrNameLst>
                                          <p:attrName>style.visibility</p:attrName>
                                        </p:attrNameLst>
                                      </p:cBhvr>
                                      <p:to>
                                        <p:strVal val="visible"/>
                                      </p:to>
                                    </p:set>
                                    <p:animEffect transition="in" filter="fade">
                                      <p:cBhvr>
                                        <p:cTn id="10" dur="500"/>
                                        <p:tgtEl>
                                          <p:spTgt spid="2560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5603">
                                            <p:txEl>
                                              <p:pRg st="2" end="2"/>
                                            </p:txEl>
                                          </p:spTgt>
                                        </p:tgtEl>
                                        <p:attrNameLst>
                                          <p:attrName>style.visibility</p:attrName>
                                        </p:attrNameLst>
                                      </p:cBhvr>
                                      <p:to>
                                        <p:strVal val="visible"/>
                                      </p:to>
                                    </p:set>
                                    <p:animEffect transition="in" filter="fade">
                                      <p:cBhvr>
                                        <p:cTn id="13" dur="500"/>
                                        <p:tgtEl>
                                          <p:spTgt spid="2560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5603">
                                            <p:txEl>
                                              <p:pRg st="3" end="3"/>
                                            </p:txEl>
                                          </p:spTgt>
                                        </p:tgtEl>
                                        <p:attrNameLst>
                                          <p:attrName>style.visibility</p:attrName>
                                        </p:attrNameLst>
                                      </p:cBhvr>
                                      <p:to>
                                        <p:strVal val="visible"/>
                                      </p:to>
                                    </p:set>
                                    <p:animEffect transition="in" filter="fade">
                                      <p:cBhvr>
                                        <p:cTn id="16" dur="500"/>
                                        <p:tgtEl>
                                          <p:spTgt spid="2560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5603">
                                            <p:txEl>
                                              <p:pRg st="4" end="4"/>
                                            </p:txEl>
                                          </p:spTgt>
                                        </p:tgtEl>
                                        <p:attrNameLst>
                                          <p:attrName>style.visibility</p:attrName>
                                        </p:attrNameLst>
                                      </p:cBhvr>
                                      <p:to>
                                        <p:strVal val="visible"/>
                                      </p:to>
                                    </p:set>
                                    <p:animEffect transition="in" filter="fade">
                                      <p:cBhvr>
                                        <p:cTn id="19" dur="500"/>
                                        <p:tgtEl>
                                          <p:spTgt spid="2560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5603">
                                            <p:txEl>
                                              <p:pRg st="5" end="5"/>
                                            </p:txEl>
                                          </p:spTgt>
                                        </p:tgtEl>
                                        <p:attrNameLst>
                                          <p:attrName>style.visibility</p:attrName>
                                        </p:attrNameLst>
                                      </p:cBhvr>
                                      <p:to>
                                        <p:strVal val="visible"/>
                                      </p:to>
                                    </p:set>
                                    <p:animEffect transition="in" filter="fade">
                                      <p:cBhvr>
                                        <p:cTn id="22" dur="500"/>
                                        <p:tgtEl>
                                          <p:spTgt spid="2560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5603">
                                            <p:txEl>
                                              <p:pRg st="6" end="6"/>
                                            </p:txEl>
                                          </p:spTgt>
                                        </p:tgtEl>
                                        <p:attrNameLst>
                                          <p:attrName>style.visibility</p:attrName>
                                        </p:attrNameLst>
                                      </p:cBhvr>
                                      <p:to>
                                        <p:strVal val="visible"/>
                                      </p:to>
                                    </p:set>
                                    <p:animEffect transition="in" filter="fade">
                                      <p:cBhvr>
                                        <p:cTn id="25" dur="500"/>
                                        <p:tgtEl>
                                          <p:spTgt spid="2560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5603">
                                            <p:txEl>
                                              <p:pRg st="7" end="7"/>
                                            </p:txEl>
                                          </p:spTgt>
                                        </p:tgtEl>
                                        <p:attrNameLst>
                                          <p:attrName>style.visibility</p:attrName>
                                        </p:attrNameLst>
                                      </p:cBhvr>
                                      <p:to>
                                        <p:strVal val="visible"/>
                                      </p:to>
                                    </p:set>
                                    <p:animEffect transition="in" filter="fade">
                                      <p:cBhvr>
                                        <p:cTn id="28" dur="500"/>
                                        <p:tgtEl>
                                          <p:spTgt spid="2560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Non Deterministic Search</a:t>
            </a:r>
          </a:p>
        </p:txBody>
      </p:sp>
      <p:sp>
        <p:nvSpPr>
          <p:cNvPr id="21507" name="Rectangle 3"/>
          <p:cNvSpPr>
            <a:spLocks noGrp="1" noChangeArrowheads="1"/>
          </p:cNvSpPr>
          <p:nvPr>
            <p:ph idx="1"/>
          </p:nvPr>
        </p:nvSpPr>
        <p:spPr/>
        <p:txBody>
          <a:bodyPr>
            <a:normAutofit/>
          </a:bodyPr>
          <a:lstStyle/>
          <a:p>
            <a:pPr marL="0" indent="0" algn="just">
              <a:buNone/>
            </a:pPr>
            <a:r>
              <a:rPr lang="en-IE" sz="2000" dirty="0"/>
              <a:t>“Video games provide a new level of challenge when it comes to thinking about the sort of strategic behaviours where search has worked so well in board and card games. Principally this challenge is that the complexity of the naïvely defined state-action graph has both a branching factor and a depth that is orders of magnitude greater than that for even the most complex board games (e.g. Go), since we must make sometimes complex decisions (such as choice of animation and path) for a large number of agents at a rate of anything up to 60 times per second”  </a:t>
            </a:r>
          </a:p>
          <a:p>
            <a:pPr marL="0" indent="0" algn="just">
              <a:buNone/>
            </a:pPr>
            <a:endParaRPr lang="en-IE" sz="2000" dirty="0"/>
          </a:p>
          <a:p>
            <a:r>
              <a:rPr lang="en-IE" sz="1800" dirty="0"/>
              <a:t>“Search in Real-Time Video Games”, Cowling et al, 2013, Artificial and Computational Intelligence in Games. </a:t>
            </a:r>
            <a:r>
              <a:rPr lang="en-IE" sz="1800" dirty="0" err="1"/>
              <a:t>Dagstuhl</a:t>
            </a:r>
            <a:r>
              <a:rPr lang="en-IE" sz="1800" dirty="0"/>
              <a:t> Follow-Ups, Volume 6.</a:t>
            </a:r>
          </a:p>
          <a:p>
            <a:pPr marL="0" indent="0" algn="just">
              <a:buNone/>
            </a:pPr>
            <a:endParaRPr lang="en-IE" sz="2000"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11</a:t>
            </a:fld>
            <a:endParaRPr lang="en-IE" dirty="0"/>
          </a:p>
        </p:txBody>
      </p:sp>
    </p:spTree>
    <p:extLst>
      <p:ext uri="{BB962C8B-B14F-4D97-AF65-F5344CB8AC3E}">
        <p14:creationId xmlns:p14="http://schemas.microsoft.com/office/powerpoint/2010/main" val="1451624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Non Deterministic Search</a:t>
            </a:r>
          </a:p>
        </p:txBody>
      </p:sp>
      <p:sp>
        <p:nvSpPr>
          <p:cNvPr id="21507" name="Rectangle 3"/>
          <p:cNvSpPr>
            <a:spLocks noGrp="1" noChangeArrowheads="1"/>
          </p:cNvSpPr>
          <p:nvPr>
            <p:ph idx="1"/>
          </p:nvPr>
        </p:nvSpPr>
        <p:spPr>
          <a:xfrm>
            <a:off x="457200" y="1125538"/>
            <a:ext cx="8363272" cy="5000625"/>
          </a:xfrm>
        </p:spPr>
        <p:txBody>
          <a:bodyPr>
            <a:normAutofit/>
          </a:bodyPr>
          <a:lstStyle/>
          <a:p>
            <a:pPr marL="0" indent="0">
              <a:buNone/>
            </a:pPr>
            <a:endParaRPr lang="en-GB" sz="2400" dirty="0"/>
          </a:p>
          <a:p>
            <a:pPr marL="0" indent="0">
              <a:buNone/>
            </a:pPr>
            <a:r>
              <a:rPr lang="en-GB" sz="2400" dirty="0"/>
              <a:t>When the details of the search space are largely unknown to us</a:t>
            </a:r>
          </a:p>
          <a:p>
            <a:pPr lvl="1"/>
            <a:r>
              <a:rPr lang="en-GB" sz="2000" dirty="0"/>
              <a:t>Unknown branching factor</a:t>
            </a:r>
          </a:p>
          <a:p>
            <a:pPr lvl="1"/>
            <a:r>
              <a:rPr lang="en-GB" sz="2000" dirty="0"/>
              <a:t>Possibility exists </a:t>
            </a:r>
            <a:r>
              <a:rPr lang="en-GB" sz="2000"/>
              <a:t>of traversing long </a:t>
            </a:r>
            <a:r>
              <a:rPr lang="en-GB" sz="2000" dirty="0"/>
              <a:t>useless paths</a:t>
            </a:r>
          </a:p>
          <a:p>
            <a:endParaRPr lang="en-GB" sz="2400" dirty="0"/>
          </a:p>
          <a:p>
            <a:r>
              <a:rPr lang="en-GB" sz="2400" dirty="0"/>
              <a:t>Then to strike a middle ground between depth first and breath first we can try non deterministic search</a:t>
            </a:r>
          </a:p>
          <a:p>
            <a:r>
              <a:rPr lang="en-GB" sz="2400" dirty="0"/>
              <a:t>Next path to expand is chosen at random</a:t>
            </a:r>
          </a:p>
          <a:p>
            <a:r>
              <a:rPr lang="en-GB" sz="2400" dirty="0"/>
              <a:t>Algorithm is exactly the same EXCEPT new paths are inserted into </a:t>
            </a:r>
            <a:r>
              <a:rPr lang="en-GB" sz="2400" b="1" dirty="0"/>
              <a:t>random</a:t>
            </a:r>
            <a:r>
              <a:rPr lang="en-GB" sz="2400" dirty="0"/>
              <a:t> locations in queue structure</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12</a:t>
            </a:fld>
            <a:endParaRPr lang="en-IE" dirty="0"/>
          </a:p>
        </p:txBody>
      </p:sp>
    </p:spTree>
    <p:extLst>
      <p:ext uri="{BB962C8B-B14F-4D97-AF65-F5344CB8AC3E}">
        <p14:creationId xmlns:p14="http://schemas.microsoft.com/office/powerpoint/2010/main" val="302636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Iterative Deepening</a:t>
            </a:r>
          </a:p>
        </p:txBody>
      </p:sp>
      <p:sp>
        <p:nvSpPr>
          <p:cNvPr id="27651" name="Rectangle 3"/>
          <p:cNvSpPr>
            <a:spLocks noGrp="1" noChangeArrowheads="1"/>
          </p:cNvSpPr>
          <p:nvPr>
            <p:ph idx="1"/>
          </p:nvPr>
        </p:nvSpPr>
        <p:spPr/>
        <p:txBody>
          <a:bodyPr/>
          <a:lstStyle/>
          <a:p>
            <a:r>
              <a:rPr lang="en-GB" sz="2800" dirty="0"/>
              <a:t>Use depth first to find all paths up to some maximum length</a:t>
            </a:r>
          </a:p>
          <a:p>
            <a:r>
              <a:rPr lang="en-GB" sz="2800" dirty="0"/>
              <a:t>While solution is not found and we have time left increment maximum path length</a:t>
            </a:r>
          </a:p>
          <a:p>
            <a:r>
              <a:rPr lang="en-GB" sz="2800" dirty="0"/>
              <a:t>Repeat depth first to new path length</a:t>
            </a:r>
          </a:p>
          <a:p>
            <a:r>
              <a:rPr lang="en-GB" sz="2800" dirty="0"/>
              <a:t>Used for time bounded search</a:t>
            </a:r>
          </a:p>
          <a:p>
            <a:pPr lvl="1"/>
            <a:r>
              <a:rPr lang="en-GB" sz="2400" dirty="0"/>
              <a:t>e.g. Chess</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13</a:t>
            </a:fld>
            <a:endParaRPr lang="en-IE" dirty="0"/>
          </a:p>
        </p:txBody>
      </p:sp>
      <p:pic>
        <p:nvPicPr>
          <p:cNvPr id="3074" name="Picture 2" descr="ideep.jpg"/>
          <p:cNvPicPr>
            <a:picLocks noChangeAspect="1" noChangeArrowheads="1"/>
          </p:cNvPicPr>
          <p:nvPr/>
        </p:nvPicPr>
        <p:blipFill>
          <a:blip r:embed="rId2" cstate="print"/>
          <a:srcRect/>
          <a:stretch>
            <a:fillRect/>
          </a:stretch>
        </p:blipFill>
        <p:spPr bwMode="auto">
          <a:xfrm>
            <a:off x="3923928" y="4581128"/>
            <a:ext cx="3749559" cy="1944216"/>
          </a:xfrm>
          <a:prstGeom prst="rect">
            <a:avLst/>
          </a:prstGeom>
          <a:noFill/>
        </p:spPr>
      </p:pic>
    </p:spTree>
    <p:extLst>
      <p:ext uri="{BB962C8B-B14F-4D97-AF65-F5344CB8AC3E}">
        <p14:creationId xmlns:p14="http://schemas.microsoft.com/office/powerpoint/2010/main" val="1712167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Bi-directional Search</a:t>
            </a:r>
          </a:p>
        </p:txBody>
      </p:sp>
      <p:sp>
        <p:nvSpPr>
          <p:cNvPr id="29699" name="Rectangle 3"/>
          <p:cNvSpPr>
            <a:spLocks noGrp="1" noChangeArrowheads="1"/>
          </p:cNvSpPr>
          <p:nvPr>
            <p:ph idx="1"/>
          </p:nvPr>
        </p:nvSpPr>
        <p:spPr/>
        <p:txBody>
          <a:bodyPr/>
          <a:lstStyle/>
          <a:p>
            <a:r>
              <a:rPr lang="en-GB" sz="2800" dirty="0"/>
              <a:t>If we know what the goal node is then we can do breath first search in both directions</a:t>
            </a:r>
          </a:p>
          <a:p>
            <a:pPr lvl="1"/>
            <a:r>
              <a:rPr lang="en-GB" sz="2400" dirty="0"/>
              <a:t>Search from start node</a:t>
            </a:r>
          </a:p>
          <a:p>
            <a:pPr lvl="1"/>
            <a:r>
              <a:rPr lang="en-GB" sz="2400" dirty="0"/>
              <a:t>Search from Goal node</a:t>
            </a:r>
          </a:p>
          <a:p>
            <a:r>
              <a:rPr lang="en-GB" sz="2800" dirty="0"/>
              <a:t>Stop the search when we meet in the middle!</a:t>
            </a:r>
          </a:p>
          <a:p>
            <a:pPr lvl="1"/>
            <a:r>
              <a:rPr lang="en-GB" sz="2400" dirty="0"/>
              <a:t>But will we meet?</a:t>
            </a:r>
          </a:p>
          <a:p>
            <a:r>
              <a:rPr lang="en-GB" sz="2800" dirty="0"/>
              <a:t>How about DFS in one direction and BFS in the other?</a:t>
            </a:r>
          </a:p>
          <a:p>
            <a:pPr lvl="1"/>
            <a:r>
              <a:rPr lang="en-GB" sz="2400" dirty="0"/>
              <a:t>Overhead of checking the intersection.</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14</a:t>
            </a:fld>
            <a:endParaRPr lang="en-IE" dirty="0"/>
          </a:p>
        </p:txBody>
      </p:sp>
    </p:spTree>
    <p:extLst>
      <p:ext uri="{BB962C8B-B14F-4D97-AF65-F5344CB8AC3E}">
        <p14:creationId xmlns:p14="http://schemas.microsoft.com/office/powerpoint/2010/main" val="2000619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Comparison</a:t>
            </a:r>
            <a:r>
              <a:rPr lang="en-GB" dirty="0"/>
              <a:t> </a:t>
            </a:r>
            <a:endParaRPr lang="en-US" dirty="0"/>
          </a:p>
        </p:txBody>
      </p:sp>
      <p:graphicFrame>
        <p:nvGraphicFramePr>
          <p:cNvPr id="33830" name="Group 38"/>
          <p:cNvGraphicFramePr>
            <a:graphicFrameLocks noGrp="1"/>
          </p:cNvGraphicFramePr>
          <p:nvPr>
            <p:ph type="tbl" idx="4294967295"/>
            <p:extLst/>
          </p:nvPr>
        </p:nvGraphicFramePr>
        <p:xfrm>
          <a:off x="992188" y="1556792"/>
          <a:ext cx="7159625" cy="4128711"/>
        </p:xfrm>
        <a:graphic>
          <a:graphicData uri="http://schemas.openxmlformats.org/drawingml/2006/table">
            <a:tbl>
              <a:tblPr/>
              <a:tblGrid>
                <a:gridCol w="1790645">
                  <a:extLst>
                    <a:ext uri="{9D8B030D-6E8A-4147-A177-3AD203B41FA5}">
                      <a16:colId xmlns:a16="http://schemas.microsoft.com/office/drawing/2014/main" val="20000"/>
                    </a:ext>
                  </a:extLst>
                </a:gridCol>
                <a:gridCol w="1789168">
                  <a:extLst>
                    <a:ext uri="{9D8B030D-6E8A-4147-A177-3AD203B41FA5}">
                      <a16:colId xmlns:a16="http://schemas.microsoft.com/office/drawing/2014/main" val="20001"/>
                    </a:ext>
                  </a:extLst>
                </a:gridCol>
                <a:gridCol w="1790645">
                  <a:extLst>
                    <a:ext uri="{9D8B030D-6E8A-4147-A177-3AD203B41FA5}">
                      <a16:colId xmlns:a16="http://schemas.microsoft.com/office/drawing/2014/main" val="20002"/>
                    </a:ext>
                  </a:extLst>
                </a:gridCol>
                <a:gridCol w="1789167">
                  <a:extLst>
                    <a:ext uri="{9D8B030D-6E8A-4147-A177-3AD203B41FA5}">
                      <a16:colId xmlns:a16="http://schemas.microsoft.com/office/drawing/2014/main" val="20003"/>
                    </a:ext>
                  </a:extLst>
                </a:gridCol>
              </a:tblGrid>
              <a:tr h="102081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endParaRPr kumimoji="0" lang="en-US" sz="24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000" b="0" i="0" u="none" strike="noStrike" cap="none" normalizeH="0" baseline="0" dirty="0">
                          <a:ln>
                            <a:noFill/>
                          </a:ln>
                          <a:solidFill>
                            <a:schemeClr val="tx1"/>
                          </a:solidFill>
                          <a:effectLst/>
                          <a:latin typeface="Arial" charset="0"/>
                        </a:rPr>
                        <a:t>TIME</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000" b="0" i="0" u="none" strike="noStrike" cap="none" normalizeH="0" baseline="0" dirty="0">
                          <a:ln>
                            <a:noFill/>
                          </a:ln>
                          <a:solidFill>
                            <a:schemeClr val="tx1"/>
                          </a:solidFill>
                          <a:effectLst/>
                          <a:latin typeface="Arial" charset="0"/>
                        </a:rPr>
                        <a:t>SPACE</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000" b="0" i="0" u="none" strike="noStrike" cap="none" normalizeH="0" baseline="0" dirty="0">
                          <a:ln>
                            <a:noFill/>
                          </a:ln>
                          <a:solidFill>
                            <a:schemeClr val="tx1"/>
                          </a:solidFill>
                          <a:effectLst/>
                          <a:latin typeface="Arial" charset="0"/>
                        </a:rPr>
                        <a:t>SHORTEST SOLUTION?</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021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Breath First</a:t>
                      </a: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dirty="0">
                          <a:ln>
                            <a:noFill/>
                          </a:ln>
                          <a:solidFill>
                            <a:schemeClr val="tx1"/>
                          </a:solidFill>
                          <a:effectLst/>
                          <a:latin typeface="Arial" charset="0"/>
                        </a:rPr>
                        <a:t>B</a:t>
                      </a:r>
                      <a:r>
                        <a:rPr kumimoji="0" lang="en-GB" sz="2400" b="0" i="0" u="none" strike="noStrike" cap="none" normalizeH="0" baseline="30000" dirty="0">
                          <a:ln>
                            <a:noFill/>
                          </a:ln>
                          <a:solidFill>
                            <a:schemeClr val="tx1"/>
                          </a:solidFill>
                          <a:effectLst/>
                          <a:latin typeface="Arial" charset="0"/>
                        </a:rPr>
                        <a:t>D</a:t>
                      </a:r>
                      <a:endParaRPr kumimoji="0" lang="en-US" sz="2400" b="0" i="0" u="none" strike="noStrike" cap="none" normalizeH="0" baseline="3000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B</a:t>
                      </a:r>
                      <a:r>
                        <a:rPr kumimoji="0" lang="en-GB" sz="2400" b="0" i="0" u="none" strike="noStrike" cap="none" normalizeH="0" baseline="30000">
                          <a:ln>
                            <a:noFill/>
                          </a:ln>
                          <a:solidFill>
                            <a:schemeClr val="tx1"/>
                          </a:solidFill>
                          <a:effectLst/>
                          <a:latin typeface="Arial" charset="0"/>
                        </a:rPr>
                        <a:t>D</a:t>
                      </a:r>
                      <a:endParaRPr kumimoji="0" lang="en-US" sz="2400" b="0" i="0" u="none" strike="noStrike" cap="none" normalizeH="0" baseline="3000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Yes</a:t>
                      </a: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1766">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Depth First</a:t>
                      </a: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B</a:t>
                      </a:r>
                      <a:r>
                        <a:rPr kumimoji="0" lang="en-GB" sz="2400" b="0" i="0" u="none" strike="noStrike" cap="none" normalizeH="0" baseline="30000">
                          <a:ln>
                            <a:noFill/>
                          </a:ln>
                          <a:solidFill>
                            <a:schemeClr val="tx1"/>
                          </a:solidFill>
                          <a:effectLst/>
                          <a:latin typeface="Arial" charset="0"/>
                        </a:rPr>
                        <a:t>Dmax</a:t>
                      </a:r>
                      <a:endParaRPr kumimoji="0" lang="en-US" sz="2400" b="0" i="0" u="none" strike="noStrike" cap="none" normalizeH="0" baseline="3000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dirty="0" err="1">
                          <a:ln>
                            <a:noFill/>
                          </a:ln>
                          <a:solidFill>
                            <a:schemeClr val="tx1"/>
                          </a:solidFill>
                          <a:effectLst/>
                          <a:latin typeface="Arial" charset="0"/>
                        </a:rPr>
                        <a:t>Dmax</a:t>
                      </a: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No</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7122">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Iterative Deepening</a:t>
                      </a: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B</a:t>
                      </a:r>
                      <a:r>
                        <a:rPr kumimoji="0" lang="en-GB" sz="2400" b="0" i="0" u="none" strike="noStrike" cap="none" normalizeH="0" baseline="30000">
                          <a:ln>
                            <a:noFill/>
                          </a:ln>
                          <a:solidFill>
                            <a:schemeClr val="tx1"/>
                          </a:solidFill>
                          <a:effectLst/>
                          <a:latin typeface="Arial" charset="0"/>
                        </a:rPr>
                        <a:t>D</a:t>
                      </a:r>
                      <a:endParaRPr kumimoji="0" lang="en-US" sz="2400" b="0" i="0" u="none" strike="noStrike" cap="none" normalizeH="0" baseline="3000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D</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Yes</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07122">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dirty="0">
                          <a:ln>
                            <a:noFill/>
                          </a:ln>
                          <a:solidFill>
                            <a:schemeClr val="tx1"/>
                          </a:solidFill>
                          <a:effectLst/>
                          <a:latin typeface="Arial" charset="0"/>
                        </a:rPr>
                        <a:t>Bi-directional</a:t>
                      </a:r>
                      <a:endParaRPr kumimoji="0" lang="en-US" sz="24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B</a:t>
                      </a:r>
                      <a:r>
                        <a:rPr kumimoji="0" lang="en-GB" sz="2400" b="0" i="0" u="none" strike="noStrike" cap="none" normalizeH="0" baseline="30000">
                          <a:ln>
                            <a:noFill/>
                          </a:ln>
                          <a:solidFill>
                            <a:schemeClr val="tx1"/>
                          </a:solidFill>
                          <a:effectLst/>
                          <a:latin typeface="Arial" charset="0"/>
                        </a:rPr>
                        <a:t>D/2</a:t>
                      </a:r>
                      <a:endParaRPr kumimoji="0" lang="en-US" sz="2400" b="0" i="0" u="none" strike="noStrike" cap="none" normalizeH="0" baseline="3000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a:ln>
                            <a:noFill/>
                          </a:ln>
                          <a:solidFill>
                            <a:schemeClr val="tx1"/>
                          </a:solidFill>
                          <a:effectLst/>
                          <a:latin typeface="Arial" charset="0"/>
                        </a:rPr>
                        <a:t>B</a:t>
                      </a:r>
                      <a:r>
                        <a:rPr kumimoji="0" lang="en-GB" sz="2400" b="0" i="0" u="none" strike="noStrike" cap="none" normalizeH="0" baseline="30000">
                          <a:ln>
                            <a:noFill/>
                          </a:ln>
                          <a:solidFill>
                            <a:schemeClr val="tx1"/>
                          </a:solidFill>
                          <a:effectLst/>
                          <a:latin typeface="Arial" charset="0"/>
                        </a:rPr>
                        <a:t>D/2</a:t>
                      </a:r>
                      <a:endParaRPr kumimoji="0" lang="en-US" sz="2400" b="0" i="0" u="none" strike="noStrike" cap="none" normalizeH="0" baseline="3000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charset="2"/>
                        <a:buNone/>
                        <a:tabLst/>
                      </a:pPr>
                      <a:r>
                        <a:rPr kumimoji="0" lang="en-GB" sz="2400" b="0" i="0" u="none" strike="noStrike" cap="none" normalizeH="0" baseline="0" dirty="0">
                          <a:ln>
                            <a:noFill/>
                          </a:ln>
                          <a:solidFill>
                            <a:schemeClr val="tx1"/>
                          </a:solidFill>
                          <a:effectLst/>
                          <a:latin typeface="Arial" charset="0"/>
                        </a:rPr>
                        <a:t>Yes</a:t>
                      </a: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0"/>
          </p:nvPr>
        </p:nvSpPr>
        <p:spPr/>
        <p:txBody>
          <a:bodyPr/>
          <a:lstStyle/>
          <a:p>
            <a:pPr>
              <a:defRPr/>
            </a:pPr>
            <a:fld id="{DA15138E-20E5-4AEE-9593-4CED1FF3B4A2}" type="slidenum">
              <a:rPr lang="en-IE" smtClean="0"/>
              <a:pPr>
                <a:defRPr/>
              </a:pPr>
              <a:t>15</a:t>
            </a:fld>
            <a:endParaRPr lang="en-IE" dirty="0"/>
          </a:p>
        </p:txBody>
      </p:sp>
      <p:sp>
        <p:nvSpPr>
          <p:cNvPr id="2" name="TextBox 1"/>
          <p:cNvSpPr txBox="1"/>
          <p:nvPr/>
        </p:nvSpPr>
        <p:spPr>
          <a:xfrm>
            <a:off x="611560" y="5939988"/>
            <a:ext cx="3403624" cy="369332"/>
          </a:xfrm>
          <a:prstGeom prst="rect">
            <a:avLst/>
          </a:prstGeom>
          <a:noFill/>
        </p:spPr>
        <p:txBody>
          <a:bodyPr wrap="none" rtlCol="0">
            <a:spAutoFit/>
          </a:bodyPr>
          <a:lstStyle/>
          <a:p>
            <a:r>
              <a:rPr lang="en-IE" dirty="0">
                <a:latin typeface="+mn-lt"/>
              </a:rPr>
              <a:t>Check out: </a:t>
            </a:r>
            <a:r>
              <a:rPr lang="en-IE" dirty="0">
                <a:latin typeface="+mn-lt"/>
                <a:hlinkClick r:id="rId3"/>
              </a:rPr>
              <a:t>Minecraft Search video</a:t>
            </a:r>
            <a:endParaRPr lang="en-IE" dirty="0">
              <a:latin typeface="+mn-lt"/>
            </a:endParaRPr>
          </a:p>
        </p:txBody>
      </p:sp>
    </p:spTree>
    <p:extLst>
      <p:ext uri="{BB962C8B-B14F-4D97-AF65-F5344CB8AC3E}">
        <p14:creationId xmlns:p14="http://schemas.microsoft.com/office/powerpoint/2010/main" val="194319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Stack of books design template</Template>
  <TotalTime>5620</TotalTime>
  <Words>920</Words>
  <Application>Microsoft Office PowerPoint</Application>
  <PresentationFormat>On-screen Show (4:3)</PresentationFormat>
  <Paragraphs>175</Paragraphs>
  <Slides>15</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Courier New</vt:lpstr>
      <vt:lpstr>Wingdings</vt:lpstr>
      <vt:lpstr>Custom Design</vt:lpstr>
      <vt:lpstr>1_Custom Design</vt:lpstr>
      <vt:lpstr>Search Space</vt:lpstr>
      <vt:lpstr>Search - Recap</vt:lpstr>
      <vt:lpstr>Search Tree</vt:lpstr>
      <vt:lpstr>Search Space</vt:lpstr>
      <vt:lpstr>Depth First Search</vt:lpstr>
      <vt:lpstr>Depth First Algorithm</vt:lpstr>
      <vt:lpstr>Depth First Algorithm</vt:lpstr>
      <vt:lpstr>Breath First Search</vt:lpstr>
      <vt:lpstr>Breath First Algorithm</vt:lpstr>
      <vt:lpstr>Which is best?</vt:lpstr>
      <vt:lpstr>Non Deterministic Search</vt:lpstr>
      <vt:lpstr>Non Deterministic Search</vt:lpstr>
      <vt:lpstr>Iterative Deepening</vt:lpstr>
      <vt:lpstr>Bi-directional Search</vt:lpstr>
      <vt:lpstr>Comparison </vt:lpstr>
    </vt:vector>
  </TitlesOfParts>
  <Company>ModusLink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8086 chip set architecture course.</dc:title>
  <dc:creator>oisin_cawley</dc:creator>
  <cp:lastModifiedBy>Oisin Cawley</cp:lastModifiedBy>
  <cp:revision>814</cp:revision>
  <dcterms:created xsi:type="dcterms:W3CDTF">2007-05-08T17:20:09Z</dcterms:created>
  <dcterms:modified xsi:type="dcterms:W3CDTF">2024-10-07T09:19:00Z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TC011594401033</vt:lpwstr>
  </property>
</Properties>
</file>