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40" r:id="rId1"/>
    <p:sldMasterId id="2147483869" r:id="rId2"/>
  </p:sldMasterIdLst>
  <p:notesMasterIdLst>
    <p:notesMasterId r:id="rId21"/>
  </p:notesMasterIdLst>
  <p:sldIdLst>
    <p:sldId id="270" r:id="rId3"/>
    <p:sldId id="271" r:id="rId4"/>
    <p:sldId id="272" r:id="rId5"/>
    <p:sldId id="280" r:id="rId6"/>
    <p:sldId id="273" r:id="rId7"/>
    <p:sldId id="274" r:id="rId8"/>
    <p:sldId id="275" r:id="rId9"/>
    <p:sldId id="276" r:id="rId10"/>
    <p:sldId id="277" r:id="rId11"/>
    <p:sldId id="281" r:id="rId12"/>
    <p:sldId id="285" r:id="rId13"/>
    <p:sldId id="278" r:id="rId14"/>
    <p:sldId id="279" r:id="rId15"/>
    <p:sldId id="284" r:id="rId16"/>
    <p:sldId id="287" r:id="rId17"/>
    <p:sldId id="286" r:id="rId18"/>
    <p:sldId id="282" r:id="rId19"/>
    <p:sldId id="283" r:id="rId20"/>
  </p:sldIdLst>
  <p:sldSz cx="9144000" cy="6858000" type="screen4x3"/>
  <p:notesSz cx="6884988" cy="10088563"/>
  <p:defaultTex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EEAB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0571" autoAdjust="0"/>
  </p:normalViewPr>
  <p:slideViewPr>
    <p:cSldViewPr>
      <p:cViewPr varScale="1">
        <p:scale>
          <a:sx n="48" d="100"/>
          <a:sy n="48" d="100"/>
        </p:scale>
        <p:origin x="1728" y="44"/>
      </p:cViewPr>
      <p:guideLst>
        <p:guide orient="horz" pos="2160"/>
        <p:guide pos="2880"/>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microsoft.com/office/2016/11/relationships/changesInfo" Target="changesInfos/changesInfo1.xml"/><Relationship Id="rId3" Type="http://schemas.openxmlformats.org/officeDocument/2006/relationships/slide" Target="slides/slide1.xml"/><Relationship Id="rId21"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isin Cawley" userId="6b66d80f-e52a-4eb8-b588-9059f489afa4" providerId="ADAL" clId="{D541CD90-C1F3-4883-8D40-460AA9E0E4C6}"/>
    <pc:docChg chg="custSel modSld modMainMaster">
      <pc:chgData name="Oisin Cawley" userId="6b66d80f-e52a-4eb8-b588-9059f489afa4" providerId="ADAL" clId="{D541CD90-C1F3-4883-8D40-460AA9E0E4C6}" dt="2023-10-23T10:15:30.902" v="12" actId="20577"/>
      <pc:docMkLst>
        <pc:docMk/>
      </pc:docMkLst>
      <pc:sldChg chg="modSp">
        <pc:chgData name="Oisin Cawley" userId="6b66d80f-e52a-4eb8-b588-9059f489afa4" providerId="ADAL" clId="{D541CD90-C1F3-4883-8D40-460AA9E0E4C6}" dt="2023-10-11T14:53:03.761" v="9" actId="20577"/>
        <pc:sldMkLst>
          <pc:docMk/>
          <pc:sldMk cId="0" sldId="270"/>
        </pc:sldMkLst>
        <pc:spChg chg="mod">
          <ac:chgData name="Oisin Cawley" userId="6b66d80f-e52a-4eb8-b588-9059f489afa4" providerId="ADAL" clId="{D541CD90-C1F3-4883-8D40-460AA9E0E4C6}" dt="2023-10-11T14:53:03.761" v="9" actId="20577"/>
          <ac:spMkLst>
            <pc:docMk/>
            <pc:sldMk cId="0" sldId="270"/>
            <ac:spMk id="7171" creationId="{00000000-0000-0000-0000-000000000000}"/>
          </ac:spMkLst>
        </pc:spChg>
      </pc:sldChg>
      <pc:sldChg chg="modSp">
        <pc:chgData name="Oisin Cawley" userId="6b66d80f-e52a-4eb8-b588-9059f489afa4" providerId="ADAL" clId="{D541CD90-C1F3-4883-8D40-460AA9E0E4C6}" dt="2023-10-23T10:15:30.902" v="12" actId="20577"/>
        <pc:sldMkLst>
          <pc:docMk/>
          <pc:sldMk cId="2033830509" sldId="283"/>
        </pc:sldMkLst>
        <pc:spChg chg="mod">
          <ac:chgData name="Oisin Cawley" userId="6b66d80f-e52a-4eb8-b588-9059f489afa4" providerId="ADAL" clId="{D541CD90-C1F3-4883-8D40-460AA9E0E4C6}" dt="2023-10-23T10:15:30.902" v="12" actId="20577"/>
          <ac:spMkLst>
            <pc:docMk/>
            <pc:sldMk cId="2033830509" sldId="283"/>
            <ac:spMk id="22531" creationId="{00000000-0000-0000-0000-000000000000}"/>
          </ac:spMkLst>
        </pc:spChg>
      </pc:sldChg>
      <pc:sldMasterChg chg="addSp delSp">
        <pc:chgData name="Oisin Cawley" userId="6b66d80f-e52a-4eb8-b588-9059f489afa4" providerId="ADAL" clId="{D541CD90-C1F3-4883-8D40-460AA9E0E4C6}" dt="2023-10-09T11:27:35.480" v="5"/>
        <pc:sldMasterMkLst>
          <pc:docMk/>
          <pc:sldMasterMk cId="0" sldId="2147483840"/>
        </pc:sldMasterMkLst>
        <pc:picChg chg="add">
          <ac:chgData name="Oisin Cawley" userId="6b66d80f-e52a-4eb8-b588-9059f489afa4" providerId="ADAL" clId="{D541CD90-C1F3-4883-8D40-460AA9E0E4C6}" dt="2023-10-09T11:27:35.480" v="5"/>
          <ac:picMkLst>
            <pc:docMk/>
            <pc:sldMasterMk cId="0" sldId="2147483840"/>
            <ac:picMk id="8" creationId="{447F4579-0625-435A-85F0-58728D2D4061}"/>
          </ac:picMkLst>
        </pc:picChg>
        <pc:picChg chg="del">
          <ac:chgData name="Oisin Cawley" userId="6b66d80f-e52a-4eb8-b588-9059f489afa4" providerId="ADAL" clId="{D541CD90-C1F3-4883-8D40-460AA9E0E4C6}" dt="2023-10-09T11:27:34.825" v="4" actId="478"/>
          <ac:picMkLst>
            <pc:docMk/>
            <pc:sldMasterMk cId="0" sldId="2147483840"/>
            <ac:picMk id="1030" creationId="{00000000-0000-0000-0000-000000000000}"/>
          </ac:picMkLst>
        </pc:picChg>
      </pc:sldMasterChg>
      <pc:sldMasterChg chg="addSp delSp">
        <pc:chgData name="Oisin Cawley" userId="6b66d80f-e52a-4eb8-b588-9059f489afa4" providerId="ADAL" clId="{D541CD90-C1F3-4883-8D40-460AA9E0E4C6}" dt="2023-10-09T11:27:30.215" v="3"/>
        <pc:sldMasterMkLst>
          <pc:docMk/>
          <pc:sldMasterMk cId="0" sldId="2147483869"/>
        </pc:sldMasterMkLst>
        <pc:spChg chg="add del">
          <ac:chgData name="Oisin Cawley" userId="6b66d80f-e52a-4eb8-b588-9059f489afa4" providerId="ADAL" clId="{D541CD90-C1F3-4883-8D40-460AA9E0E4C6}" dt="2023-10-09T11:27:24.767" v="2"/>
          <ac:spMkLst>
            <pc:docMk/>
            <pc:sldMasterMk cId="0" sldId="2147483869"/>
            <ac:spMk id="2" creationId="{D72217CE-9AB9-426A-AC1C-73F8BEC30BCA}"/>
          </ac:spMkLst>
        </pc:spChg>
        <pc:picChg chg="del">
          <ac:chgData name="Oisin Cawley" userId="6b66d80f-e52a-4eb8-b588-9059f489afa4" providerId="ADAL" clId="{D541CD90-C1F3-4883-8D40-460AA9E0E4C6}" dt="2023-10-09T11:27:21.851" v="0" actId="478"/>
          <ac:picMkLst>
            <pc:docMk/>
            <pc:sldMasterMk cId="0" sldId="2147483869"/>
            <ac:picMk id="8" creationId="{00000000-0000-0000-0000-000000000000}"/>
          </ac:picMkLst>
        </pc:picChg>
        <pc:picChg chg="add">
          <ac:chgData name="Oisin Cawley" userId="6b66d80f-e52a-4eb8-b588-9059f489afa4" providerId="ADAL" clId="{D541CD90-C1F3-4883-8D40-460AA9E0E4C6}" dt="2023-10-09T11:27:30.215" v="3"/>
          <ac:picMkLst>
            <pc:docMk/>
            <pc:sldMasterMk cId="0" sldId="2147483869"/>
            <ac:picMk id="9" creationId="{64D1F088-62CE-4828-8CDD-63BB528BB5B0}"/>
          </ac:picMkLst>
        </pc:picChg>
      </pc:sldMasterChg>
    </pc:docChg>
  </pc:docChgLst>
  <pc:docChgLst>
    <pc:chgData name="Oisin Cawley" userId="6b66d80f-e52a-4eb8-b588-9059f489afa4" providerId="ADAL" clId="{B0948191-02B0-42FF-A8B6-D63A364AED84}"/>
    <pc:docChg chg="modSld">
      <pc:chgData name="Oisin Cawley" userId="6b66d80f-e52a-4eb8-b588-9059f489afa4" providerId="ADAL" clId="{B0948191-02B0-42FF-A8B6-D63A364AED84}" dt="2024-10-21T10:22:02.241" v="3" actId="6549"/>
      <pc:docMkLst>
        <pc:docMk/>
      </pc:docMkLst>
      <pc:sldChg chg="modSp mod">
        <pc:chgData name="Oisin Cawley" userId="6b66d80f-e52a-4eb8-b588-9059f489afa4" providerId="ADAL" clId="{B0948191-02B0-42FF-A8B6-D63A364AED84}" dt="2024-10-21T10:22:02.241" v="3" actId="6549"/>
        <pc:sldMkLst>
          <pc:docMk/>
          <pc:sldMk cId="0" sldId="279"/>
        </pc:sldMkLst>
        <pc:spChg chg="mod">
          <ac:chgData name="Oisin Cawley" userId="6b66d80f-e52a-4eb8-b588-9059f489afa4" providerId="ADAL" clId="{B0948191-02B0-42FF-A8B6-D63A364AED84}" dt="2024-10-21T10:22:02.241" v="3" actId="6549"/>
          <ac:spMkLst>
            <pc:docMk/>
            <pc:sldMk cId="0" sldId="279"/>
            <ac:spMk id="24579"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2984500" cy="504825"/>
          </a:xfrm>
          <a:prstGeom prst="rect">
            <a:avLst/>
          </a:prstGeom>
          <a:noFill/>
          <a:ln w="9525">
            <a:noFill/>
            <a:miter lim="800000"/>
            <a:headEnd/>
            <a:tailEnd/>
          </a:ln>
          <a:effectLst/>
        </p:spPr>
        <p:txBody>
          <a:bodyPr vert="horz" wrap="square" lIns="92802" tIns="46401" rIns="92802" bIns="46401" numCol="1" anchor="t" anchorCtr="0" compatLnSpc="1">
            <a:prstTxWarp prst="textNoShape">
              <a:avLst/>
            </a:prstTxWarp>
          </a:bodyPr>
          <a:lstStyle>
            <a:lvl1pPr>
              <a:defRPr sz="1200">
                <a:latin typeface="Arial" charset="0"/>
              </a:defRPr>
            </a:lvl1pPr>
          </a:lstStyle>
          <a:p>
            <a:pPr>
              <a:defRPr/>
            </a:pPr>
            <a:endParaRPr lang="en-US"/>
          </a:p>
        </p:txBody>
      </p:sp>
      <p:sp>
        <p:nvSpPr>
          <p:cNvPr id="6147" name="Rectangle 3"/>
          <p:cNvSpPr>
            <a:spLocks noGrp="1" noChangeArrowheads="1"/>
          </p:cNvSpPr>
          <p:nvPr>
            <p:ph type="dt" idx="1"/>
          </p:nvPr>
        </p:nvSpPr>
        <p:spPr bwMode="auto">
          <a:xfrm>
            <a:off x="3898900" y="0"/>
            <a:ext cx="2984500" cy="504825"/>
          </a:xfrm>
          <a:prstGeom prst="rect">
            <a:avLst/>
          </a:prstGeom>
          <a:noFill/>
          <a:ln w="9525">
            <a:noFill/>
            <a:miter lim="800000"/>
            <a:headEnd/>
            <a:tailEnd/>
          </a:ln>
          <a:effectLst/>
        </p:spPr>
        <p:txBody>
          <a:bodyPr vert="horz" wrap="square" lIns="92802" tIns="46401" rIns="92802" bIns="46401" numCol="1" anchor="t" anchorCtr="0" compatLnSpc="1">
            <a:prstTxWarp prst="textNoShape">
              <a:avLst/>
            </a:prstTxWarp>
          </a:bodyPr>
          <a:lstStyle>
            <a:lvl1pPr algn="r">
              <a:defRPr sz="1200">
                <a:latin typeface="Arial" charset="0"/>
              </a:defRPr>
            </a:lvl1pPr>
          </a:lstStyle>
          <a:p>
            <a:pPr>
              <a:defRPr/>
            </a:pPr>
            <a:endParaRPr lang="en-US"/>
          </a:p>
        </p:txBody>
      </p:sp>
      <p:sp>
        <p:nvSpPr>
          <p:cNvPr id="33796" name="Rectangle 4"/>
          <p:cNvSpPr>
            <a:spLocks noGrp="1" noRot="1" noChangeAspect="1" noChangeArrowheads="1" noTextEdit="1"/>
          </p:cNvSpPr>
          <p:nvPr>
            <p:ph type="sldImg" idx="2"/>
          </p:nvPr>
        </p:nvSpPr>
        <p:spPr bwMode="auto">
          <a:xfrm>
            <a:off x="922338" y="757238"/>
            <a:ext cx="5041900" cy="3783012"/>
          </a:xfrm>
          <a:prstGeom prst="rect">
            <a:avLst/>
          </a:prstGeom>
          <a:noFill/>
          <a:ln w="9525">
            <a:solidFill>
              <a:srgbClr val="000000"/>
            </a:solidFill>
            <a:miter lim="800000"/>
            <a:headEnd/>
            <a:tailEnd/>
          </a:ln>
        </p:spPr>
      </p:sp>
      <p:sp>
        <p:nvSpPr>
          <p:cNvPr id="6149" name="Rectangle 5"/>
          <p:cNvSpPr>
            <a:spLocks noGrp="1" noChangeArrowheads="1"/>
          </p:cNvSpPr>
          <p:nvPr>
            <p:ph type="body" sz="quarter" idx="3"/>
          </p:nvPr>
        </p:nvSpPr>
        <p:spPr bwMode="auto">
          <a:xfrm>
            <a:off x="687388" y="4792663"/>
            <a:ext cx="5510212" cy="4538662"/>
          </a:xfrm>
          <a:prstGeom prst="rect">
            <a:avLst/>
          </a:prstGeom>
          <a:noFill/>
          <a:ln w="9525">
            <a:noFill/>
            <a:miter lim="800000"/>
            <a:headEnd/>
            <a:tailEnd/>
          </a:ln>
          <a:effectLst/>
        </p:spPr>
        <p:txBody>
          <a:bodyPr vert="horz" wrap="square" lIns="92802" tIns="46401" rIns="92802" bIns="46401"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0" name="Rectangle 6"/>
          <p:cNvSpPr>
            <a:spLocks noGrp="1" noChangeArrowheads="1"/>
          </p:cNvSpPr>
          <p:nvPr>
            <p:ph type="ftr" sz="quarter" idx="4"/>
          </p:nvPr>
        </p:nvSpPr>
        <p:spPr bwMode="auto">
          <a:xfrm>
            <a:off x="0" y="9582150"/>
            <a:ext cx="2984500" cy="504825"/>
          </a:xfrm>
          <a:prstGeom prst="rect">
            <a:avLst/>
          </a:prstGeom>
          <a:noFill/>
          <a:ln w="9525">
            <a:noFill/>
            <a:miter lim="800000"/>
            <a:headEnd/>
            <a:tailEnd/>
          </a:ln>
          <a:effectLst/>
        </p:spPr>
        <p:txBody>
          <a:bodyPr vert="horz" wrap="square" lIns="92802" tIns="46401" rIns="92802" bIns="46401" numCol="1" anchor="b" anchorCtr="0" compatLnSpc="1">
            <a:prstTxWarp prst="textNoShape">
              <a:avLst/>
            </a:prstTxWarp>
          </a:bodyPr>
          <a:lstStyle>
            <a:lvl1pPr>
              <a:defRPr sz="1200">
                <a:latin typeface="Arial" charset="0"/>
              </a:defRPr>
            </a:lvl1pPr>
          </a:lstStyle>
          <a:p>
            <a:pPr>
              <a:defRPr/>
            </a:pPr>
            <a:endParaRPr lang="en-US"/>
          </a:p>
        </p:txBody>
      </p:sp>
      <p:sp>
        <p:nvSpPr>
          <p:cNvPr id="6151" name="Rectangle 7"/>
          <p:cNvSpPr>
            <a:spLocks noGrp="1" noChangeArrowheads="1"/>
          </p:cNvSpPr>
          <p:nvPr>
            <p:ph type="sldNum" sz="quarter" idx="5"/>
          </p:nvPr>
        </p:nvSpPr>
        <p:spPr bwMode="auto">
          <a:xfrm>
            <a:off x="3898900" y="9582150"/>
            <a:ext cx="2984500" cy="504825"/>
          </a:xfrm>
          <a:prstGeom prst="rect">
            <a:avLst/>
          </a:prstGeom>
          <a:noFill/>
          <a:ln w="9525">
            <a:noFill/>
            <a:miter lim="800000"/>
            <a:headEnd/>
            <a:tailEnd/>
          </a:ln>
          <a:effectLst/>
        </p:spPr>
        <p:txBody>
          <a:bodyPr vert="horz" wrap="square" lIns="92802" tIns="46401" rIns="92802" bIns="46401" numCol="1" anchor="b" anchorCtr="0" compatLnSpc="1">
            <a:prstTxWarp prst="textNoShape">
              <a:avLst/>
            </a:prstTxWarp>
          </a:bodyPr>
          <a:lstStyle>
            <a:lvl1pPr algn="r">
              <a:defRPr sz="1200">
                <a:latin typeface="Arial" charset="0"/>
              </a:defRPr>
            </a:lvl1pPr>
          </a:lstStyle>
          <a:p>
            <a:pPr>
              <a:defRPr/>
            </a:pPr>
            <a:fld id="{05ACD5CE-1CB6-4E94-A92C-124437B24A09}" type="slidenum">
              <a:rPr lang="en-US"/>
              <a:pPr>
                <a:defRPr/>
              </a:pPr>
              <a:t>‹#›</a:t>
            </a:fld>
            <a:endParaRPr lang="en-US"/>
          </a:p>
        </p:txBody>
      </p:sp>
    </p:spTree>
    <p:extLst>
      <p:ext uri="{BB962C8B-B14F-4D97-AF65-F5344CB8AC3E}">
        <p14:creationId xmlns:p14="http://schemas.microsoft.com/office/powerpoint/2010/main" val="268995467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http://www.redblobgames.com/pathfinding/a-star/introduction.html</a:t>
            </a:r>
          </a:p>
        </p:txBody>
      </p:sp>
      <p:sp>
        <p:nvSpPr>
          <p:cNvPr id="4" name="Slide Number Placeholder 3"/>
          <p:cNvSpPr>
            <a:spLocks noGrp="1"/>
          </p:cNvSpPr>
          <p:nvPr>
            <p:ph type="sldNum" sz="quarter" idx="10"/>
          </p:nvPr>
        </p:nvSpPr>
        <p:spPr/>
        <p:txBody>
          <a:bodyPr/>
          <a:lstStyle/>
          <a:p>
            <a:pPr>
              <a:defRPr/>
            </a:pPr>
            <a:fld id="{05ACD5CE-1CB6-4E94-A92C-124437B24A09}" type="slidenum">
              <a:rPr lang="en-US" smtClean="0"/>
              <a:pPr>
                <a:defRPr/>
              </a:pPr>
              <a:t>3</a:t>
            </a:fld>
            <a:endParaRPr lang="en-US"/>
          </a:p>
        </p:txBody>
      </p:sp>
    </p:spTree>
    <p:extLst>
      <p:ext uri="{BB962C8B-B14F-4D97-AF65-F5344CB8AC3E}">
        <p14:creationId xmlns:p14="http://schemas.microsoft.com/office/powerpoint/2010/main" val="15863532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a:noFill/>
        </p:spPr>
        <p:txBody>
          <a:bodyPr/>
          <a:lstStyle/>
          <a:p>
            <a:fld id="{EA8DAE41-7476-45C4-8E4E-3C128F02C2AA}" type="slidenum">
              <a:rPr lang="en-US" altLang="en-US"/>
              <a:pPr/>
              <a:t>4</a:t>
            </a:fld>
            <a:endParaRPr lang="en-US" altLang="en-US"/>
          </a:p>
        </p:txBody>
      </p:sp>
      <p:sp>
        <p:nvSpPr>
          <p:cNvPr id="31747" name="Rectangle 2"/>
          <p:cNvSpPr>
            <a:spLocks noGrp="1" noRot="1" noChangeAspect="1" noChangeArrowheads="1" noTextEdit="1"/>
          </p:cNvSpPr>
          <p:nvPr>
            <p:ph type="sldImg"/>
          </p:nvPr>
        </p:nvSpPr>
        <p:spPr>
          <a:ln/>
        </p:spPr>
      </p:sp>
      <p:sp>
        <p:nvSpPr>
          <p:cNvPr id="31748" name="Rectangle 3"/>
          <p:cNvSpPr>
            <a:spLocks noGrp="1" noChangeArrowheads="1"/>
          </p:cNvSpPr>
          <p:nvPr>
            <p:ph type="body" idx="1"/>
          </p:nvPr>
        </p:nvSpPr>
        <p:spPr>
          <a:noFill/>
          <a:ln/>
        </p:spPr>
        <p:txBody>
          <a:bodyPr/>
          <a:lstStyle/>
          <a:p>
            <a:pPr eaLnBrk="1" hangingPunct="1"/>
            <a:r>
              <a:rPr lang="en-US" altLang="en-US" dirty="0" err="1"/>
              <a:t>Sqrt</a:t>
            </a:r>
            <a:r>
              <a:rPr lang="en-US" altLang="en-US" dirty="0"/>
              <a:t>(1*1 + 1</a:t>
            </a:r>
            <a:r>
              <a:rPr lang="en-IE" altLang="en-US" dirty="0"/>
              <a:t>*1</a:t>
            </a:r>
            <a:r>
              <a:rPr lang="en-US" altLang="en-US" dirty="0"/>
              <a:t>) = </a:t>
            </a:r>
            <a:r>
              <a:rPr lang="en-US" altLang="en-US" dirty="0" err="1"/>
              <a:t>sqrt</a:t>
            </a:r>
            <a:r>
              <a:rPr lang="en-US" altLang="en-US" dirty="0"/>
              <a:t>(2) = 1.41</a:t>
            </a:r>
          </a:p>
          <a:p>
            <a:pPr eaLnBrk="1" hangingPunct="1"/>
            <a:r>
              <a:rPr lang="en-US" altLang="en-US" dirty="0" err="1"/>
              <a:t>Sqrt</a:t>
            </a:r>
            <a:r>
              <a:rPr lang="en-US" altLang="en-US" dirty="0"/>
              <a:t>(1*1 + 4*4)</a:t>
            </a:r>
            <a:r>
              <a:rPr lang="en-US" altLang="en-US" baseline="0" dirty="0"/>
              <a:t> = </a:t>
            </a:r>
            <a:r>
              <a:rPr lang="en-US" altLang="en-US" baseline="0" dirty="0" err="1"/>
              <a:t>sqrt</a:t>
            </a:r>
            <a:r>
              <a:rPr lang="en-US" altLang="en-US" baseline="0" dirty="0"/>
              <a:t>(17) = 4.12</a:t>
            </a:r>
          </a:p>
          <a:p>
            <a:pPr eaLnBrk="1" hangingPunct="1"/>
            <a:r>
              <a:rPr lang="en-US" altLang="en-US" baseline="0" dirty="0" err="1"/>
              <a:t>Sqrt</a:t>
            </a:r>
            <a:r>
              <a:rPr lang="en-US" altLang="en-US" baseline="0" dirty="0"/>
              <a:t>(2*2 + 6*6) = </a:t>
            </a:r>
            <a:r>
              <a:rPr lang="en-US" altLang="en-US" baseline="0" dirty="0" err="1"/>
              <a:t>sqrt</a:t>
            </a:r>
            <a:r>
              <a:rPr lang="en-US" altLang="en-US" baseline="0" dirty="0"/>
              <a:t>(40) = 6.32</a:t>
            </a:r>
            <a:endParaRPr lang="en-US" altLang="en-US" dirty="0"/>
          </a:p>
        </p:txBody>
      </p:sp>
    </p:spTree>
    <p:extLst>
      <p:ext uri="{BB962C8B-B14F-4D97-AF65-F5344CB8AC3E}">
        <p14:creationId xmlns:p14="http://schemas.microsoft.com/office/powerpoint/2010/main" val="37024684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p:spPr>
        <p:txBody>
          <a:bodyPr/>
          <a:lstStyle/>
          <a:p>
            <a:fld id="{97863A1E-76A8-473D-ABAC-931890A12999}" type="slidenum">
              <a:rPr lang="en-US" altLang="en-US"/>
              <a:pPr/>
              <a:t>10</a:t>
            </a:fld>
            <a:endParaRPr lang="en-US" altLang="en-US"/>
          </a:p>
        </p:txBody>
      </p:sp>
      <p:sp>
        <p:nvSpPr>
          <p:cNvPr id="68611" name="Rectangle 2"/>
          <p:cNvSpPr>
            <a:spLocks noGrp="1" noRot="1" noChangeAspect="1" noChangeArrowheads="1" noTextEdit="1"/>
          </p:cNvSpPr>
          <p:nvPr>
            <p:ph type="sldImg"/>
          </p:nvPr>
        </p:nvSpPr>
        <p:spPr>
          <a:ln/>
        </p:spPr>
      </p:sp>
      <p:sp>
        <p:nvSpPr>
          <p:cNvPr id="68612" name="Rectangle 3"/>
          <p:cNvSpPr>
            <a:spLocks noGrp="1" noChangeArrowheads="1"/>
          </p:cNvSpPr>
          <p:nvPr>
            <p:ph type="body" idx="1"/>
          </p:nvPr>
        </p:nvSpPr>
        <p:spPr>
          <a:noFill/>
          <a:ln/>
        </p:spPr>
        <p:txBody>
          <a:bodyPr/>
          <a:lstStyle/>
          <a:p>
            <a:pPr eaLnBrk="1" hangingPunct="1"/>
            <a:endParaRPr lang="en-US" altLang="en-US"/>
          </a:p>
        </p:txBody>
      </p:sp>
    </p:spTree>
    <p:extLst>
      <p:ext uri="{BB962C8B-B14F-4D97-AF65-F5344CB8AC3E}">
        <p14:creationId xmlns:p14="http://schemas.microsoft.com/office/powerpoint/2010/main" val="30647122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An admissible heuristic</a:t>
            </a:r>
            <a:r>
              <a:rPr lang="en-IE" baseline="0" dirty="0"/>
              <a:t> </a:t>
            </a:r>
            <a:r>
              <a:rPr lang="en-IE" dirty="0"/>
              <a:t>never overestimates the cost of reaching the goal.</a:t>
            </a:r>
          </a:p>
        </p:txBody>
      </p:sp>
      <p:sp>
        <p:nvSpPr>
          <p:cNvPr id="4" name="Slide Number Placeholder 3"/>
          <p:cNvSpPr>
            <a:spLocks noGrp="1"/>
          </p:cNvSpPr>
          <p:nvPr>
            <p:ph type="sldNum" sz="quarter" idx="10"/>
          </p:nvPr>
        </p:nvSpPr>
        <p:spPr/>
        <p:txBody>
          <a:bodyPr/>
          <a:lstStyle/>
          <a:p>
            <a:pPr>
              <a:defRPr/>
            </a:pPr>
            <a:fld id="{05ACD5CE-1CB6-4E94-A92C-124437B24A09}" type="slidenum">
              <a:rPr lang="en-US" smtClean="0"/>
              <a:pPr>
                <a:defRPr/>
              </a:pPr>
              <a:t>14</a:t>
            </a:fld>
            <a:endParaRPr lang="en-US"/>
          </a:p>
        </p:txBody>
      </p:sp>
    </p:spTree>
    <p:extLst>
      <p:ext uri="{BB962C8B-B14F-4D97-AF65-F5344CB8AC3E}">
        <p14:creationId xmlns:p14="http://schemas.microsoft.com/office/powerpoint/2010/main" val="8185176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10"/>
          </p:nvPr>
        </p:nvSpPr>
        <p:spPr/>
        <p:txBody>
          <a:bodyPr/>
          <a:lstStyle/>
          <a:p>
            <a:pPr>
              <a:defRPr/>
            </a:pPr>
            <a:fld id="{05ACD5CE-1CB6-4E94-A92C-124437B24A09}" type="slidenum">
              <a:rPr lang="en-US" smtClean="0"/>
              <a:pPr>
                <a:defRPr/>
              </a:pPr>
              <a:t>15</a:t>
            </a:fld>
            <a:endParaRPr lang="en-US"/>
          </a:p>
        </p:txBody>
      </p:sp>
    </p:spTree>
    <p:extLst>
      <p:ext uri="{BB962C8B-B14F-4D97-AF65-F5344CB8AC3E}">
        <p14:creationId xmlns:p14="http://schemas.microsoft.com/office/powerpoint/2010/main" val="28780670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E"/>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E"/>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atin typeface="Arial" charset="0"/>
              </a:defRPr>
            </a:lvl1pPr>
          </a:lstStyle>
          <a:p>
            <a:pPr>
              <a:defRPr/>
            </a:pPr>
            <a:endParaRPr lang="en-IE"/>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atin typeface="Arial" charset="0"/>
              </a:defRPr>
            </a:lvl1pPr>
          </a:lstStyle>
          <a:p>
            <a:pPr>
              <a:defRPr/>
            </a:pPr>
            <a:endParaRPr lang="en-IE"/>
          </a:p>
        </p:txBody>
      </p:sp>
      <p:sp>
        <p:nvSpPr>
          <p:cNvPr id="6" name="Slide Number Placeholder 5"/>
          <p:cNvSpPr>
            <a:spLocks noGrp="1"/>
          </p:cNvSpPr>
          <p:nvPr>
            <p:ph type="sldNum" sz="quarter" idx="12"/>
          </p:nvPr>
        </p:nvSpPr>
        <p:spPr/>
        <p:txBody>
          <a:bodyPr/>
          <a:lstStyle>
            <a:lvl1pPr>
              <a:defRPr/>
            </a:lvl1pPr>
          </a:lstStyle>
          <a:p>
            <a:pPr>
              <a:defRPr/>
            </a:pPr>
            <a:fld id="{5B83FCE8-4119-48FF-966B-7E5136F9C4B7}" type="slidenum">
              <a:rPr lang="en-IE"/>
              <a:pPr>
                <a:defRPr/>
              </a:pPr>
              <a:t>‹#›</a:t>
            </a:fld>
            <a:endParaRPr lang="en-I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067550" cy="778098"/>
          </a:xfrm>
        </p:spPr>
        <p:txBody>
          <a:bodyPr/>
          <a:lstStyle/>
          <a:p>
            <a:r>
              <a:rPr lang="en-US" dirty="0"/>
              <a:t>Click to edit Master title style</a:t>
            </a:r>
            <a:endParaRPr lang="en-IE" dirty="0"/>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E" dirty="0"/>
          </a:p>
        </p:txBody>
      </p:sp>
      <p:sp>
        <p:nvSpPr>
          <p:cNvPr id="4" name="Slide Number Placeholder 5"/>
          <p:cNvSpPr>
            <a:spLocks noGrp="1"/>
          </p:cNvSpPr>
          <p:nvPr>
            <p:ph type="sldNum" sz="quarter" idx="10"/>
          </p:nvPr>
        </p:nvSpPr>
        <p:spPr>
          <a:xfrm>
            <a:off x="6975475" y="6453188"/>
            <a:ext cx="2133600" cy="365125"/>
          </a:xfrm>
        </p:spPr>
        <p:txBody>
          <a:bodyPr/>
          <a:lstStyle>
            <a:lvl1pPr>
              <a:defRPr>
                <a:solidFill>
                  <a:schemeClr val="tx1"/>
                </a:solidFill>
              </a:defRPr>
            </a:lvl1pPr>
          </a:lstStyle>
          <a:p>
            <a:pPr>
              <a:defRPr/>
            </a:pPr>
            <a:fld id="{8E978DDB-8E96-4DB2-8C14-28FF9F7399E6}" type="slidenum">
              <a:rPr lang="en-IE"/>
              <a:pPr>
                <a:defRPr/>
              </a:pPr>
              <a:t>‹#›</a:t>
            </a:fld>
            <a:endParaRPr lang="en-IE"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E"/>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atin typeface="Arial" charset="0"/>
              </a:defRPr>
            </a:lvl1pPr>
          </a:lstStyle>
          <a:p>
            <a:pPr>
              <a:defRPr/>
            </a:pPr>
            <a:endParaRPr lang="en-IE"/>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atin typeface="Arial" charset="0"/>
              </a:defRPr>
            </a:lvl1pPr>
          </a:lstStyle>
          <a:p>
            <a:pPr>
              <a:defRPr/>
            </a:pPr>
            <a:endParaRPr lang="en-IE"/>
          </a:p>
        </p:txBody>
      </p:sp>
      <p:sp>
        <p:nvSpPr>
          <p:cNvPr id="6" name="Slide Number Placeholder 5"/>
          <p:cNvSpPr>
            <a:spLocks noGrp="1"/>
          </p:cNvSpPr>
          <p:nvPr>
            <p:ph type="sldNum" sz="quarter" idx="12"/>
          </p:nvPr>
        </p:nvSpPr>
        <p:spPr/>
        <p:txBody>
          <a:bodyPr/>
          <a:lstStyle>
            <a:lvl1pPr>
              <a:defRPr/>
            </a:lvl1pPr>
          </a:lstStyle>
          <a:p>
            <a:pPr>
              <a:defRPr/>
            </a:pPr>
            <a:fld id="{6F37B5FB-2642-48F7-BDAC-64F1768F7B1F}" type="slidenum">
              <a:rPr lang="en-IE"/>
              <a:pPr>
                <a:defRPr/>
              </a:pPr>
              <a:t>‹#›</a:t>
            </a:fld>
            <a:endParaRPr lang="en-I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E"/>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5" name="Slide Number Placeholder 5"/>
          <p:cNvSpPr>
            <a:spLocks noGrp="1"/>
          </p:cNvSpPr>
          <p:nvPr>
            <p:ph type="sldNum" sz="quarter" idx="10"/>
          </p:nvPr>
        </p:nvSpPr>
        <p:spPr/>
        <p:txBody>
          <a:bodyPr/>
          <a:lstStyle>
            <a:lvl1pPr>
              <a:defRPr/>
            </a:lvl1pPr>
          </a:lstStyle>
          <a:p>
            <a:pPr>
              <a:defRPr/>
            </a:pPr>
            <a:fld id="{D3281E1D-31C8-4BDE-8ED6-CD407A129044}" type="slidenum">
              <a:rPr lang="en-IE"/>
              <a:pPr>
                <a:defRPr/>
              </a:pPr>
              <a:t>‹#›</a:t>
            </a:fld>
            <a:endParaRPr lang="en-IE"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E"/>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7" name="Slide Number Placeholder 5"/>
          <p:cNvSpPr>
            <a:spLocks noGrp="1"/>
          </p:cNvSpPr>
          <p:nvPr>
            <p:ph type="sldNum" sz="quarter" idx="10"/>
          </p:nvPr>
        </p:nvSpPr>
        <p:spPr/>
        <p:txBody>
          <a:bodyPr/>
          <a:lstStyle>
            <a:lvl1pPr>
              <a:defRPr/>
            </a:lvl1pPr>
          </a:lstStyle>
          <a:p>
            <a:pPr>
              <a:defRPr/>
            </a:pPr>
            <a:fld id="{1383B10E-0F2D-456E-A6C5-ABEC760B5FEE}" type="slidenum">
              <a:rPr lang="en-IE"/>
              <a:pPr>
                <a:defRPr/>
              </a:pPr>
              <a:t>‹#›</a:t>
            </a:fld>
            <a:endParaRPr lang="en-IE"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E"/>
          </a:p>
        </p:txBody>
      </p:sp>
      <p:sp>
        <p:nvSpPr>
          <p:cNvPr id="3" name="Slide Number Placeholder 5"/>
          <p:cNvSpPr>
            <a:spLocks noGrp="1"/>
          </p:cNvSpPr>
          <p:nvPr>
            <p:ph type="sldNum" sz="quarter" idx="10"/>
          </p:nvPr>
        </p:nvSpPr>
        <p:spPr/>
        <p:txBody>
          <a:bodyPr/>
          <a:lstStyle>
            <a:lvl1pPr>
              <a:defRPr/>
            </a:lvl1pPr>
          </a:lstStyle>
          <a:p>
            <a:pPr>
              <a:defRPr/>
            </a:pPr>
            <a:fld id="{0E2B34AF-0A0C-4B06-AF07-DCF028B85987}" type="slidenum">
              <a:rPr lang="en-IE"/>
              <a:pPr>
                <a:defRPr/>
              </a:pPr>
              <a:t>‹#›</a:t>
            </a:fld>
            <a:endParaRPr lang="en-IE"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5"/>
          <p:cNvSpPr>
            <a:spLocks noGrp="1"/>
          </p:cNvSpPr>
          <p:nvPr>
            <p:ph type="sldNum" sz="quarter" idx="10"/>
          </p:nvPr>
        </p:nvSpPr>
        <p:spPr/>
        <p:txBody>
          <a:bodyPr/>
          <a:lstStyle>
            <a:lvl1pPr>
              <a:defRPr/>
            </a:lvl1pPr>
          </a:lstStyle>
          <a:p>
            <a:pPr>
              <a:defRPr/>
            </a:pPr>
            <a:fld id="{D91CED97-0F19-4EA5-951E-9254A908A87C}" type="slidenum">
              <a:rPr lang="en-IE"/>
              <a:pPr>
                <a:defRPr/>
              </a:pPr>
              <a:t>‹#›</a:t>
            </a:fld>
            <a:endParaRPr lang="en-IE"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E"/>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Slide Number Placeholder 5"/>
          <p:cNvSpPr>
            <a:spLocks noGrp="1"/>
          </p:cNvSpPr>
          <p:nvPr>
            <p:ph type="sldNum" sz="quarter" idx="10"/>
          </p:nvPr>
        </p:nvSpPr>
        <p:spPr/>
        <p:txBody>
          <a:bodyPr/>
          <a:lstStyle>
            <a:lvl1pPr>
              <a:defRPr/>
            </a:lvl1pPr>
          </a:lstStyle>
          <a:p>
            <a:pPr>
              <a:defRPr/>
            </a:pPr>
            <a:fld id="{B3B1C59A-8D6D-445A-8651-08EDD062102A}" type="slidenum">
              <a:rPr lang="en-IE"/>
              <a:pPr>
                <a:defRPr/>
              </a:pPr>
              <a:t>‹#›</a:t>
            </a:fld>
            <a:endParaRPr lang="en-IE"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E"/>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IE"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lvl1pPr>
              <a:defRPr>
                <a:latin typeface="Arial" charset="0"/>
              </a:defRPr>
            </a:lvl1pPr>
          </a:lstStyle>
          <a:p>
            <a:pPr>
              <a:defRPr/>
            </a:pPr>
            <a:endParaRPr lang="en-IE"/>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lvl1pPr>
              <a:defRPr>
                <a:latin typeface="Arial" charset="0"/>
              </a:defRPr>
            </a:lvl1pPr>
          </a:lstStyle>
          <a:p>
            <a:pPr>
              <a:defRPr/>
            </a:pPr>
            <a:endParaRPr lang="en-IE"/>
          </a:p>
        </p:txBody>
      </p:sp>
      <p:sp>
        <p:nvSpPr>
          <p:cNvPr id="7" name="Slide Number Placeholder 6"/>
          <p:cNvSpPr>
            <a:spLocks noGrp="1"/>
          </p:cNvSpPr>
          <p:nvPr>
            <p:ph type="sldNum" sz="quarter" idx="12"/>
          </p:nvPr>
        </p:nvSpPr>
        <p:spPr/>
        <p:txBody>
          <a:bodyPr/>
          <a:lstStyle>
            <a:lvl1pPr>
              <a:defRPr/>
            </a:lvl1pPr>
          </a:lstStyle>
          <a:p>
            <a:pPr>
              <a:defRPr/>
            </a:pPr>
            <a:fld id="{90F1BCED-8D94-45EF-A610-3A53DC3D39DB}" type="slidenum">
              <a:rPr lang="en-IE"/>
              <a:pPr>
                <a:defRPr/>
              </a:pPr>
              <a:t>‹#›</a:t>
            </a:fld>
            <a:endParaRPr lang="en-I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E"/>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atin typeface="Arial" charset="0"/>
              </a:defRPr>
            </a:lvl1pPr>
          </a:lstStyle>
          <a:p>
            <a:pPr>
              <a:defRPr/>
            </a:pPr>
            <a:endParaRPr lang="en-IE"/>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atin typeface="Arial" charset="0"/>
              </a:defRPr>
            </a:lvl1pPr>
          </a:lstStyle>
          <a:p>
            <a:pPr>
              <a:defRPr/>
            </a:pPr>
            <a:endParaRPr lang="en-IE"/>
          </a:p>
        </p:txBody>
      </p:sp>
      <p:sp>
        <p:nvSpPr>
          <p:cNvPr id="6" name="Slide Number Placeholder 5"/>
          <p:cNvSpPr>
            <a:spLocks noGrp="1"/>
          </p:cNvSpPr>
          <p:nvPr>
            <p:ph type="sldNum" sz="quarter" idx="12"/>
          </p:nvPr>
        </p:nvSpPr>
        <p:spPr/>
        <p:txBody>
          <a:bodyPr/>
          <a:lstStyle>
            <a:lvl1pPr>
              <a:defRPr/>
            </a:lvl1pPr>
          </a:lstStyle>
          <a:p>
            <a:pPr>
              <a:defRPr/>
            </a:pPr>
            <a:fld id="{196CC426-4027-45AA-AA9D-874E74495604}" type="slidenum">
              <a:rPr lang="en-IE"/>
              <a:pPr>
                <a:defRPr/>
              </a:pPr>
              <a:t>‹#›</a:t>
            </a:fld>
            <a:endParaRPr lang="en-I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E"/>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atin typeface="Arial" charset="0"/>
              </a:defRPr>
            </a:lvl1pPr>
          </a:lstStyle>
          <a:p>
            <a:pPr>
              <a:defRPr/>
            </a:pPr>
            <a:endParaRPr lang="en-IE" dirty="0"/>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atin typeface="Arial" charset="0"/>
              </a:defRPr>
            </a:lvl1pPr>
          </a:lstStyle>
          <a:p>
            <a:pPr>
              <a:defRPr/>
            </a:pPr>
            <a:endParaRPr lang="en-IE"/>
          </a:p>
        </p:txBody>
      </p:sp>
      <p:sp>
        <p:nvSpPr>
          <p:cNvPr id="6" name="Slide Number Placeholder 5"/>
          <p:cNvSpPr>
            <a:spLocks noGrp="1"/>
          </p:cNvSpPr>
          <p:nvPr>
            <p:ph type="sldNum" sz="quarter" idx="12"/>
          </p:nvPr>
        </p:nvSpPr>
        <p:spPr/>
        <p:txBody>
          <a:bodyPr/>
          <a:lstStyle>
            <a:lvl1pPr>
              <a:defRPr/>
            </a:lvl1pPr>
          </a:lstStyle>
          <a:p>
            <a:pPr>
              <a:defRPr/>
            </a:pPr>
            <a:fld id="{C8D66E8D-4372-4450-AF9F-1F3F69E871FC}" type="slidenum">
              <a:rPr lang="en-IE"/>
              <a:pPr>
                <a:defRPr/>
              </a:pPr>
              <a:t>‹#›</a:t>
            </a:fld>
            <a:endParaRPr lang="en-I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E"/>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E"/>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atin typeface="Arial" charset="0"/>
              </a:defRPr>
            </a:lvl1pPr>
          </a:lstStyle>
          <a:p>
            <a:pPr>
              <a:defRPr/>
            </a:pPr>
            <a:endParaRPr lang="en-IE"/>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atin typeface="Arial" charset="0"/>
              </a:defRPr>
            </a:lvl1pPr>
          </a:lstStyle>
          <a:p>
            <a:pPr>
              <a:defRPr/>
            </a:pPr>
            <a:endParaRPr lang="en-IE"/>
          </a:p>
        </p:txBody>
      </p:sp>
      <p:sp>
        <p:nvSpPr>
          <p:cNvPr id="6" name="Slide Number Placeholder 5"/>
          <p:cNvSpPr>
            <a:spLocks noGrp="1"/>
          </p:cNvSpPr>
          <p:nvPr>
            <p:ph type="sldNum" sz="quarter" idx="12"/>
          </p:nvPr>
        </p:nvSpPr>
        <p:spPr/>
        <p:txBody>
          <a:bodyPr/>
          <a:lstStyle>
            <a:lvl1pPr>
              <a:defRPr/>
            </a:lvl1pPr>
          </a:lstStyle>
          <a:p>
            <a:pPr>
              <a:defRPr/>
            </a:pPr>
            <a:fld id="{41CF7FFA-D0E4-4688-B2F9-1175C1B7E3CC}" type="slidenum">
              <a:rPr lang="en-IE"/>
              <a:pPr>
                <a:defRPr/>
              </a:pPr>
              <a:t>‹#›</a:t>
            </a:fld>
            <a:endParaRPr lang="en-I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067550" cy="778098"/>
          </a:xfrm>
        </p:spPr>
        <p:txBody>
          <a:bodyPr/>
          <a:lstStyle/>
          <a:p>
            <a:r>
              <a:rPr lang="en-US" dirty="0"/>
              <a:t>Click to edit Master title style</a:t>
            </a:r>
            <a:endParaRPr lang="en-IE" dirty="0"/>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E" dirty="0"/>
          </a:p>
        </p:txBody>
      </p:sp>
      <p:sp>
        <p:nvSpPr>
          <p:cNvPr id="4" name="Slide Number Placeholder 5"/>
          <p:cNvSpPr>
            <a:spLocks noGrp="1"/>
          </p:cNvSpPr>
          <p:nvPr>
            <p:ph type="sldNum" sz="quarter" idx="10"/>
          </p:nvPr>
        </p:nvSpPr>
        <p:spPr>
          <a:xfrm>
            <a:off x="6975475" y="6453188"/>
            <a:ext cx="2133600" cy="365125"/>
          </a:xfrm>
        </p:spPr>
        <p:txBody>
          <a:bodyPr/>
          <a:lstStyle>
            <a:lvl1pPr>
              <a:defRPr>
                <a:solidFill>
                  <a:schemeClr val="tx1"/>
                </a:solidFill>
              </a:defRPr>
            </a:lvl1pPr>
          </a:lstStyle>
          <a:p>
            <a:pPr>
              <a:defRPr/>
            </a:pPr>
            <a:fld id="{84C9582D-2E31-434C-A6C1-A926DBB0B909}" type="slidenum">
              <a:rPr lang="en-IE"/>
              <a:pPr>
                <a:defRPr/>
              </a:pPr>
              <a:t>‹#›</a:t>
            </a:fld>
            <a:endParaRPr lang="en-IE"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E"/>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atin typeface="Arial" charset="0"/>
              </a:defRPr>
            </a:lvl1pPr>
          </a:lstStyle>
          <a:p>
            <a:pPr>
              <a:defRPr/>
            </a:pPr>
            <a:endParaRPr lang="en-IE"/>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atin typeface="Arial" charset="0"/>
              </a:defRPr>
            </a:lvl1pPr>
          </a:lstStyle>
          <a:p>
            <a:pPr>
              <a:defRPr/>
            </a:pPr>
            <a:endParaRPr lang="en-IE"/>
          </a:p>
        </p:txBody>
      </p:sp>
      <p:sp>
        <p:nvSpPr>
          <p:cNvPr id="6" name="Slide Number Placeholder 5"/>
          <p:cNvSpPr>
            <a:spLocks noGrp="1"/>
          </p:cNvSpPr>
          <p:nvPr>
            <p:ph type="sldNum" sz="quarter" idx="12"/>
          </p:nvPr>
        </p:nvSpPr>
        <p:spPr/>
        <p:txBody>
          <a:bodyPr/>
          <a:lstStyle>
            <a:lvl1pPr>
              <a:defRPr/>
            </a:lvl1pPr>
          </a:lstStyle>
          <a:p>
            <a:pPr>
              <a:defRPr/>
            </a:pPr>
            <a:fld id="{B8A3DDA3-2712-46ED-A771-5399145A3D01}" type="slidenum">
              <a:rPr lang="en-IE"/>
              <a:pPr>
                <a:defRPr/>
              </a:pPr>
              <a:t>‹#›</a:t>
            </a:fld>
            <a:endParaRPr lang="en-I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E"/>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5" name="Slide Number Placeholder 5"/>
          <p:cNvSpPr>
            <a:spLocks noGrp="1"/>
          </p:cNvSpPr>
          <p:nvPr>
            <p:ph type="sldNum" sz="quarter" idx="10"/>
          </p:nvPr>
        </p:nvSpPr>
        <p:spPr/>
        <p:txBody>
          <a:bodyPr/>
          <a:lstStyle>
            <a:lvl1pPr>
              <a:defRPr/>
            </a:lvl1pPr>
          </a:lstStyle>
          <a:p>
            <a:pPr>
              <a:defRPr/>
            </a:pPr>
            <a:fld id="{D3F2DE8F-7AAD-415A-8ED8-734D637B39D2}" type="slidenum">
              <a:rPr lang="en-IE"/>
              <a:pPr>
                <a:defRPr/>
              </a:pPr>
              <a:t>‹#›</a:t>
            </a:fld>
            <a:endParaRPr lang="en-IE"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E"/>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7" name="Slide Number Placeholder 5"/>
          <p:cNvSpPr>
            <a:spLocks noGrp="1"/>
          </p:cNvSpPr>
          <p:nvPr>
            <p:ph type="sldNum" sz="quarter" idx="10"/>
          </p:nvPr>
        </p:nvSpPr>
        <p:spPr/>
        <p:txBody>
          <a:bodyPr/>
          <a:lstStyle>
            <a:lvl1pPr>
              <a:defRPr/>
            </a:lvl1pPr>
          </a:lstStyle>
          <a:p>
            <a:pPr>
              <a:defRPr/>
            </a:pPr>
            <a:fld id="{EE10BDE4-987C-4FBC-B9CB-4D6602561EC5}" type="slidenum">
              <a:rPr lang="en-IE"/>
              <a:pPr>
                <a:defRPr/>
              </a:pPr>
              <a:t>‹#›</a:t>
            </a:fld>
            <a:endParaRPr lang="en-IE"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E"/>
          </a:p>
        </p:txBody>
      </p:sp>
      <p:sp>
        <p:nvSpPr>
          <p:cNvPr id="3" name="Slide Number Placeholder 5"/>
          <p:cNvSpPr>
            <a:spLocks noGrp="1"/>
          </p:cNvSpPr>
          <p:nvPr>
            <p:ph type="sldNum" sz="quarter" idx="10"/>
          </p:nvPr>
        </p:nvSpPr>
        <p:spPr/>
        <p:txBody>
          <a:bodyPr/>
          <a:lstStyle>
            <a:lvl1pPr>
              <a:defRPr/>
            </a:lvl1pPr>
          </a:lstStyle>
          <a:p>
            <a:pPr>
              <a:defRPr/>
            </a:pPr>
            <a:fld id="{DA15138E-20E5-4AEE-9593-4CED1FF3B4A2}" type="slidenum">
              <a:rPr lang="en-IE"/>
              <a:pPr>
                <a:defRPr/>
              </a:pPr>
              <a:t>‹#›</a:t>
            </a:fld>
            <a:endParaRPr lang="en-IE"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5"/>
          <p:cNvSpPr>
            <a:spLocks noGrp="1"/>
          </p:cNvSpPr>
          <p:nvPr>
            <p:ph type="sldNum" sz="quarter" idx="10"/>
          </p:nvPr>
        </p:nvSpPr>
        <p:spPr/>
        <p:txBody>
          <a:bodyPr/>
          <a:lstStyle>
            <a:lvl1pPr>
              <a:defRPr/>
            </a:lvl1pPr>
          </a:lstStyle>
          <a:p>
            <a:pPr>
              <a:defRPr/>
            </a:pPr>
            <a:fld id="{18EED188-593D-4E5A-8309-224710DF2B50}" type="slidenum">
              <a:rPr lang="en-IE"/>
              <a:pPr>
                <a:defRPr/>
              </a:pPr>
              <a:t>‹#›</a:t>
            </a:fld>
            <a:endParaRPr lang="en-IE"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E"/>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Slide Number Placeholder 5"/>
          <p:cNvSpPr>
            <a:spLocks noGrp="1"/>
          </p:cNvSpPr>
          <p:nvPr>
            <p:ph type="sldNum" sz="quarter" idx="10"/>
          </p:nvPr>
        </p:nvSpPr>
        <p:spPr/>
        <p:txBody>
          <a:bodyPr/>
          <a:lstStyle>
            <a:lvl1pPr>
              <a:defRPr/>
            </a:lvl1pPr>
          </a:lstStyle>
          <a:p>
            <a:pPr>
              <a:defRPr/>
            </a:pPr>
            <a:fld id="{36225A37-78AD-4AC2-8CFD-83FEBCE05026}" type="slidenum">
              <a:rPr lang="en-IE"/>
              <a:pPr>
                <a:defRPr/>
              </a:pPr>
              <a:t>‹#›</a:t>
            </a:fld>
            <a:endParaRPr lang="en-IE"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E"/>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IE"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lvl1pPr>
              <a:defRPr>
                <a:latin typeface="Arial" charset="0"/>
              </a:defRPr>
            </a:lvl1pPr>
          </a:lstStyle>
          <a:p>
            <a:pPr>
              <a:defRPr/>
            </a:pPr>
            <a:endParaRPr lang="en-IE"/>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lvl1pPr>
              <a:defRPr>
                <a:latin typeface="Arial" charset="0"/>
              </a:defRPr>
            </a:lvl1pPr>
          </a:lstStyle>
          <a:p>
            <a:pPr>
              <a:defRPr/>
            </a:pPr>
            <a:endParaRPr lang="en-IE"/>
          </a:p>
        </p:txBody>
      </p:sp>
      <p:sp>
        <p:nvSpPr>
          <p:cNvPr id="7" name="Slide Number Placeholder 6"/>
          <p:cNvSpPr>
            <a:spLocks noGrp="1"/>
          </p:cNvSpPr>
          <p:nvPr>
            <p:ph type="sldNum" sz="quarter" idx="12"/>
          </p:nvPr>
        </p:nvSpPr>
        <p:spPr/>
        <p:txBody>
          <a:bodyPr/>
          <a:lstStyle>
            <a:lvl1pPr>
              <a:defRPr/>
            </a:lvl1pPr>
          </a:lstStyle>
          <a:p>
            <a:pPr>
              <a:defRPr/>
            </a:pPr>
            <a:fld id="{19F633C3-D837-4105-940D-252BA81F6873}" type="slidenum">
              <a:rPr lang="en-IE"/>
              <a:pPr>
                <a:defRPr/>
              </a:pPr>
              <a:t>‹#›</a:t>
            </a:fld>
            <a:endParaRPr lang="en-I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E"/>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atin typeface="Arial" charset="0"/>
              </a:defRPr>
            </a:lvl1pPr>
          </a:lstStyle>
          <a:p>
            <a:pPr>
              <a:defRPr/>
            </a:pPr>
            <a:endParaRPr lang="en-IE"/>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atin typeface="Arial" charset="0"/>
              </a:defRPr>
            </a:lvl1pPr>
          </a:lstStyle>
          <a:p>
            <a:pPr>
              <a:defRPr/>
            </a:pPr>
            <a:endParaRPr lang="en-IE"/>
          </a:p>
        </p:txBody>
      </p:sp>
      <p:sp>
        <p:nvSpPr>
          <p:cNvPr id="6" name="Slide Number Placeholder 5"/>
          <p:cNvSpPr>
            <a:spLocks noGrp="1"/>
          </p:cNvSpPr>
          <p:nvPr>
            <p:ph type="sldNum" sz="quarter" idx="12"/>
          </p:nvPr>
        </p:nvSpPr>
        <p:spPr/>
        <p:txBody>
          <a:bodyPr/>
          <a:lstStyle>
            <a:lvl1pPr>
              <a:defRPr/>
            </a:lvl1pPr>
          </a:lstStyle>
          <a:p>
            <a:pPr>
              <a:defRPr/>
            </a:pPr>
            <a:fld id="{86A78F10-B8B1-474C-971B-7BA47E4F6CE2}" type="slidenum">
              <a:rPr lang="en-IE"/>
              <a:pPr>
                <a:defRPr/>
              </a:pPr>
              <a:t>‹#›</a:t>
            </a:fld>
            <a:endParaRPr lang="en-I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E"/>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atin typeface="Arial" charset="0"/>
              </a:defRPr>
            </a:lvl1pPr>
          </a:lstStyle>
          <a:p>
            <a:pPr>
              <a:defRPr/>
            </a:pPr>
            <a:endParaRPr lang="en-IE"/>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atin typeface="Arial" charset="0"/>
              </a:defRPr>
            </a:lvl1pPr>
          </a:lstStyle>
          <a:p>
            <a:pPr>
              <a:defRPr/>
            </a:pPr>
            <a:endParaRPr lang="en-IE"/>
          </a:p>
        </p:txBody>
      </p:sp>
      <p:sp>
        <p:nvSpPr>
          <p:cNvPr id="6" name="Slide Number Placeholder 5"/>
          <p:cNvSpPr>
            <a:spLocks noGrp="1"/>
          </p:cNvSpPr>
          <p:nvPr>
            <p:ph type="sldNum" sz="quarter" idx="12"/>
          </p:nvPr>
        </p:nvSpPr>
        <p:spPr/>
        <p:txBody>
          <a:bodyPr/>
          <a:lstStyle>
            <a:lvl1pPr>
              <a:defRPr/>
            </a:lvl1pPr>
          </a:lstStyle>
          <a:p>
            <a:pPr>
              <a:defRPr/>
            </a:pPr>
            <a:fld id="{15A31C60-EE3E-42C6-80FB-27B190A0464E}" type="slidenum">
              <a:rPr lang="en-IE"/>
              <a:pPr>
                <a:defRPr/>
              </a:pPr>
              <a:t>‹#›</a:t>
            </a:fld>
            <a:endParaRPr lang="en-I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1150938" y="214313"/>
            <a:ext cx="7793037" cy="776287"/>
          </a:xfrm>
        </p:spPr>
        <p:txBody>
          <a:bodyPr/>
          <a:lstStyle/>
          <a:p>
            <a:r>
              <a:rPr lang="en-US"/>
              <a:t>Click to edit Master title style</a:t>
            </a:r>
            <a:endParaRPr lang="en-IE"/>
          </a:p>
        </p:txBody>
      </p:sp>
      <p:sp>
        <p:nvSpPr>
          <p:cNvPr id="3" name="Table Placeholder 2"/>
          <p:cNvSpPr>
            <a:spLocks noGrp="1"/>
          </p:cNvSpPr>
          <p:nvPr>
            <p:ph type="tbl" idx="1"/>
          </p:nvPr>
        </p:nvSpPr>
        <p:spPr>
          <a:xfrm>
            <a:off x="533400" y="1487488"/>
            <a:ext cx="7772400" cy="4913312"/>
          </a:xfrm>
        </p:spPr>
        <p:txBody>
          <a:bodyPr/>
          <a:lstStyle/>
          <a:p>
            <a:pPr lvl="0"/>
            <a:endParaRPr lang="en-IE" noProof="0"/>
          </a:p>
        </p:txBody>
      </p:sp>
      <p:sp>
        <p:nvSpPr>
          <p:cNvPr id="4" name="Rectangle 11"/>
          <p:cNvSpPr>
            <a:spLocks noGrp="1" noChangeArrowheads="1"/>
          </p:cNvSpPr>
          <p:nvPr>
            <p:ph type="dt" sz="half" idx="10"/>
          </p:nvPr>
        </p:nvSpPr>
        <p:spPr>
          <a:xfrm>
            <a:off x="1162050" y="6243638"/>
            <a:ext cx="1905000" cy="457200"/>
          </a:xfrm>
          <a:prstGeom prst="rect">
            <a:avLst/>
          </a:prstGeom>
          <a:ln/>
        </p:spPr>
        <p:txBody>
          <a:bodyPr/>
          <a:lstStyle>
            <a:lvl1pPr>
              <a:defRPr/>
            </a:lvl1pPr>
          </a:lstStyle>
          <a:p>
            <a:pPr>
              <a:defRPr/>
            </a:pPr>
            <a:endParaRPr lang="en-US"/>
          </a:p>
        </p:txBody>
      </p:sp>
      <p:sp>
        <p:nvSpPr>
          <p:cNvPr id="5" name="Rectangle 12"/>
          <p:cNvSpPr>
            <a:spLocks noGrp="1" noChangeArrowheads="1"/>
          </p:cNvSpPr>
          <p:nvPr>
            <p:ph type="ftr" sz="quarter" idx="11"/>
          </p:nvPr>
        </p:nvSpPr>
        <p:spPr>
          <a:xfrm>
            <a:off x="3657600" y="6243638"/>
            <a:ext cx="2895600" cy="457200"/>
          </a:xfrm>
          <a:prstGeom prst="rect">
            <a:avLst/>
          </a:prstGeom>
          <a:ln/>
        </p:spPr>
        <p:txBody>
          <a:bodyPr/>
          <a:lstStyle>
            <a:lvl1pPr>
              <a:defRPr/>
            </a:lvl1pPr>
          </a:lstStyle>
          <a:p>
            <a:pPr>
              <a:defRPr/>
            </a:pPr>
            <a:endParaRPr lang="en-US"/>
          </a:p>
        </p:txBody>
      </p:sp>
      <p:sp>
        <p:nvSpPr>
          <p:cNvPr id="6" name="Rectangle 13"/>
          <p:cNvSpPr>
            <a:spLocks noGrp="1" noChangeArrowheads="1"/>
          </p:cNvSpPr>
          <p:nvPr>
            <p:ph type="sldNum" sz="quarter" idx="12"/>
          </p:nvPr>
        </p:nvSpPr>
        <p:spPr>
          <a:ln/>
        </p:spPr>
        <p:txBody>
          <a:bodyPr/>
          <a:lstStyle>
            <a:lvl1pPr>
              <a:defRPr/>
            </a:lvl1pPr>
          </a:lstStyle>
          <a:p>
            <a:fld id="{727D32BB-0683-4AA1-B21B-6B9EDFD18222}" type="slidenum">
              <a:rPr lang="en-US" altLang="en-US"/>
              <a:pPr/>
              <a:t>‹#›</a:t>
            </a:fld>
            <a:endParaRPr lang="en-US"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706755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endParaRPr lang="en-IE"/>
          </a:p>
        </p:txBody>
      </p:sp>
      <p:sp>
        <p:nvSpPr>
          <p:cNvPr id="1027"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6" name="Slide Number Placeholder 5"/>
          <p:cNvSpPr>
            <a:spLocks noGrp="1"/>
          </p:cNvSpPr>
          <p:nvPr>
            <p:ph type="sldNum" sz="quarter" idx="4"/>
          </p:nvPr>
        </p:nvSpPr>
        <p:spPr>
          <a:xfrm>
            <a:off x="6948488" y="6519863"/>
            <a:ext cx="2133600" cy="338137"/>
          </a:xfrm>
          <a:prstGeom prst="rect">
            <a:avLst/>
          </a:prstGeom>
        </p:spPr>
        <p:txBody>
          <a:bodyPr vert="horz" lIns="91440" tIns="45720" rIns="91440" bIns="45720" rtlCol="0" anchor="ctr"/>
          <a:lstStyle>
            <a:lvl1pPr algn="r">
              <a:defRPr sz="1200">
                <a:solidFill>
                  <a:schemeClr val="tx1">
                    <a:tint val="75000"/>
                  </a:schemeClr>
                </a:solidFill>
                <a:latin typeface="Arial" charset="0"/>
              </a:defRPr>
            </a:lvl1pPr>
          </a:lstStyle>
          <a:p>
            <a:pPr>
              <a:defRPr/>
            </a:pPr>
            <a:fld id="{2E1222C4-AD1C-443F-91C8-5935F67D99D4}" type="slidenum">
              <a:rPr lang="en-IE"/>
              <a:pPr>
                <a:defRPr/>
              </a:pPr>
              <a:t>‹#›</a:t>
            </a:fld>
            <a:endParaRPr lang="en-IE" dirty="0"/>
          </a:p>
        </p:txBody>
      </p:sp>
      <p:cxnSp>
        <p:nvCxnSpPr>
          <p:cNvPr id="12" name="Straight Connector 11"/>
          <p:cNvCxnSpPr/>
          <p:nvPr userDrawn="1"/>
        </p:nvCxnSpPr>
        <p:spPr>
          <a:xfrm>
            <a:off x="0" y="1484313"/>
            <a:ext cx="9144000" cy="0"/>
          </a:xfrm>
          <a:prstGeom prst="line">
            <a:avLst/>
          </a:prstGeom>
          <a:ln w="44450">
            <a:solidFill>
              <a:schemeClr val="accent2"/>
            </a:solidFill>
          </a:ln>
        </p:spPr>
        <p:style>
          <a:lnRef idx="1">
            <a:schemeClr val="accent1"/>
          </a:lnRef>
          <a:fillRef idx="0">
            <a:schemeClr val="accent1"/>
          </a:fillRef>
          <a:effectRef idx="0">
            <a:schemeClr val="accent1"/>
          </a:effectRef>
          <a:fontRef idx="minor">
            <a:schemeClr val="tx1"/>
          </a:fontRef>
        </p:style>
      </p:cxnSp>
      <p:sp>
        <p:nvSpPr>
          <p:cNvPr id="13" name="Slide Number Placeholder 5"/>
          <p:cNvSpPr txBox="1">
            <a:spLocks/>
          </p:cNvSpPr>
          <p:nvPr userDrawn="1"/>
        </p:nvSpPr>
        <p:spPr>
          <a:xfrm>
            <a:off x="0" y="6519863"/>
            <a:ext cx="4211638" cy="338137"/>
          </a:xfrm>
          <a:prstGeom prst="rect">
            <a:avLst/>
          </a:prstGeom>
        </p:spPr>
        <p:txBody>
          <a:bodyPr anchor="ctr"/>
          <a:lstStyle/>
          <a:p>
            <a:pPr>
              <a:defRPr/>
            </a:pPr>
            <a:r>
              <a:rPr lang="en-IE" sz="1200" dirty="0">
                <a:solidFill>
                  <a:schemeClr val="tx1">
                    <a:tint val="75000"/>
                  </a:schemeClr>
                </a:solidFill>
                <a:latin typeface="Arial" charset="0"/>
              </a:rPr>
              <a:t>AI for Games</a:t>
            </a:r>
          </a:p>
        </p:txBody>
      </p:sp>
      <p:pic>
        <p:nvPicPr>
          <p:cNvPr id="8" name="Picture 6" descr="SETU logo">
            <a:extLst>
              <a:ext uri="{FF2B5EF4-FFF2-40B4-BE49-F238E27FC236}">
                <a16:creationId xmlns:a16="http://schemas.microsoft.com/office/drawing/2014/main" id="{447F4579-0625-435A-85F0-58728D2D4061}"/>
              </a:ext>
            </a:extLst>
          </p:cNvPr>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7718041" y="93003"/>
            <a:ext cx="1342293" cy="753135"/>
          </a:xfrm>
          <a:prstGeom prst="rect">
            <a:avLst/>
          </a:prstGeom>
          <a:noFill/>
          <a:extLst>
            <a:ext uri="{909E8E84-426E-40DD-AFC4-6F175D3DCCD1}">
              <a14:hiddenFill xmlns:a14="http://schemas.microsoft.com/office/drawing/2010/main">
                <a:solidFill>
                  <a:srgbClr val="FFFFFF"/>
                </a:solidFill>
              </a14:hiddenFill>
            </a:ext>
          </a:extLst>
        </p:spPr>
      </p:pic>
    </p:spTree>
  </p:cSld>
  <p:clrMap bg1="lt1" tx1="dk1" bg2="lt2" tx2="dk2" accent1="accent1" accent2="accent2" accent3="accent3" accent4="accent4" accent5="accent5" accent6="accent6" hlink="hlink" folHlink="folHlink"/>
  <p:sldLayoutIdLst>
    <p:sldLayoutId id="2147484141" r:id="rId1"/>
    <p:sldLayoutId id="2147484142" r:id="rId2"/>
    <p:sldLayoutId id="2147484143" r:id="rId3"/>
    <p:sldLayoutId id="2147484131" r:id="rId4"/>
    <p:sldLayoutId id="2147484132" r:id="rId5"/>
    <p:sldLayoutId id="2147484133" r:id="rId6"/>
    <p:sldLayoutId id="2147484134" r:id="rId7"/>
    <p:sldLayoutId id="2147484135" r:id="rId8"/>
    <p:sldLayoutId id="2147484144" r:id="rId9"/>
    <p:sldLayoutId id="2147484145" r:id="rId10"/>
    <p:sldLayoutId id="2147484146" r:id="rId11"/>
  </p:sldLayoutIdLst>
  <p:hf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457200" y="274638"/>
            <a:ext cx="7067550" cy="633412"/>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endParaRPr lang="en-IE"/>
          </a:p>
        </p:txBody>
      </p:sp>
      <p:sp>
        <p:nvSpPr>
          <p:cNvPr id="2051" name="Text Placeholder 2"/>
          <p:cNvSpPr>
            <a:spLocks noGrp="1"/>
          </p:cNvSpPr>
          <p:nvPr>
            <p:ph type="body" idx="1"/>
          </p:nvPr>
        </p:nvSpPr>
        <p:spPr bwMode="auto">
          <a:xfrm>
            <a:off x="457200" y="1125538"/>
            <a:ext cx="8229600" cy="500062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E" dirty="0"/>
          </a:p>
        </p:txBody>
      </p:sp>
      <p:sp>
        <p:nvSpPr>
          <p:cNvPr id="6" name="Slide Number Placeholder 5"/>
          <p:cNvSpPr>
            <a:spLocks noGrp="1"/>
          </p:cNvSpPr>
          <p:nvPr>
            <p:ph type="sldNum" sz="quarter" idx="4"/>
          </p:nvPr>
        </p:nvSpPr>
        <p:spPr>
          <a:xfrm>
            <a:off x="6948488" y="6519863"/>
            <a:ext cx="2133600" cy="338137"/>
          </a:xfrm>
          <a:prstGeom prst="rect">
            <a:avLst/>
          </a:prstGeom>
        </p:spPr>
        <p:txBody>
          <a:bodyPr vert="horz" lIns="91440" tIns="45720" rIns="91440" bIns="45720" rtlCol="0" anchor="ctr"/>
          <a:lstStyle>
            <a:lvl1pPr algn="r">
              <a:defRPr sz="1200">
                <a:solidFill>
                  <a:schemeClr val="tx1">
                    <a:tint val="75000"/>
                  </a:schemeClr>
                </a:solidFill>
                <a:latin typeface="Arial" charset="0"/>
              </a:defRPr>
            </a:lvl1pPr>
          </a:lstStyle>
          <a:p>
            <a:pPr>
              <a:defRPr/>
            </a:pPr>
            <a:fld id="{798A2B5B-F3F1-46D4-B91B-268967D35FC4}" type="slidenum">
              <a:rPr lang="en-IE"/>
              <a:pPr>
                <a:defRPr/>
              </a:pPr>
              <a:t>‹#›</a:t>
            </a:fld>
            <a:endParaRPr lang="en-IE" dirty="0"/>
          </a:p>
        </p:txBody>
      </p:sp>
      <p:cxnSp>
        <p:nvCxnSpPr>
          <p:cNvPr id="12" name="Straight Connector 11"/>
          <p:cNvCxnSpPr/>
          <p:nvPr userDrawn="1"/>
        </p:nvCxnSpPr>
        <p:spPr>
          <a:xfrm>
            <a:off x="0" y="981075"/>
            <a:ext cx="9144000" cy="0"/>
          </a:xfrm>
          <a:prstGeom prst="line">
            <a:avLst/>
          </a:prstGeom>
          <a:ln w="44450">
            <a:solidFill>
              <a:schemeClr val="accent2"/>
            </a:solidFill>
          </a:ln>
        </p:spPr>
        <p:style>
          <a:lnRef idx="1">
            <a:schemeClr val="accent1"/>
          </a:lnRef>
          <a:fillRef idx="0">
            <a:schemeClr val="accent1"/>
          </a:fillRef>
          <a:effectRef idx="0">
            <a:schemeClr val="accent1"/>
          </a:effectRef>
          <a:fontRef idx="minor">
            <a:schemeClr val="tx1"/>
          </a:fontRef>
        </p:style>
      </p:cxnSp>
      <p:sp>
        <p:nvSpPr>
          <p:cNvPr id="13" name="Slide Number Placeholder 5"/>
          <p:cNvSpPr txBox="1">
            <a:spLocks/>
          </p:cNvSpPr>
          <p:nvPr userDrawn="1"/>
        </p:nvSpPr>
        <p:spPr>
          <a:xfrm>
            <a:off x="0" y="6519863"/>
            <a:ext cx="4211638" cy="338137"/>
          </a:xfrm>
          <a:prstGeom prst="rect">
            <a:avLst/>
          </a:prstGeom>
        </p:spPr>
        <p:txBody>
          <a:bodyPr anchor="ctr"/>
          <a:lstStyle/>
          <a:p>
            <a:pPr>
              <a:defRPr/>
            </a:pPr>
            <a:r>
              <a:rPr lang="en-IE" sz="1200" dirty="0">
                <a:solidFill>
                  <a:schemeClr val="tx1">
                    <a:tint val="75000"/>
                  </a:schemeClr>
                </a:solidFill>
                <a:latin typeface="Arial" charset="0"/>
              </a:rPr>
              <a:t>AI for Games</a:t>
            </a:r>
          </a:p>
        </p:txBody>
      </p:sp>
      <p:pic>
        <p:nvPicPr>
          <p:cNvPr id="9" name="Picture 6" descr="SETU logo">
            <a:extLst>
              <a:ext uri="{FF2B5EF4-FFF2-40B4-BE49-F238E27FC236}">
                <a16:creationId xmlns:a16="http://schemas.microsoft.com/office/drawing/2014/main" id="{64D1F088-62CE-4828-8CDD-63BB528BB5B0}"/>
              </a:ext>
            </a:extLst>
          </p:cNvPr>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7718041" y="93003"/>
            <a:ext cx="1342293" cy="753135"/>
          </a:xfrm>
          <a:prstGeom prst="rect">
            <a:avLst/>
          </a:prstGeom>
          <a:noFill/>
          <a:extLst>
            <a:ext uri="{909E8E84-426E-40DD-AFC4-6F175D3DCCD1}">
              <a14:hiddenFill xmlns:a14="http://schemas.microsoft.com/office/drawing/2010/main">
                <a:solidFill>
                  <a:srgbClr val="FFFFFF"/>
                </a:solidFill>
              </a14:hiddenFill>
            </a:ext>
          </a:extLst>
        </p:spPr>
      </p:pic>
    </p:spTree>
  </p:cSld>
  <p:clrMap bg1="lt1" tx1="dk1" bg2="lt2" tx2="dk2" accent1="accent1" accent2="accent2" accent3="accent3" accent4="accent4" accent5="accent5" accent6="accent6" hlink="hlink" folHlink="folHlink"/>
  <p:sldLayoutIdLst>
    <p:sldLayoutId id="2147484147" r:id="rId1"/>
    <p:sldLayoutId id="2147484148" r:id="rId2"/>
    <p:sldLayoutId id="2147484149" r:id="rId3"/>
    <p:sldLayoutId id="2147484136" r:id="rId4"/>
    <p:sldLayoutId id="2147484137" r:id="rId5"/>
    <p:sldLayoutId id="2147484138" r:id="rId6"/>
    <p:sldLayoutId id="2147484139" r:id="rId7"/>
    <p:sldLayoutId id="2147484140" r:id="rId8"/>
    <p:sldLayoutId id="2147484150" r:id="rId9"/>
    <p:sldLayoutId id="2147484151" r:id="rId10"/>
    <p:sldLayoutId id="2147484152" r:id="rId11"/>
    <p:sldLayoutId id="2147484153" r:id="rId12"/>
  </p:sldLayoutIdLst>
  <p:hf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hyperlink" Target="http://www.redblobgames.com/pathfinding/a-star/introduction.html" TargetMode="External"/><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3.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AutoShape 2"/>
          <p:cNvSpPr>
            <a:spLocks noGrp="1" noChangeArrowheads="1"/>
          </p:cNvSpPr>
          <p:nvPr>
            <p:ph type="title"/>
          </p:nvPr>
        </p:nvSpPr>
        <p:spPr/>
        <p:txBody>
          <a:bodyPr/>
          <a:lstStyle/>
          <a:p>
            <a:r>
              <a:rPr lang="en-GB" sz="3600" b="1" dirty="0">
                <a:solidFill>
                  <a:schemeClr val="accent5">
                    <a:lumMod val="75000"/>
                  </a:schemeClr>
                </a:solidFill>
                <a:ea typeface="Calibri" pitchFamily="34" charset="0"/>
                <a:cs typeface="Calibri" pitchFamily="34" charset="0"/>
              </a:rPr>
              <a:t>The Heuristic Function - Recap</a:t>
            </a:r>
          </a:p>
        </p:txBody>
      </p:sp>
      <p:sp>
        <p:nvSpPr>
          <p:cNvPr id="7171" name="Rectangle 3"/>
          <p:cNvSpPr>
            <a:spLocks noGrp="1" noChangeArrowheads="1"/>
          </p:cNvSpPr>
          <p:nvPr>
            <p:ph idx="1"/>
          </p:nvPr>
        </p:nvSpPr>
        <p:spPr/>
        <p:txBody>
          <a:bodyPr>
            <a:normAutofit/>
          </a:bodyPr>
          <a:lstStyle/>
          <a:p>
            <a:r>
              <a:rPr lang="en-GB" sz="2800" dirty="0"/>
              <a:t>The Cost of a Node B</a:t>
            </a:r>
          </a:p>
          <a:p>
            <a:pPr lvl="1"/>
            <a:r>
              <a:rPr lang="en-GB" sz="2400" dirty="0"/>
              <a:t>Assume we are trying to find a path from A to C</a:t>
            </a:r>
          </a:p>
          <a:p>
            <a:r>
              <a:rPr lang="en-GB" sz="2800" dirty="0"/>
              <a:t>The Cost of C if C is terminal node on path from A is</a:t>
            </a:r>
          </a:p>
          <a:p>
            <a:pPr lvl="1"/>
            <a:r>
              <a:rPr lang="en-GB" sz="2400" dirty="0"/>
              <a:t>Cost of going from A to B</a:t>
            </a:r>
          </a:p>
          <a:p>
            <a:pPr lvl="2"/>
            <a:r>
              <a:rPr lang="en-GB" sz="2000" dirty="0"/>
              <a:t>Call this “G”</a:t>
            </a:r>
          </a:p>
          <a:p>
            <a:pPr lvl="1"/>
            <a:r>
              <a:rPr lang="en-GB" sz="2400" dirty="0"/>
              <a:t>Cost of going from B to C</a:t>
            </a:r>
          </a:p>
          <a:p>
            <a:pPr lvl="2"/>
            <a:r>
              <a:rPr lang="en-GB" sz="2000" dirty="0"/>
              <a:t>Call this “H” (stands for heuristic)</a:t>
            </a:r>
          </a:p>
        </p:txBody>
      </p:sp>
      <p:sp>
        <p:nvSpPr>
          <p:cNvPr id="4" name="Slide Number Placeholder 3"/>
          <p:cNvSpPr>
            <a:spLocks noGrp="1"/>
          </p:cNvSpPr>
          <p:nvPr>
            <p:ph type="sldNum" sz="quarter" idx="10"/>
          </p:nvPr>
        </p:nvSpPr>
        <p:spPr/>
        <p:txBody>
          <a:bodyPr/>
          <a:lstStyle/>
          <a:p>
            <a:pPr>
              <a:defRPr/>
            </a:pPr>
            <a:fld id="{84C9582D-2E31-434C-A6C1-A926DBB0B909}" type="slidenum">
              <a:rPr lang="en-IE" smtClean="0"/>
              <a:pPr>
                <a:defRPr/>
              </a:pPr>
              <a:t>1</a:t>
            </a:fld>
            <a:endParaRPr lang="en-IE"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AutoShape 2"/>
          <p:cNvSpPr>
            <a:spLocks noGrp="1" noChangeArrowheads="1"/>
          </p:cNvSpPr>
          <p:nvPr>
            <p:ph type="title"/>
          </p:nvPr>
        </p:nvSpPr>
        <p:spPr/>
        <p:txBody>
          <a:bodyPr/>
          <a:lstStyle/>
          <a:p>
            <a:r>
              <a:rPr lang="en-GB" sz="3600" b="1" dirty="0">
                <a:solidFill>
                  <a:schemeClr val="accent5">
                    <a:lumMod val="75000"/>
                  </a:schemeClr>
                </a:solidFill>
                <a:ea typeface="Calibri" pitchFamily="34" charset="0"/>
                <a:cs typeface="Calibri" pitchFamily="34" charset="0"/>
              </a:rPr>
              <a:t>The Heuristic function</a:t>
            </a:r>
          </a:p>
        </p:txBody>
      </p:sp>
      <p:sp>
        <p:nvSpPr>
          <p:cNvPr id="9219" name="Rectangle 3"/>
          <p:cNvSpPr>
            <a:spLocks noGrp="1" noChangeArrowheads="1"/>
          </p:cNvSpPr>
          <p:nvPr>
            <p:ph idx="1"/>
          </p:nvPr>
        </p:nvSpPr>
        <p:spPr/>
        <p:txBody>
          <a:bodyPr>
            <a:normAutofit/>
          </a:bodyPr>
          <a:lstStyle/>
          <a:p>
            <a:r>
              <a:rPr lang="en-GB" dirty="0"/>
              <a:t>As we are at B we know what the cost of G is</a:t>
            </a:r>
          </a:p>
          <a:p>
            <a:r>
              <a:rPr lang="en-GB" dirty="0"/>
              <a:t>We do not know the cost from B to C!</a:t>
            </a:r>
          </a:p>
          <a:p>
            <a:pPr lvl="1"/>
            <a:r>
              <a:rPr lang="en-GB" dirty="0"/>
              <a:t>We must estimate this somehow (heuristically)</a:t>
            </a:r>
          </a:p>
          <a:p>
            <a:r>
              <a:rPr lang="en-GB" dirty="0"/>
              <a:t>Total Cost of Path</a:t>
            </a:r>
          </a:p>
          <a:p>
            <a:pPr lvl="2"/>
            <a:r>
              <a:rPr lang="en-GB" dirty="0"/>
              <a:t>Called “F”</a:t>
            </a:r>
          </a:p>
          <a:p>
            <a:pPr lvl="1"/>
            <a:r>
              <a:rPr lang="en-GB" dirty="0"/>
              <a:t>Cost of path from A to B plus cost of path from B to C</a:t>
            </a:r>
          </a:p>
          <a:p>
            <a:r>
              <a:rPr lang="en-GB" dirty="0"/>
              <a:t>F = G + H</a:t>
            </a:r>
          </a:p>
        </p:txBody>
      </p:sp>
      <p:sp>
        <p:nvSpPr>
          <p:cNvPr id="4" name="Slide Number Placeholder 3"/>
          <p:cNvSpPr>
            <a:spLocks noGrp="1"/>
          </p:cNvSpPr>
          <p:nvPr>
            <p:ph type="sldNum" sz="quarter" idx="10"/>
          </p:nvPr>
        </p:nvSpPr>
        <p:spPr/>
        <p:txBody>
          <a:bodyPr/>
          <a:lstStyle/>
          <a:p>
            <a:pPr>
              <a:defRPr/>
            </a:pPr>
            <a:fld id="{84C9582D-2E31-434C-A6C1-A926DBB0B909}" type="slidenum">
              <a:rPr lang="en-IE" smtClean="0"/>
              <a:pPr>
                <a:defRPr/>
              </a:pPr>
              <a:t>2</a:t>
            </a:fld>
            <a:endParaRPr lang="en-IE"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AutoShape 2"/>
          <p:cNvSpPr>
            <a:spLocks noGrp="1" noChangeArrowheads="1"/>
          </p:cNvSpPr>
          <p:nvPr>
            <p:ph type="title"/>
          </p:nvPr>
        </p:nvSpPr>
        <p:spPr/>
        <p:txBody>
          <a:bodyPr/>
          <a:lstStyle/>
          <a:p>
            <a:r>
              <a:rPr lang="en-GB" sz="3600" b="1" dirty="0">
                <a:solidFill>
                  <a:schemeClr val="accent5">
                    <a:lumMod val="75000"/>
                  </a:schemeClr>
                </a:solidFill>
                <a:ea typeface="Calibri" pitchFamily="34" charset="0"/>
                <a:cs typeface="Calibri" pitchFamily="34" charset="0"/>
              </a:rPr>
              <a:t>The Heuristic Function</a:t>
            </a:r>
          </a:p>
        </p:txBody>
      </p:sp>
      <p:sp>
        <p:nvSpPr>
          <p:cNvPr id="11267" name="Rectangle 3"/>
          <p:cNvSpPr>
            <a:spLocks noGrp="1" noChangeArrowheads="1"/>
          </p:cNvSpPr>
          <p:nvPr>
            <p:ph idx="1"/>
          </p:nvPr>
        </p:nvSpPr>
        <p:spPr/>
        <p:txBody>
          <a:bodyPr/>
          <a:lstStyle/>
          <a:p>
            <a:r>
              <a:rPr lang="en-GB" dirty="0"/>
              <a:t>It has been proven that</a:t>
            </a:r>
          </a:p>
          <a:p>
            <a:pPr lvl="1"/>
            <a:r>
              <a:rPr lang="en-GB" dirty="0"/>
              <a:t>If the heuristic (H) is guaranteed not to over estimate the Actual cost (admissible) then</a:t>
            </a:r>
          </a:p>
          <a:p>
            <a:pPr lvl="1"/>
            <a:r>
              <a:rPr lang="en-GB" dirty="0"/>
              <a:t>When using A* algorithm the first solution found will be the optimal one!</a:t>
            </a:r>
          </a:p>
          <a:p>
            <a:pPr lvl="1"/>
            <a:r>
              <a:rPr lang="en-GB" dirty="0"/>
              <a:t>e.g. if Estimate H is set to 0 then it is always an underestimate!</a:t>
            </a:r>
          </a:p>
          <a:p>
            <a:pPr lvl="1"/>
            <a:r>
              <a:rPr lang="en-GB" dirty="0"/>
              <a:t>But the more accurate it is the faster the search is</a:t>
            </a:r>
          </a:p>
          <a:p>
            <a:pPr lvl="1"/>
            <a:endParaRPr lang="en-GB" dirty="0"/>
          </a:p>
          <a:p>
            <a:r>
              <a:rPr lang="en-GB" sz="2000" dirty="0"/>
              <a:t>Check out </a:t>
            </a:r>
            <a:r>
              <a:rPr lang="en-IE" sz="2000" dirty="0">
                <a:hlinkClick r:id="rId3"/>
              </a:rPr>
              <a:t>http://www.redblobgames.com/pathfinding/a-star/introduction.html</a:t>
            </a:r>
            <a:r>
              <a:rPr lang="en-GB" sz="2000" dirty="0"/>
              <a:t> for some online examples in Python.</a:t>
            </a:r>
            <a:endParaRPr lang="en-IE" sz="2000" dirty="0"/>
          </a:p>
        </p:txBody>
      </p:sp>
      <p:sp>
        <p:nvSpPr>
          <p:cNvPr id="4" name="Slide Number Placeholder 3"/>
          <p:cNvSpPr>
            <a:spLocks noGrp="1"/>
          </p:cNvSpPr>
          <p:nvPr>
            <p:ph type="sldNum" sz="quarter" idx="10"/>
          </p:nvPr>
        </p:nvSpPr>
        <p:spPr/>
        <p:txBody>
          <a:bodyPr/>
          <a:lstStyle/>
          <a:p>
            <a:pPr>
              <a:defRPr/>
            </a:pPr>
            <a:fld id="{84C9582D-2E31-434C-A6C1-A926DBB0B909}" type="slidenum">
              <a:rPr lang="en-IE" smtClean="0"/>
              <a:pPr>
                <a:defRPr/>
              </a:pPr>
              <a:t>3</a:t>
            </a:fld>
            <a:endParaRPr lang="en-IE"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Slide Number Placeholder 5"/>
          <p:cNvSpPr>
            <a:spLocks noGrp="1"/>
          </p:cNvSpPr>
          <p:nvPr>
            <p:ph type="sldNum" sz="quarter" idx="12"/>
          </p:nvPr>
        </p:nvSpPr>
        <p:spPr>
          <a:noFill/>
        </p:spPr>
        <p:txBody>
          <a:bodyPr/>
          <a:lstStyle/>
          <a:p>
            <a:fld id="{E21F68AB-602D-48D2-BFCF-EF93820C0D5E}" type="slidenum">
              <a:rPr lang="en-US" altLang="en-US"/>
              <a:pPr/>
              <a:t>4</a:t>
            </a:fld>
            <a:endParaRPr lang="en-US" altLang="en-US"/>
          </a:p>
        </p:txBody>
      </p:sp>
      <p:sp>
        <p:nvSpPr>
          <p:cNvPr id="30724" name="Rectangle 2"/>
          <p:cNvSpPr>
            <a:spLocks noGrp="1" noChangeArrowheads="1"/>
          </p:cNvSpPr>
          <p:nvPr>
            <p:ph type="title"/>
          </p:nvPr>
        </p:nvSpPr>
        <p:spPr>
          <a:xfrm>
            <a:off x="179512" y="214313"/>
            <a:ext cx="7793037" cy="776287"/>
          </a:xfrm>
        </p:spPr>
        <p:txBody>
          <a:bodyPr/>
          <a:lstStyle/>
          <a:p>
            <a:pPr eaLnBrk="1" hangingPunct="1"/>
            <a:r>
              <a:rPr lang="en-US" altLang="en-US" sz="3600" b="1" dirty="0">
                <a:solidFill>
                  <a:schemeClr val="accent5">
                    <a:lumMod val="75000"/>
                  </a:schemeClr>
                </a:solidFill>
                <a:ea typeface="Calibri" pitchFamily="34" charset="0"/>
                <a:cs typeface="Calibri" pitchFamily="34" charset="0"/>
              </a:rPr>
              <a:t>A* Pathfinder - Recap</a:t>
            </a:r>
          </a:p>
        </p:txBody>
      </p:sp>
      <p:graphicFrame>
        <p:nvGraphicFramePr>
          <p:cNvPr id="685059" name="Group 3"/>
          <p:cNvGraphicFramePr>
            <a:graphicFrameLocks noGrp="1"/>
          </p:cNvGraphicFramePr>
          <p:nvPr>
            <p:ph idx="1"/>
          </p:nvPr>
        </p:nvGraphicFramePr>
        <p:xfrm>
          <a:off x="533400" y="1468015"/>
          <a:ext cx="7772400" cy="4913313"/>
        </p:xfrm>
        <a:graphic>
          <a:graphicData uri="http://schemas.openxmlformats.org/drawingml/2006/table">
            <a:tbl>
              <a:tblPr/>
              <a:tblGrid>
                <a:gridCol w="863600">
                  <a:extLst>
                    <a:ext uri="{9D8B030D-6E8A-4147-A177-3AD203B41FA5}">
                      <a16:colId xmlns:a16="http://schemas.microsoft.com/office/drawing/2014/main" val="20000"/>
                    </a:ext>
                  </a:extLst>
                </a:gridCol>
                <a:gridCol w="863600">
                  <a:extLst>
                    <a:ext uri="{9D8B030D-6E8A-4147-A177-3AD203B41FA5}">
                      <a16:colId xmlns:a16="http://schemas.microsoft.com/office/drawing/2014/main" val="20001"/>
                    </a:ext>
                  </a:extLst>
                </a:gridCol>
                <a:gridCol w="863600">
                  <a:extLst>
                    <a:ext uri="{9D8B030D-6E8A-4147-A177-3AD203B41FA5}">
                      <a16:colId xmlns:a16="http://schemas.microsoft.com/office/drawing/2014/main" val="20002"/>
                    </a:ext>
                  </a:extLst>
                </a:gridCol>
                <a:gridCol w="863600">
                  <a:extLst>
                    <a:ext uri="{9D8B030D-6E8A-4147-A177-3AD203B41FA5}">
                      <a16:colId xmlns:a16="http://schemas.microsoft.com/office/drawing/2014/main" val="20003"/>
                    </a:ext>
                  </a:extLst>
                </a:gridCol>
                <a:gridCol w="863600">
                  <a:extLst>
                    <a:ext uri="{9D8B030D-6E8A-4147-A177-3AD203B41FA5}">
                      <a16:colId xmlns:a16="http://schemas.microsoft.com/office/drawing/2014/main" val="20004"/>
                    </a:ext>
                  </a:extLst>
                </a:gridCol>
                <a:gridCol w="863600">
                  <a:extLst>
                    <a:ext uri="{9D8B030D-6E8A-4147-A177-3AD203B41FA5}">
                      <a16:colId xmlns:a16="http://schemas.microsoft.com/office/drawing/2014/main" val="20005"/>
                    </a:ext>
                  </a:extLst>
                </a:gridCol>
                <a:gridCol w="863600">
                  <a:extLst>
                    <a:ext uri="{9D8B030D-6E8A-4147-A177-3AD203B41FA5}">
                      <a16:colId xmlns:a16="http://schemas.microsoft.com/office/drawing/2014/main" val="20006"/>
                    </a:ext>
                  </a:extLst>
                </a:gridCol>
                <a:gridCol w="863600">
                  <a:extLst>
                    <a:ext uri="{9D8B030D-6E8A-4147-A177-3AD203B41FA5}">
                      <a16:colId xmlns:a16="http://schemas.microsoft.com/office/drawing/2014/main" val="20007"/>
                    </a:ext>
                  </a:extLst>
                </a:gridCol>
                <a:gridCol w="863600">
                  <a:extLst>
                    <a:ext uri="{9D8B030D-6E8A-4147-A177-3AD203B41FA5}">
                      <a16:colId xmlns:a16="http://schemas.microsoft.com/office/drawing/2014/main" val="20008"/>
                    </a:ext>
                  </a:extLst>
                </a:gridCol>
              </a:tblGrid>
              <a:tr h="5461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2800" b="0" i="0" u="none" strike="noStrike" cap="none" normalizeH="0" baseline="0" dirty="0">
                        <a:ln>
                          <a:noFill/>
                        </a:ln>
                        <a:solidFill>
                          <a:schemeClr val="tx1"/>
                        </a:solidFill>
                        <a:effectLst/>
                        <a:latin typeface="Tahoma"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2800" b="0" i="0" u="none" strike="noStrike" cap="none" normalizeH="0" baseline="0">
                        <a:ln>
                          <a:noFill/>
                        </a:ln>
                        <a:solidFill>
                          <a:schemeClr val="tx1"/>
                        </a:solidFill>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2800" b="0" i="0" u="none" strike="noStrike" cap="none" normalizeH="0" baseline="0">
                        <a:ln>
                          <a:noFill/>
                        </a:ln>
                        <a:solidFill>
                          <a:schemeClr val="tx1"/>
                        </a:solidFill>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2800" b="0" i="0" u="none" strike="noStrike" cap="none" normalizeH="0" baseline="0">
                        <a:ln>
                          <a:noFill/>
                        </a:ln>
                        <a:solidFill>
                          <a:schemeClr val="tx1"/>
                        </a:solidFill>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2800" b="0" i="0" u="none" strike="noStrike" cap="none" normalizeH="0" baseline="0">
                        <a:ln>
                          <a:noFill/>
                        </a:ln>
                        <a:solidFill>
                          <a:schemeClr val="tx1"/>
                        </a:solidFill>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2800" b="0" i="0" u="none" strike="noStrike" cap="none" normalizeH="0" baseline="0">
                        <a:ln>
                          <a:noFill/>
                        </a:ln>
                        <a:solidFill>
                          <a:schemeClr val="tx1"/>
                        </a:solidFill>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2800" b="0" i="0" u="none" strike="noStrike" cap="none" normalizeH="0" baseline="0">
                        <a:ln>
                          <a:noFill/>
                        </a:ln>
                        <a:solidFill>
                          <a:schemeClr val="tx1"/>
                        </a:solidFill>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2800" b="0" i="0" u="none" strike="noStrike" cap="none" normalizeH="0" baseline="0">
                        <a:ln>
                          <a:noFill/>
                        </a:ln>
                        <a:solidFill>
                          <a:schemeClr val="tx1"/>
                        </a:solidFill>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2800" b="0" i="0" u="none" strike="noStrike" cap="none" normalizeH="0" baseline="0">
                        <a:ln>
                          <a:noFill/>
                        </a:ln>
                        <a:solidFill>
                          <a:schemeClr val="tx1"/>
                        </a:solidFill>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461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2800" b="0" i="0" u="none" strike="noStrike" cap="none" normalizeH="0" baseline="0">
                        <a:ln>
                          <a:noFill/>
                        </a:ln>
                        <a:solidFill>
                          <a:schemeClr val="tx1"/>
                        </a:solidFill>
                        <a:effectLst/>
                        <a:latin typeface="Tahoma"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2800" b="0" i="0" u="none" strike="noStrike" cap="none" normalizeH="0" baseline="0">
                        <a:ln>
                          <a:noFill/>
                        </a:ln>
                        <a:solidFill>
                          <a:schemeClr val="tx1"/>
                        </a:solidFill>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2800" b="0" i="0" u="none" strike="noStrike" cap="none" normalizeH="0" baseline="0">
                        <a:ln>
                          <a:noFill/>
                        </a:ln>
                        <a:solidFill>
                          <a:schemeClr val="tx1"/>
                        </a:solidFill>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2800" b="0" i="0" u="none" strike="noStrike" cap="none" normalizeH="0" baseline="0">
                        <a:ln>
                          <a:noFill/>
                        </a:ln>
                        <a:solidFill>
                          <a:schemeClr val="tx1"/>
                        </a:solidFill>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2800" b="0" i="0" u="none" strike="noStrike" cap="none" normalizeH="0" baseline="0">
                        <a:ln>
                          <a:noFill/>
                        </a:ln>
                        <a:solidFill>
                          <a:schemeClr val="tx1"/>
                        </a:solidFill>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2800" b="0" i="0" u="none" strike="noStrike" cap="none" normalizeH="0" baseline="0">
                        <a:ln>
                          <a:noFill/>
                        </a:ln>
                        <a:solidFill>
                          <a:schemeClr val="tx1"/>
                        </a:solidFill>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2800" b="0" i="0" u="none" strike="noStrike" cap="none" normalizeH="0" baseline="0">
                        <a:ln>
                          <a:noFill/>
                        </a:ln>
                        <a:solidFill>
                          <a:schemeClr val="tx1"/>
                        </a:solidFill>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2800" b="0" i="0" u="none" strike="noStrike" cap="none" normalizeH="0" baseline="0">
                        <a:ln>
                          <a:noFill/>
                        </a:ln>
                        <a:solidFill>
                          <a:schemeClr val="tx1"/>
                        </a:solidFill>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2800" b="0" i="0" u="none" strike="noStrike" cap="none" normalizeH="0" baseline="0">
                        <a:ln>
                          <a:noFill/>
                        </a:ln>
                        <a:solidFill>
                          <a:schemeClr val="tx1"/>
                        </a:solidFill>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461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2800" b="0" i="0" u="none" strike="noStrike" cap="none" normalizeH="0" baseline="0">
                        <a:ln>
                          <a:noFill/>
                        </a:ln>
                        <a:solidFill>
                          <a:schemeClr val="tx1"/>
                        </a:solidFill>
                        <a:effectLst/>
                        <a:latin typeface="Tahoma"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2800" b="0" i="0" u="none" strike="noStrike" cap="none" normalizeH="0" baseline="0">
                        <a:ln>
                          <a:noFill/>
                        </a:ln>
                        <a:solidFill>
                          <a:schemeClr val="tx1"/>
                        </a:solidFill>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2800" b="0" i="0" u="none" strike="noStrike" cap="none" normalizeH="0" baseline="0">
                        <a:ln>
                          <a:noFill/>
                        </a:ln>
                        <a:solidFill>
                          <a:schemeClr val="tx1"/>
                        </a:solidFill>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2800" b="0" i="0" u="none" strike="noStrike" cap="none" normalizeH="0" baseline="0">
                        <a:ln>
                          <a:noFill/>
                        </a:ln>
                        <a:solidFill>
                          <a:schemeClr val="tx1"/>
                        </a:solidFill>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2800" b="0" i="0" u="none" strike="noStrike" cap="none" normalizeH="0" baseline="0" dirty="0">
                        <a:ln>
                          <a:noFill/>
                        </a:ln>
                        <a:solidFill>
                          <a:schemeClr val="tx1"/>
                        </a:solidFill>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2800" b="0" i="0" u="none" strike="noStrike" cap="none" normalizeH="0" baseline="0">
                        <a:ln>
                          <a:noFill/>
                        </a:ln>
                        <a:solidFill>
                          <a:schemeClr val="tx1"/>
                        </a:solidFill>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2800" b="0" i="0" u="none" strike="noStrike" cap="none" normalizeH="0" baseline="0">
                        <a:ln>
                          <a:noFill/>
                        </a:ln>
                        <a:solidFill>
                          <a:schemeClr val="tx1"/>
                        </a:solidFill>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2800" b="0" i="0" u="none" strike="noStrike" cap="none" normalizeH="0" baseline="0">
                        <a:ln>
                          <a:noFill/>
                        </a:ln>
                        <a:solidFill>
                          <a:schemeClr val="tx1"/>
                        </a:solidFill>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2800" b="0" i="0" u="none" strike="noStrike" cap="none" normalizeH="0" baseline="0">
                        <a:ln>
                          <a:noFill/>
                        </a:ln>
                        <a:solidFill>
                          <a:schemeClr val="tx1"/>
                        </a:solidFill>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461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2800" b="0" i="0" u="none" strike="noStrike" cap="none" normalizeH="0" baseline="0">
                        <a:ln>
                          <a:noFill/>
                        </a:ln>
                        <a:solidFill>
                          <a:schemeClr val="tx1"/>
                        </a:solidFill>
                        <a:effectLst/>
                        <a:latin typeface="Tahoma"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2800" b="0" i="0" u="none" strike="noStrike" cap="none" normalizeH="0" baseline="0">
                        <a:ln>
                          <a:noFill/>
                        </a:ln>
                        <a:solidFill>
                          <a:schemeClr val="tx1"/>
                        </a:solidFill>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2800" b="0" i="0" u="none" strike="noStrike" cap="none" normalizeH="0" baseline="0">
                        <a:ln>
                          <a:noFill/>
                        </a:ln>
                        <a:solidFill>
                          <a:schemeClr val="tx1"/>
                        </a:solidFill>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2800" b="0" i="0" u="none" strike="noStrike" cap="none" normalizeH="0" baseline="0">
                        <a:ln>
                          <a:noFill/>
                        </a:ln>
                        <a:solidFill>
                          <a:schemeClr val="tx1"/>
                        </a:solidFill>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2800" b="0" i="0" u="none" strike="noStrike" cap="none" normalizeH="0" baseline="0" dirty="0">
                        <a:ln>
                          <a:noFill/>
                        </a:ln>
                        <a:solidFill>
                          <a:schemeClr val="tx1"/>
                        </a:solidFill>
                        <a:effectLst/>
                        <a:latin typeface="Tahoma" pitchFamily="34" charset="0"/>
                      </a:endParaRPr>
                    </a:p>
                  </a:txBody>
                  <a:tcPr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2800" b="0" i="0" u="none" strike="noStrike" cap="none" normalizeH="0" baseline="0">
                        <a:ln>
                          <a:noFill/>
                        </a:ln>
                        <a:solidFill>
                          <a:schemeClr val="tx1"/>
                        </a:solidFill>
                        <a:effectLst/>
                        <a:latin typeface="Tahoma" pitchFamily="34" charset="0"/>
                      </a:endParaRPr>
                    </a:p>
                  </a:txBody>
                  <a:tcPr horzOverflow="overflow">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2800" b="0" i="0" u="none" strike="noStrike" cap="none" normalizeH="0" baseline="0">
                        <a:ln>
                          <a:noFill/>
                        </a:ln>
                        <a:solidFill>
                          <a:schemeClr val="tx1"/>
                        </a:solidFill>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2800" b="0" i="0" u="none" strike="noStrike" cap="none" normalizeH="0" baseline="0">
                        <a:ln>
                          <a:noFill/>
                        </a:ln>
                        <a:solidFill>
                          <a:schemeClr val="tx1"/>
                        </a:solidFill>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2800" b="0" i="0" u="none" strike="noStrike" cap="none" normalizeH="0" baseline="0">
                        <a:ln>
                          <a:noFill/>
                        </a:ln>
                        <a:solidFill>
                          <a:schemeClr val="tx1"/>
                        </a:solidFill>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4451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2800" b="0" i="0" u="none" strike="noStrike" cap="none" normalizeH="0" baseline="0">
                        <a:ln>
                          <a:noFill/>
                        </a:ln>
                        <a:solidFill>
                          <a:schemeClr val="tx1"/>
                        </a:solidFill>
                        <a:effectLst/>
                        <a:latin typeface="Tahoma"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2800" b="0" i="0" u="none" strike="noStrike" cap="none" normalizeH="0" baseline="0">
                        <a:ln>
                          <a:noFill/>
                        </a:ln>
                        <a:solidFill>
                          <a:schemeClr val="tx1"/>
                        </a:solidFill>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2800" b="0" i="0" u="none" strike="noStrike" cap="none" normalizeH="0" baseline="0">
                        <a:ln>
                          <a:noFill/>
                        </a:ln>
                        <a:solidFill>
                          <a:schemeClr val="tx1"/>
                        </a:solidFill>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2800" b="0" i="0" u="none" strike="noStrike" cap="none" normalizeH="0" baseline="0" dirty="0">
                        <a:ln>
                          <a:noFill/>
                        </a:ln>
                        <a:solidFill>
                          <a:schemeClr val="tx1"/>
                        </a:solidFill>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2800" b="0" i="0" u="none" strike="noStrike" cap="none" normalizeH="0" baseline="0">
                        <a:ln>
                          <a:noFill/>
                        </a:ln>
                        <a:solidFill>
                          <a:schemeClr val="tx1"/>
                        </a:solidFill>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2800" b="0" i="0" u="none" strike="noStrike" cap="none" normalizeH="0" baseline="0">
                        <a:ln>
                          <a:noFill/>
                        </a:ln>
                        <a:solidFill>
                          <a:schemeClr val="tx1"/>
                        </a:solidFill>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2800" b="0" i="0" u="none" strike="noStrike" cap="none" normalizeH="0" baseline="0">
                        <a:ln>
                          <a:noFill/>
                        </a:ln>
                        <a:solidFill>
                          <a:schemeClr val="tx1"/>
                        </a:solidFill>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G</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461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2800" b="0" i="0" u="none" strike="noStrike" cap="none" normalizeH="0" baseline="0">
                        <a:ln>
                          <a:noFill/>
                        </a:ln>
                        <a:solidFill>
                          <a:schemeClr val="tx1"/>
                        </a:solidFill>
                        <a:effectLst/>
                        <a:latin typeface="Tahoma"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2800" b="0" i="0" u="none" strike="noStrike" cap="none" normalizeH="0" baseline="0">
                        <a:ln>
                          <a:noFill/>
                        </a:ln>
                        <a:solidFill>
                          <a:schemeClr val="tx1"/>
                        </a:solidFill>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2800" b="0" i="0" u="none" strike="noStrike" cap="none" normalizeH="0" baseline="0">
                        <a:ln>
                          <a:noFill/>
                        </a:ln>
                        <a:solidFill>
                          <a:schemeClr val="tx1"/>
                        </a:solidFill>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2800" b="0" i="0" u="none" strike="noStrike" cap="none" normalizeH="0" baseline="0">
                        <a:ln>
                          <a:noFill/>
                        </a:ln>
                        <a:solidFill>
                          <a:schemeClr val="tx1"/>
                        </a:solidFill>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2800" b="0" i="0" u="none" strike="noStrike" cap="none" normalizeH="0" baseline="0" dirty="0">
                        <a:ln>
                          <a:noFill/>
                        </a:ln>
                        <a:solidFill>
                          <a:schemeClr val="tx1"/>
                        </a:solidFill>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2800" b="0" i="0" u="none" strike="noStrike" cap="none" normalizeH="0" baseline="0">
                        <a:ln>
                          <a:noFill/>
                        </a:ln>
                        <a:solidFill>
                          <a:schemeClr val="tx1"/>
                        </a:solidFill>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2800" b="0" i="0" u="none" strike="noStrike" cap="none" normalizeH="0" baseline="0">
                        <a:ln>
                          <a:noFill/>
                        </a:ln>
                        <a:solidFill>
                          <a:schemeClr val="tx1"/>
                        </a:solidFill>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2800" b="0" i="0" u="none" strike="noStrike" cap="none" normalizeH="0" baseline="0">
                        <a:ln>
                          <a:noFill/>
                        </a:ln>
                        <a:solidFill>
                          <a:schemeClr val="tx1"/>
                        </a:solidFill>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2800" b="0" i="0" u="none" strike="noStrike" cap="none" normalizeH="0" baseline="0">
                        <a:ln>
                          <a:noFill/>
                        </a:ln>
                        <a:solidFill>
                          <a:schemeClr val="tx1"/>
                        </a:solidFill>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461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2800" b="0" i="0" u="none" strike="noStrike" cap="none" normalizeH="0" baseline="0">
                        <a:ln>
                          <a:noFill/>
                        </a:ln>
                        <a:solidFill>
                          <a:schemeClr val="tx1"/>
                        </a:solidFill>
                        <a:effectLst/>
                        <a:latin typeface="Tahoma"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2800" b="0" i="0" u="none" strike="noStrike" cap="none" normalizeH="0" baseline="0">
                        <a:ln>
                          <a:noFill/>
                        </a:ln>
                        <a:solidFill>
                          <a:schemeClr val="tx1"/>
                        </a:solidFill>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2800" b="0" i="0" u="none" strike="noStrike" cap="none" normalizeH="0" baseline="0">
                        <a:ln>
                          <a:noFill/>
                        </a:ln>
                        <a:solidFill>
                          <a:schemeClr val="tx1"/>
                        </a:solidFill>
                        <a:effectLst/>
                        <a:latin typeface="Tahoma" pitchFamily="34" charset="0"/>
                      </a:endParaRPr>
                    </a:p>
                  </a:txBody>
                  <a:tcPr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2800" b="0" i="0" u="none" strike="noStrike" cap="none" normalizeH="0" baseline="0">
                        <a:ln>
                          <a:noFill/>
                        </a:ln>
                        <a:solidFill>
                          <a:schemeClr val="tx1"/>
                        </a:solidFill>
                        <a:effectLst/>
                        <a:latin typeface="Tahoma" pitchFamily="34" charset="0"/>
                      </a:endParaRPr>
                    </a:p>
                  </a:txBody>
                  <a:tcPr horzOverflow="overflow">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2800" b="0" i="0" u="none" strike="noStrike" cap="none" normalizeH="0" baseline="0">
                        <a:ln>
                          <a:noFill/>
                        </a:ln>
                        <a:solidFill>
                          <a:schemeClr val="tx1"/>
                        </a:solidFill>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2800" b="0" i="0" u="none" strike="noStrike" cap="none" normalizeH="0" baseline="0">
                        <a:ln>
                          <a:noFill/>
                        </a:ln>
                        <a:solidFill>
                          <a:schemeClr val="tx1"/>
                        </a:solidFill>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2800" b="0" i="0" u="none" strike="noStrike" cap="none" normalizeH="0" baseline="0">
                        <a:ln>
                          <a:noFill/>
                        </a:ln>
                        <a:solidFill>
                          <a:schemeClr val="tx1"/>
                        </a:solidFill>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2800" b="0" i="0" u="none" strike="noStrike" cap="none" normalizeH="0" baseline="0">
                        <a:ln>
                          <a:noFill/>
                        </a:ln>
                        <a:solidFill>
                          <a:schemeClr val="tx1"/>
                        </a:solidFill>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2800" b="0" i="0" u="none" strike="noStrike" cap="none" normalizeH="0" baseline="0">
                        <a:ln>
                          <a:noFill/>
                        </a:ln>
                        <a:solidFill>
                          <a:schemeClr val="tx1"/>
                        </a:solidFill>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5461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2800" b="0" i="0" u="none" strike="noStrike" cap="none" normalizeH="0" baseline="0">
                        <a:ln>
                          <a:noFill/>
                        </a:ln>
                        <a:solidFill>
                          <a:schemeClr val="tx1"/>
                        </a:solidFill>
                        <a:effectLst/>
                        <a:latin typeface="Tahoma"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2800" b="0" i="0" u="none" strike="noStrike" cap="none" normalizeH="0" baseline="0">
                        <a:ln>
                          <a:noFill/>
                        </a:ln>
                        <a:solidFill>
                          <a:schemeClr val="tx1"/>
                        </a:solidFill>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2800" b="0" i="0" u="none" strike="noStrike" cap="none" normalizeH="0" baseline="0">
                        <a:ln>
                          <a:noFill/>
                        </a:ln>
                        <a:solidFill>
                          <a:schemeClr val="tx1"/>
                        </a:solidFill>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2800" b="0" i="0" u="none" strike="noStrike" cap="none" normalizeH="0" baseline="0">
                        <a:ln>
                          <a:noFill/>
                        </a:ln>
                        <a:solidFill>
                          <a:schemeClr val="tx1"/>
                        </a:solidFill>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2800" b="0" i="0" u="none" strike="noStrike" cap="none" normalizeH="0" baseline="0">
                        <a:ln>
                          <a:noFill/>
                        </a:ln>
                        <a:solidFill>
                          <a:schemeClr val="tx1"/>
                        </a:solidFill>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2800" b="0" i="0" u="none" strike="noStrike" cap="none" normalizeH="0" baseline="0">
                        <a:ln>
                          <a:noFill/>
                        </a:ln>
                        <a:solidFill>
                          <a:schemeClr val="tx1"/>
                        </a:solidFill>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2800" b="0" i="0" u="none" strike="noStrike" cap="none" normalizeH="0" baseline="0">
                        <a:ln>
                          <a:noFill/>
                        </a:ln>
                        <a:solidFill>
                          <a:schemeClr val="tx1"/>
                        </a:solidFill>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2800" b="0" i="0" u="none" strike="noStrike" cap="none" normalizeH="0" baseline="0">
                        <a:ln>
                          <a:noFill/>
                        </a:ln>
                        <a:solidFill>
                          <a:schemeClr val="tx1"/>
                        </a:solidFill>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2800" b="0" i="0" u="none" strike="noStrike" cap="none" normalizeH="0" baseline="0">
                        <a:ln>
                          <a:noFill/>
                        </a:ln>
                        <a:solidFill>
                          <a:schemeClr val="tx1"/>
                        </a:solidFill>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5461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2800" b="0" i="0" u="none" strike="noStrike" cap="none" normalizeH="0" baseline="0">
                        <a:ln>
                          <a:noFill/>
                        </a:ln>
                        <a:solidFill>
                          <a:schemeClr val="tx1"/>
                        </a:solidFill>
                        <a:effectLst/>
                        <a:latin typeface="Tahoma"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2800" b="0" i="0" u="none" strike="noStrike" cap="none" normalizeH="0" baseline="0">
                        <a:ln>
                          <a:noFill/>
                        </a:ln>
                        <a:solidFill>
                          <a:schemeClr val="tx1"/>
                        </a:solidFill>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2800" b="0" i="0" u="none" strike="noStrike" cap="none" normalizeH="0" baseline="0">
                        <a:ln>
                          <a:noFill/>
                        </a:ln>
                        <a:solidFill>
                          <a:schemeClr val="tx1"/>
                        </a:solidFill>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2800" b="0" i="0" u="none" strike="noStrike" cap="none" normalizeH="0" baseline="0">
                        <a:ln>
                          <a:noFill/>
                        </a:ln>
                        <a:solidFill>
                          <a:schemeClr val="tx1"/>
                        </a:solidFill>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2800" b="0" i="0" u="none" strike="noStrike" cap="none" normalizeH="0" baseline="0">
                        <a:ln>
                          <a:noFill/>
                        </a:ln>
                        <a:solidFill>
                          <a:schemeClr val="tx1"/>
                        </a:solidFill>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2800" b="0" i="0" u="none" strike="noStrike" cap="none" normalizeH="0" baseline="0">
                        <a:ln>
                          <a:noFill/>
                        </a:ln>
                        <a:solidFill>
                          <a:schemeClr val="tx1"/>
                        </a:solidFill>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2800" b="0" i="0" u="none" strike="noStrike" cap="none" normalizeH="0" baseline="0">
                        <a:ln>
                          <a:noFill/>
                        </a:ln>
                        <a:solidFill>
                          <a:schemeClr val="tx1"/>
                        </a:solidFill>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2800" b="0" i="0" u="none" strike="noStrike" cap="none" normalizeH="0" baseline="0">
                        <a:ln>
                          <a:noFill/>
                        </a:ln>
                        <a:solidFill>
                          <a:schemeClr val="tx1"/>
                        </a:solidFill>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2800" b="0" i="0" u="none" strike="noStrike" cap="none" normalizeH="0" baseline="0" dirty="0">
                        <a:ln>
                          <a:noFill/>
                        </a:ln>
                        <a:solidFill>
                          <a:schemeClr val="tx1"/>
                        </a:solidFill>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
        <p:nvSpPr>
          <p:cNvPr id="30843" name="Line 121"/>
          <p:cNvSpPr>
            <a:spLocks noChangeShapeType="1"/>
          </p:cNvSpPr>
          <p:nvPr/>
        </p:nvSpPr>
        <p:spPr bwMode="auto">
          <a:xfrm>
            <a:off x="2771775" y="4005263"/>
            <a:ext cx="863600" cy="0"/>
          </a:xfrm>
          <a:prstGeom prst="line">
            <a:avLst/>
          </a:prstGeom>
          <a:noFill/>
          <a:ln w="38100">
            <a:solidFill>
              <a:schemeClr val="tx1"/>
            </a:solidFill>
            <a:round/>
            <a:headEnd/>
            <a:tailEnd/>
          </a:ln>
        </p:spPr>
        <p:txBody>
          <a:bodyPr/>
          <a:lstStyle/>
          <a:p>
            <a:endParaRPr lang="en-IE"/>
          </a:p>
        </p:txBody>
      </p:sp>
      <p:sp>
        <p:nvSpPr>
          <p:cNvPr id="30844" name="Line 122"/>
          <p:cNvSpPr>
            <a:spLocks noChangeShapeType="1"/>
          </p:cNvSpPr>
          <p:nvPr/>
        </p:nvSpPr>
        <p:spPr bwMode="auto">
          <a:xfrm flipV="1">
            <a:off x="3635375" y="3429000"/>
            <a:ext cx="792163" cy="576263"/>
          </a:xfrm>
          <a:prstGeom prst="line">
            <a:avLst/>
          </a:prstGeom>
          <a:noFill/>
          <a:ln w="38100">
            <a:solidFill>
              <a:schemeClr val="tx1"/>
            </a:solidFill>
            <a:round/>
            <a:headEnd/>
            <a:tailEnd type="triangle" w="med" len="med"/>
          </a:ln>
        </p:spPr>
        <p:txBody>
          <a:bodyPr/>
          <a:lstStyle/>
          <a:p>
            <a:endParaRPr lang="en-IE"/>
          </a:p>
        </p:txBody>
      </p:sp>
      <p:sp>
        <p:nvSpPr>
          <p:cNvPr id="30845" name="Line 123"/>
          <p:cNvSpPr>
            <a:spLocks noChangeShapeType="1"/>
          </p:cNvSpPr>
          <p:nvPr/>
        </p:nvSpPr>
        <p:spPr bwMode="auto">
          <a:xfrm>
            <a:off x="2700338" y="4005263"/>
            <a:ext cx="0" cy="1079500"/>
          </a:xfrm>
          <a:prstGeom prst="line">
            <a:avLst/>
          </a:prstGeom>
          <a:noFill/>
          <a:ln w="38100">
            <a:solidFill>
              <a:schemeClr val="tx1"/>
            </a:solidFill>
            <a:prstDash val="dash"/>
            <a:round/>
            <a:headEnd/>
            <a:tailEnd type="triangle" w="med" len="med"/>
          </a:ln>
        </p:spPr>
        <p:txBody>
          <a:bodyPr/>
          <a:lstStyle/>
          <a:p>
            <a:endParaRPr lang="en-IE"/>
          </a:p>
        </p:txBody>
      </p:sp>
      <p:sp>
        <p:nvSpPr>
          <p:cNvPr id="30846" name="Line 124"/>
          <p:cNvSpPr>
            <a:spLocks noChangeShapeType="1"/>
          </p:cNvSpPr>
          <p:nvPr/>
        </p:nvSpPr>
        <p:spPr bwMode="auto">
          <a:xfrm>
            <a:off x="4427538" y="3429000"/>
            <a:ext cx="3313112" cy="504825"/>
          </a:xfrm>
          <a:prstGeom prst="line">
            <a:avLst/>
          </a:prstGeom>
          <a:noFill/>
          <a:ln w="38100">
            <a:solidFill>
              <a:schemeClr val="tx1"/>
            </a:solidFill>
            <a:round/>
            <a:headEnd/>
            <a:tailEnd type="triangle" w="med" len="med"/>
          </a:ln>
        </p:spPr>
        <p:txBody>
          <a:bodyPr/>
          <a:lstStyle/>
          <a:p>
            <a:endParaRPr lang="en-IE"/>
          </a:p>
        </p:txBody>
      </p:sp>
      <p:sp>
        <p:nvSpPr>
          <p:cNvPr id="30847" name="Line 125"/>
          <p:cNvSpPr>
            <a:spLocks noChangeShapeType="1"/>
          </p:cNvSpPr>
          <p:nvPr/>
        </p:nvSpPr>
        <p:spPr bwMode="auto">
          <a:xfrm flipV="1">
            <a:off x="2700338" y="4005263"/>
            <a:ext cx="5040312" cy="1008062"/>
          </a:xfrm>
          <a:prstGeom prst="line">
            <a:avLst/>
          </a:prstGeom>
          <a:noFill/>
          <a:ln w="38100">
            <a:solidFill>
              <a:schemeClr val="tx1"/>
            </a:solidFill>
            <a:prstDash val="dash"/>
            <a:round/>
            <a:headEnd/>
            <a:tailEnd type="triangle" w="med" len="med"/>
          </a:ln>
        </p:spPr>
        <p:txBody>
          <a:bodyPr/>
          <a:lstStyle/>
          <a:p>
            <a:endParaRPr lang="en-IE"/>
          </a:p>
        </p:txBody>
      </p:sp>
      <p:sp>
        <p:nvSpPr>
          <p:cNvPr id="30848" name="Text Box 126"/>
          <p:cNvSpPr txBox="1">
            <a:spLocks noChangeArrowheads="1"/>
          </p:cNvSpPr>
          <p:nvPr/>
        </p:nvSpPr>
        <p:spPr bwMode="auto">
          <a:xfrm>
            <a:off x="2916238" y="3644900"/>
            <a:ext cx="630237" cy="366713"/>
          </a:xfrm>
          <a:prstGeom prst="rect">
            <a:avLst/>
          </a:prstGeom>
          <a:noFill/>
          <a:ln w="9525">
            <a:noFill/>
            <a:miter lim="800000"/>
            <a:headEnd/>
            <a:tailEnd/>
          </a:ln>
        </p:spPr>
        <p:txBody>
          <a:bodyPr wrap="none">
            <a:spAutoFit/>
          </a:bodyPr>
          <a:lstStyle/>
          <a:p>
            <a:r>
              <a:rPr lang="en-US" altLang="en-US"/>
              <a:t>1.00</a:t>
            </a:r>
          </a:p>
        </p:txBody>
      </p:sp>
      <p:sp>
        <p:nvSpPr>
          <p:cNvPr id="30849" name="Text Box 127"/>
          <p:cNvSpPr txBox="1">
            <a:spLocks noChangeArrowheads="1"/>
          </p:cNvSpPr>
          <p:nvPr/>
        </p:nvSpPr>
        <p:spPr bwMode="auto">
          <a:xfrm>
            <a:off x="3832225" y="3732213"/>
            <a:ext cx="630238" cy="366712"/>
          </a:xfrm>
          <a:prstGeom prst="rect">
            <a:avLst/>
          </a:prstGeom>
          <a:noFill/>
          <a:ln w="9525">
            <a:noFill/>
            <a:miter lim="800000"/>
            <a:headEnd/>
            <a:tailEnd/>
          </a:ln>
        </p:spPr>
        <p:txBody>
          <a:bodyPr wrap="none">
            <a:spAutoFit/>
          </a:bodyPr>
          <a:lstStyle/>
          <a:p>
            <a:r>
              <a:rPr lang="en-US" altLang="en-US"/>
              <a:t>1.41</a:t>
            </a:r>
          </a:p>
        </p:txBody>
      </p:sp>
      <p:sp>
        <p:nvSpPr>
          <p:cNvPr id="30850" name="Text Box 128"/>
          <p:cNvSpPr txBox="1">
            <a:spLocks noChangeArrowheads="1"/>
          </p:cNvSpPr>
          <p:nvPr/>
        </p:nvSpPr>
        <p:spPr bwMode="auto">
          <a:xfrm>
            <a:off x="6156325" y="3284538"/>
            <a:ext cx="630238" cy="366712"/>
          </a:xfrm>
          <a:prstGeom prst="rect">
            <a:avLst/>
          </a:prstGeom>
          <a:noFill/>
          <a:ln w="9525">
            <a:noFill/>
            <a:miter lim="800000"/>
            <a:headEnd/>
            <a:tailEnd/>
          </a:ln>
        </p:spPr>
        <p:txBody>
          <a:bodyPr wrap="none">
            <a:spAutoFit/>
          </a:bodyPr>
          <a:lstStyle/>
          <a:p>
            <a:r>
              <a:rPr lang="en-US" altLang="en-US"/>
              <a:t>4.12</a:t>
            </a:r>
          </a:p>
        </p:txBody>
      </p:sp>
      <p:sp>
        <p:nvSpPr>
          <p:cNvPr id="30851" name="Text Box 129"/>
          <p:cNvSpPr txBox="1">
            <a:spLocks noChangeArrowheads="1"/>
          </p:cNvSpPr>
          <p:nvPr/>
        </p:nvSpPr>
        <p:spPr bwMode="auto">
          <a:xfrm>
            <a:off x="1979613" y="4221163"/>
            <a:ext cx="630237" cy="366712"/>
          </a:xfrm>
          <a:prstGeom prst="rect">
            <a:avLst/>
          </a:prstGeom>
          <a:noFill/>
          <a:ln w="9525">
            <a:noFill/>
            <a:miter lim="800000"/>
            <a:headEnd/>
            <a:tailEnd/>
          </a:ln>
        </p:spPr>
        <p:txBody>
          <a:bodyPr wrap="none">
            <a:spAutoFit/>
          </a:bodyPr>
          <a:lstStyle/>
          <a:p>
            <a:r>
              <a:rPr lang="en-US" altLang="en-US"/>
              <a:t>2.00</a:t>
            </a:r>
          </a:p>
        </p:txBody>
      </p:sp>
      <p:sp>
        <p:nvSpPr>
          <p:cNvPr id="30852" name="Text Box 130"/>
          <p:cNvSpPr txBox="1">
            <a:spLocks noChangeArrowheads="1"/>
          </p:cNvSpPr>
          <p:nvPr/>
        </p:nvSpPr>
        <p:spPr bwMode="auto">
          <a:xfrm>
            <a:off x="5200650" y="4451350"/>
            <a:ext cx="630238" cy="366713"/>
          </a:xfrm>
          <a:prstGeom prst="rect">
            <a:avLst/>
          </a:prstGeom>
          <a:noFill/>
          <a:ln w="9525">
            <a:noFill/>
            <a:miter lim="800000"/>
            <a:headEnd/>
            <a:tailEnd/>
          </a:ln>
        </p:spPr>
        <p:txBody>
          <a:bodyPr wrap="none">
            <a:spAutoFit/>
          </a:bodyPr>
          <a:lstStyle/>
          <a:p>
            <a:r>
              <a:rPr lang="en-US" altLang="en-US"/>
              <a:t>6.32</a:t>
            </a:r>
          </a:p>
        </p:txBody>
      </p:sp>
      <p:sp>
        <p:nvSpPr>
          <p:cNvPr id="30853" name="Text Box 131"/>
          <p:cNvSpPr txBox="1">
            <a:spLocks noChangeArrowheads="1"/>
          </p:cNvSpPr>
          <p:nvPr/>
        </p:nvSpPr>
        <p:spPr bwMode="auto">
          <a:xfrm>
            <a:off x="976313" y="1341438"/>
            <a:ext cx="8059737" cy="915987"/>
          </a:xfrm>
          <a:prstGeom prst="rect">
            <a:avLst/>
          </a:prstGeom>
          <a:solidFill>
            <a:srgbClr val="00FFFF"/>
          </a:solidFill>
          <a:ln w="9525">
            <a:noFill/>
            <a:miter lim="800000"/>
            <a:headEnd/>
            <a:tailEnd/>
          </a:ln>
        </p:spPr>
        <p:txBody>
          <a:bodyPr wrap="none">
            <a:spAutoFit/>
          </a:bodyPr>
          <a:lstStyle/>
          <a:p>
            <a:r>
              <a:rPr lang="en-US" altLang="en-US"/>
              <a:t>Path 1 example: The function does not yet know the path from this cell to cell</a:t>
            </a:r>
          </a:p>
          <a:p>
            <a:r>
              <a:rPr lang="en-US" altLang="en-US"/>
              <a:t>G, so it estimates the length by using a straight line (4.12)</a:t>
            </a:r>
          </a:p>
          <a:p>
            <a:r>
              <a:rPr lang="en-US" altLang="en-US" b="1"/>
              <a:t>f(n) = 4.12 + 2.41 = 6.53</a:t>
            </a:r>
          </a:p>
        </p:txBody>
      </p:sp>
      <p:sp>
        <p:nvSpPr>
          <p:cNvPr id="30854" name="AutoShape 132"/>
          <p:cNvSpPr>
            <a:spLocks noChangeArrowheads="1"/>
          </p:cNvSpPr>
          <p:nvPr/>
        </p:nvSpPr>
        <p:spPr bwMode="auto">
          <a:xfrm>
            <a:off x="4211638" y="2276475"/>
            <a:ext cx="504825" cy="792163"/>
          </a:xfrm>
          <a:prstGeom prst="downArrow">
            <a:avLst>
              <a:gd name="adj1" fmla="val 50000"/>
              <a:gd name="adj2" fmla="val 39230"/>
            </a:avLst>
          </a:prstGeom>
          <a:solidFill>
            <a:schemeClr val="accent1"/>
          </a:solidFill>
          <a:ln w="9525">
            <a:solidFill>
              <a:schemeClr val="tx1"/>
            </a:solidFill>
            <a:miter lim="800000"/>
            <a:headEnd/>
            <a:tailEnd/>
          </a:ln>
        </p:spPr>
        <p:txBody>
          <a:bodyPr wrap="none" anchor="ctr"/>
          <a:lstStyle/>
          <a:p>
            <a:endParaRPr lang="en-IE" altLang="en-US"/>
          </a:p>
        </p:txBody>
      </p:sp>
      <p:sp>
        <p:nvSpPr>
          <p:cNvPr id="30855" name="Text Box 133"/>
          <p:cNvSpPr txBox="1">
            <a:spLocks noChangeArrowheads="1"/>
          </p:cNvSpPr>
          <p:nvPr/>
        </p:nvSpPr>
        <p:spPr bwMode="auto">
          <a:xfrm>
            <a:off x="827088" y="5740400"/>
            <a:ext cx="8059737" cy="915988"/>
          </a:xfrm>
          <a:prstGeom prst="rect">
            <a:avLst/>
          </a:prstGeom>
          <a:solidFill>
            <a:srgbClr val="00FFFF"/>
          </a:solidFill>
          <a:ln w="9525">
            <a:noFill/>
            <a:miter lim="800000"/>
            <a:headEnd/>
            <a:tailEnd/>
          </a:ln>
        </p:spPr>
        <p:txBody>
          <a:bodyPr wrap="none">
            <a:spAutoFit/>
          </a:bodyPr>
          <a:lstStyle/>
          <a:p>
            <a:r>
              <a:rPr lang="en-US" altLang="en-US"/>
              <a:t>Path 2 example: The function does not yet know the path from this cell to cell</a:t>
            </a:r>
          </a:p>
          <a:p>
            <a:r>
              <a:rPr lang="en-US" altLang="en-US"/>
              <a:t>G, so it estimates the length by using a straight line (6.32)</a:t>
            </a:r>
          </a:p>
          <a:p>
            <a:r>
              <a:rPr lang="en-US" altLang="en-US" b="1"/>
              <a:t>f(n) = 6.32 + 2.00 = 8.32</a:t>
            </a:r>
          </a:p>
        </p:txBody>
      </p:sp>
      <p:sp>
        <p:nvSpPr>
          <p:cNvPr id="30856" name="AutoShape 134"/>
          <p:cNvSpPr>
            <a:spLocks noChangeArrowheads="1"/>
          </p:cNvSpPr>
          <p:nvPr/>
        </p:nvSpPr>
        <p:spPr bwMode="auto">
          <a:xfrm>
            <a:off x="2555875" y="5300663"/>
            <a:ext cx="431800" cy="433387"/>
          </a:xfrm>
          <a:prstGeom prst="upArrow">
            <a:avLst>
              <a:gd name="adj1" fmla="val 50000"/>
              <a:gd name="adj2" fmla="val 25092"/>
            </a:avLst>
          </a:prstGeom>
          <a:solidFill>
            <a:schemeClr val="accent1"/>
          </a:solidFill>
          <a:ln w="9525">
            <a:solidFill>
              <a:schemeClr val="tx1"/>
            </a:solidFill>
            <a:miter lim="800000"/>
            <a:headEnd/>
            <a:tailEnd/>
          </a:ln>
        </p:spPr>
        <p:txBody>
          <a:bodyPr wrap="none" anchor="ctr"/>
          <a:lstStyle/>
          <a:p>
            <a:endParaRPr lang="en-IE"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AutoShape 2"/>
          <p:cNvSpPr>
            <a:spLocks noGrp="1" noChangeArrowheads="1"/>
          </p:cNvSpPr>
          <p:nvPr>
            <p:ph type="title"/>
          </p:nvPr>
        </p:nvSpPr>
        <p:spPr/>
        <p:txBody>
          <a:bodyPr/>
          <a:lstStyle/>
          <a:p>
            <a:r>
              <a:rPr lang="en-GB" sz="3600" b="1" dirty="0">
                <a:solidFill>
                  <a:schemeClr val="accent5">
                    <a:lumMod val="75000"/>
                  </a:schemeClr>
                </a:solidFill>
                <a:ea typeface="Calibri" pitchFamily="34" charset="0"/>
                <a:cs typeface="Calibri" pitchFamily="34" charset="0"/>
              </a:rPr>
              <a:t>A* Algorithm</a:t>
            </a:r>
          </a:p>
        </p:txBody>
      </p:sp>
      <p:sp>
        <p:nvSpPr>
          <p:cNvPr id="13315" name="Rectangle 3"/>
          <p:cNvSpPr>
            <a:spLocks noGrp="1" noChangeArrowheads="1"/>
          </p:cNvSpPr>
          <p:nvPr>
            <p:ph idx="1"/>
          </p:nvPr>
        </p:nvSpPr>
        <p:spPr/>
        <p:txBody>
          <a:bodyPr/>
          <a:lstStyle/>
          <a:p>
            <a:r>
              <a:rPr lang="en-GB" sz="2800" dirty="0"/>
              <a:t>For each node we store:</a:t>
            </a:r>
          </a:p>
          <a:p>
            <a:pPr lvl="1"/>
            <a:r>
              <a:rPr lang="en-GB" sz="2400" dirty="0"/>
              <a:t>F, G and H values (as </a:t>
            </a:r>
            <a:r>
              <a:rPr lang="en-GB" sz="2400" dirty="0" err="1"/>
              <a:t>struct</a:t>
            </a:r>
            <a:r>
              <a:rPr lang="en-GB" sz="2400" dirty="0"/>
              <a:t> or class)</a:t>
            </a:r>
          </a:p>
          <a:p>
            <a:pPr lvl="1"/>
            <a:r>
              <a:rPr lang="en-GB" sz="2400" dirty="0"/>
              <a:t>Pointer to Parent Node</a:t>
            </a:r>
          </a:p>
          <a:p>
            <a:pPr lvl="1"/>
            <a:endParaRPr lang="en-GB" sz="2400" dirty="0"/>
          </a:p>
          <a:p>
            <a:r>
              <a:rPr lang="en-GB" sz="2800" dirty="0"/>
              <a:t>If each node holds pointer to parent node then we can use this to trace path back through nodes</a:t>
            </a:r>
          </a:p>
        </p:txBody>
      </p:sp>
      <p:sp>
        <p:nvSpPr>
          <p:cNvPr id="4" name="Slide Number Placeholder 3"/>
          <p:cNvSpPr>
            <a:spLocks noGrp="1"/>
          </p:cNvSpPr>
          <p:nvPr>
            <p:ph type="sldNum" sz="quarter" idx="10"/>
          </p:nvPr>
        </p:nvSpPr>
        <p:spPr/>
        <p:txBody>
          <a:bodyPr/>
          <a:lstStyle/>
          <a:p>
            <a:pPr>
              <a:defRPr/>
            </a:pPr>
            <a:fld id="{84C9582D-2E31-434C-A6C1-A926DBB0B909}" type="slidenum">
              <a:rPr lang="en-IE" smtClean="0"/>
              <a:pPr>
                <a:defRPr/>
              </a:pPr>
              <a:t>5</a:t>
            </a:fld>
            <a:endParaRPr lang="en-IE"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AutoShape 2"/>
          <p:cNvSpPr>
            <a:spLocks noGrp="1" noChangeArrowheads="1"/>
          </p:cNvSpPr>
          <p:nvPr>
            <p:ph type="title"/>
          </p:nvPr>
        </p:nvSpPr>
        <p:spPr/>
        <p:txBody>
          <a:bodyPr/>
          <a:lstStyle/>
          <a:p>
            <a:r>
              <a:rPr lang="en-GB" sz="3600" b="1" dirty="0">
                <a:solidFill>
                  <a:schemeClr val="accent5">
                    <a:lumMod val="75000"/>
                  </a:schemeClr>
                </a:solidFill>
                <a:ea typeface="Calibri" pitchFamily="34" charset="0"/>
                <a:cs typeface="Calibri" pitchFamily="34" charset="0"/>
              </a:rPr>
              <a:t>A* Algorithm</a:t>
            </a:r>
          </a:p>
        </p:txBody>
      </p:sp>
      <p:sp>
        <p:nvSpPr>
          <p:cNvPr id="16387" name="Rectangle 3"/>
          <p:cNvSpPr>
            <a:spLocks noGrp="1" noChangeArrowheads="1"/>
          </p:cNvSpPr>
          <p:nvPr>
            <p:ph idx="1"/>
          </p:nvPr>
        </p:nvSpPr>
        <p:spPr/>
        <p:txBody>
          <a:bodyPr/>
          <a:lstStyle/>
          <a:p>
            <a:pPr>
              <a:lnSpc>
                <a:spcPct val="90000"/>
              </a:lnSpc>
            </a:pPr>
            <a:r>
              <a:rPr lang="en-GB" dirty="0"/>
              <a:t>We store two lists</a:t>
            </a:r>
          </a:p>
          <a:p>
            <a:pPr lvl="1">
              <a:lnSpc>
                <a:spcPct val="90000"/>
              </a:lnSpc>
            </a:pPr>
            <a:r>
              <a:rPr lang="en-GB" dirty="0"/>
              <a:t>Open List</a:t>
            </a:r>
          </a:p>
          <a:p>
            <a:pPr lvl="2">
              <a:lnSpc>
                <a:spcPct val="90000"/>
              </a:lnSpc>
            </a:pPr>
            <a:r>
              <a:rPr lang="en-GB" dirty="0"/>
              <a:t>Nodes with all successors not yet checked</a:t>
            </a:r>
          </a:p>
          <a:p>
            <a:pPr lvl="1">
              <a:lnSpc>
                <a:spcPct val="90000"/>
              </a:lnSpc>
            </a:pPr>
            <a:r>
              <a:rPr lang="en-GB" dirty="0"/>
              <a:t>Closed List</a:t>
            </a:r>
          </a:p>
          <a:p>
            <a:pPr lvl="2">
              <a:lnSpc>
                <a:spcPct val="90000"/>
              </a:lnSpc>
            </a:pPr>
            <a:r>
              <a:rPr lang="en-GB" dirty="0"/>
              <a:t>Nodes with all successors already checked</a:t>
            </a:r>
          </a:p>
          <a:p>
            <a:pPr>
              <a:lnSpc>
                <a:spcPct val="90000"/>
              </a:lnSpc>
            </a:pPr>
            <a:r>
              <a:rPr lang="en-GB" dirty="0"/>
              <a:t>These are linked lists of Node </a:t>
            </a:r>
            <a:r>
              <a:rPr lang="en-GB" dirty="0" err="1"/>
              <a:t>structs</a:t>
            </a:r>
            <a:r>
              <a:rPr lang="en-GB" dirty="0"/>
              <a:t> (or classes)</a:t>
            </a:r>
          </a:p>
          <a:p>
            <a:pPr>
              <a:lnSpc>
                <a:spcPct val="90000"/>
              </a:lnSpc>
            </a:pPr>
            <a:r>
              <a:rPr lang="en-GB" dirty="0"/>
              <a:t>They should be (will be) sorted!</a:t>
            </a:r>
          </a:p>
          <a:p>
            <a:pPr lvl="1">
              <a:lnSpc>
                <a:spcPct val="90000"/>
              </a:lnSpc>
            </a:pPr>
            <a:r>
              <a:rPr lang="en-GB" dirty="0"/>
              <a:t>Faster retrieval of best path</a:t>
            </a:r>
          </a:p>
        </p:txBody>
      </p:sp>
      <p:sp>
        <p:nvSpPr>
          <p:cNvPr id="4" name="Slide Number Placeholder 3"/>
          <p:cNvSpPr>
            <a:spLocks noGrp="1"/>
          </p:cNvSpPr>
          <p:nvPr>
            <p:ph type="sldNum" sz="quarter" idx="10"/>
          </p:nvPr>
        </p:nvSpPr>
        <p:spPr/>
        <p:txBody>
          <a:bodyPr/>
          <a:lstStyle/>
          <a:p>
            <a:pPr>
              <a:defRPr/>
            </a:pPr>
            <a:fld id="{84C9582D-2E31-434C-A6C1-A926DBB0B909}" type="slidenum">
              <a:rPr lang="en-IE" smtClean="0"/>
              <a:pPr>
                <a:defRPr/>
              </a:pPr>
              <a:t>6</a:t>
            </a:fld>
            <a:endParaRPr lang="en-IE"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AutoShape 2"/>
          <p:cNvSpPr>
            <a:spLocks noGrp="1" noChangeArrowheads="1"/>
          </p:cNvSpPr>
          <p:nvPr>
            <p:ph type="title"/>
          </p:nvPr>
        </p:nvSpPr>
        <p:spPr/>
        <p:txBody>
          <a:bodyPr/>
          <a:lstStyle/>
          <a:p>
            <a:r>
              <a:rPr lang="en-GB" sz="3600" b="1" dirty="0">
                <a:solidFill>
                  <a:schemeClr val="accent5">
                    <a:lumMod val="75000"/>
                  </a:schemeClr>
                </a:solidFill>
                <a:ea typeface="Calibri" pitchFamily="34" charset="0"/>
                <a:cs typeface="Calibri" pitchFamily="34" charset="0"/>
              </a:rPr>
              <a:t>A* Algorithm</a:t>
            </a:r>
          </a:p>
        </p:txBody>
      </p:sp>
      <p:sp>
        <p:nvSpPr>
          <p:cNvPr id="15363" name="Rectangle 3"/>
          <p:cNvSpPr>
            <a:spLocks noGrp="1" noChangeArrowheads="1"/>
          </p:cNvSpPr>
          <p:nvPr>
            <p:ph idx="1"/>
          </p:nvPr>
        </p:nvSpPr>
        <p:spPr/>
        <p:txBody>
          <a:bodyPr/>
          <a:lstStyle/>
          <a:p>
            <a:r>
              <a:rPr lang="en-GB" sz="2800" dirty="0"/>
              <a:t>Start by setting up our variables</a:t>
            </a:r>
          </a:p>
          <a:p>
            <a:pPr lvl="1"/>
            <a:r>
              <a:rPr lang="en-GB" sz="2400" dirty="0"/>
              <a:t>Assign F, G and H values to start node</a:t>
            </a:r>
          </a:p>
          <a:p>
            <a:pPr lvl="2"/>
            <a:r>
              <a:rPr lang="en-GB" sz="2000" dirty="0"/>
              <a:t>How?</a:t>
            </a:r>
          </a:p>
          <a:p>
            <a:pPr lvl="1"/>
            <a:r>
              <a:rPr lang="en-GB" sz="2400" dirty="0"/>
              <a:t>Initialise closed-list to empty</a:t>
            </a:r>
          </a:p>
          <a:p>
            <a:pPr lvl="2"/>
            <a:r>
              <a:rPr lang="en-GB" sz="2000" dirty="0"/>
              <a:t>No nodes checked yet</a:t>
            </a:r>
          </a:p>
          <a:p>
            <a:pPr lvl="1"/>
            <a:r>
              <a:rPr lang="en-GB" sz="2400" dirty="0"/>
              <a:t>Add start node to open-list</a:t>
            </a:r>
          </a:p>
          <a:p>
            <a:pPr lvl="2"/>
            <a:r>
              <a:rPr lang="en-GB" sz="2000" dirty="0"/>
              <a:t>Starting point of search</a:t>
            </a:r>
          </a:p>
          <a:p>
            <a:r>
              <a:rPr lang="en-GB" sz="2800" dirty="0"/>
              <a:t>Then begin search loop (see next slide)</a:t>
            </a:r>
          </a:p>
        </p:txBody>
      </p:sp>
      <p:sp>
        <p:nvSpPr>
          <p:cNvPr id="4" name="Slide Number Placeholder 3"/>
          <p:cNvSpPr>
            <a:spLocks noGrp="1"/>
          </p:cNvSpPr>
          <p:nvPr>
            <p:ph type="sldNum" sz="quarter" idx="10"/>
          </p:nvPr>
        </p:nvSpPr>
        <p:spPr/>
        <p:txBody>
          <a:bodyPr/>
          <a:lstStyle/>
          <a:p>
            <a:pPr>
              <a:defRPr/>
            </a:pPr>
            <a:fld id="{84C9582D-2E31-434C-A6C1-A926DBB0B909}" type="slidenum">
              <a:rPr lang="en-IE" smtClean="0"/>
              <a:pPr>
                <a:defRPr/>
              </a:pPr>
              <a:t>7</a:t>
            </a:fld>
            <a:endParaRPr lang="en-IE"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AutoShape 2"/>
          <p:cNvSpPr>
            <a:spLocks noGrp="1" noChangeArrowheads="1"/>
          </p:cNvSpPr>
          <p:nvPr>
            <p:ph type="title"/>
          </p:nvPr>
        </p:nvSpPr>
        <p:spPr/>
        <p:txBody>
          <a:bodyPr/>
          <a:lstStyle/>
          <a:p>
            <a:r>
              <a:rPr lang="en-GB" sz="3600" b="1" dirty="0">
                <a:solidFill>
                  <a:schemeClr val="accent5">
                    <a:lumMod val="75000"/>
                  </a:schemeClr>
                </a:solidFill>
                <a:ea typeface="Calibri" pitchFamily="34" charset="0"/>
                <a:cs typeface="Calibri" pitchFamily="34" charset="0"/>
              </a:rPr>
              <a:t>A* Algorithm</a:t>
            </a:r>
          </a:p>
        </p:txBody>
      </p:sp>
      <p:sp>
        <p:nvSpPr>
          <p:cNvPr id="18435" name="Rectangle 3"/>
          <p:cNvSpPr>
            <a:spLocks noGrp="1" noChangeArrowheads="1"/>
          </p:cNvSpPr>
          <p:nvPr>
            <p:ph idx="1"/>
          </p:nvPr>
        </p:nvSpPr>
        <p:spPr/>
        <p:txBody>
          <a:bodyPr>
            <a:normAutofit/>
          </a:bodyPr>
          <a:lstStyle/>
          <a:p>
            <a:pPr>
              <a:lnSpc>
                <a:spcPct val="80000"/>
              </a:lnSpc>
              <a:buNone/>
            </a:pPr>
            <a:r>
              <a:rPr lang="en-GB" sz="2400" b="1" dirty="0"/>
              <a:t>Repeat</a:t>
            </a:r>
          </a:p>
          <a:p>
            <a:pPr lvl="1">
              <a:lnSpc>
                <a:spcPct val="80000"/>
              </a:lnSpc>
              <a:buNone/>
            </a:pPr>
            <a:r>
              <a:rPr lang="en-GB" sz="2400" dirty="0"/>
              <a:t>Take best node B from open list</a:t>
            </a:r>
          </a:p>
          <a:p>
            <a:pPr lvl="1">
              <a:lnSpc>
                <a:spcPct val="80000"/>
              </a:lnSpc>
              <a:buNone/>
            </a:pPr>
            <a:r>
              <a:rPr lang="en-GB" sz="2400" b="1" dirty="0"/>
              <a:t>If</a:t>
            </a:r>
            <a:r>
              <a:rPr lang="en-GB" sz="2400" dirty="0"/>
              <a:t> open list is empty </a:t>
            </a:r>
            <a:r>
              <a:rPr lang="en-GB" sz="2400" b="1" dirty="0"/>
              <a:t>then</a:t>
            </a:r>
            <a:r>
              <a:rPr lang="en-GB" sz="2400" dirty="0"/>
              <a:t> there is no solution</a:t>
            </a:r>
          </a:p>
          <a:p>
            <a:pPr lvl="1">
              <a:lnSpc>
                <a:spcPct val="80000"/>
              </a:lnSpc>
              <a:buNone/>
            </a:pPr>
            <a:r>
              <a:rPr lang="en-GB" sz="2400" b="1" dirty="0"/>
              <a:t>If</a:t>
            </a:r>
            <a:r>
              <a:rPr lang="en-GB" sz="2400" dirty="0"/>
              <a:t> b == Goal </a:t>
            </a:r>
            <a:r>
              <a:rPr lang="en-GB" sz="2400" b="1" dirty="0"/>
              <a:t>then</a:t>
            </a:r>
            <a:r>
              <a:rPr lang="en-GB" sz="2400" dirty="0"/>
              <a:t> solution found</a:t>
            </a:r>
          </a:p>
          <a:p>
            <a:pPr lvl="1">
              <a:lnSpc>
                <a:spcPct val="80000"/>
              </a:lnSpc>
              <a:buNone/>
            </a:pPr>
            <a:r>
              <a:rPr lang="en-GB" sz="2400" b="1" dirty="0"/>
              <a:t>For each</a:t>
            </a:r>
            <a:r>
              <a:rPr lang="en-GB" sz="2400" dirty="0"/>
              <a:t> node N connected to B:</a:t>
            </a:r>
            <a:endParaRPr lang="en-GB" sz="2400" b="1" dirty="0"/>
          </a:p>
          <a:p>
            <a:pPr lvl="2">
              <a:lnSpc>
                <a:spcPct val="80000"/>
              </a:lnSpc>
              <a:buNone/>
            </a:pPr>
            <a:r>
              <a:rPr lang="en-GB" dirty="0"/>
              <a:t> Assign F, G and H values for N</a:t>
            </a:r>
          </a:p>
          <a:p>
            <a:pPr lvl="2">
              <a:lnSpc>
                <a:spcPct val="80000"/>
              </a:lnSpc>
              <a:buNone/>
            </a:pPr>
            <a:r>
              <a:rPr lang="en-GB" dirty="0"/>
              <a:t> </a:t>
            </a:r>
            <a:r>
              <a:rPr lang="en-GB" b="1" dirty="0"/>
              <a:t>If</a:t>
            </a:r>
            <a:r>
              <a:rPr lang="en-GB" dirty="0"/>
              <a:t> N is in open or closed list </a:t>
            </a:r>
            <a:r>
              <a:rPr lang="en-GB" b="1" dirty="0"/>
              <a:t>then</a:t>
            </a:r>
          </a:p>
          <a:p>
            <a:pPr lvl="3">
              <a:lnSpc>
                <a:spcPct val="80000"/>
              </a:lnSpc>
              <a:buNone/>
            </a:pPr>
            <a:r>
              <a:rPr lang="en-GB" sz="2400" b="1" dirty="0"/>
              <a:t>If</a:t>
            </a:r>
            <a:r>
              <a:rPr lang="en-GB" sz="2400" dirty="0"/>
              <a:t> new Path is better </a:t>
            </a:r>
            <a:r>
              <a:rPr lang="en-GB" sz="2400" b="1" dirty="0"/>
              <a:t>then</a:t>
            </a:r>
          </a:p>
          <a:p>
            <a:pPr lvl="4">
              <a:lnSpc>
                <a:spcPct val="80000"/>
              </a:lnSpc>
              <a:buNone/>
            </a:pPr>
            <a:r>
              <a:rPr lang="en-GB" sz="2400" dirty="0"/>
              <a:t>Replace old entry for N with new one</a:t>
            </a:r>
            <a:endParaRPr lang="en-GB" sz="2400" b="1" dirty="0"/>
          </a:p>
          <a:p>
            <a:pPr lvl="3">
              <a:lnSpc>
                <a:spcPct val="80000"/>
              </a:lnSpc>
              <a:buNone/>
            </a:pPr>
            <a:r>
              <a:rPr lang="en-GB" sz="2400" b="1" dirty="0"/>
              <a:t>Else</a:t>
            </a:r>
            <a:r>
              <a:rPr lang="en-GB" sz="2400" b="1" baseline="0" dirty="0"/>
              <a:t> </a:t>
            </a:r>
          </a:p>
          <a:p>
            <a:pPr lvl="3">
              <a:lnSpc>
                <a:spcPct val="80000"/>
              </a:lnSpc>
              <a:buNone/>
            </a:pPr>
            <a:r>
              <a:rPr lang="en-GB" sz="2400" b="1" dirty="0"/>
              <a:t>	   </a:t>
            </a:r>
            <a:r>
              <a:rPr lang="en-GB" sz="2400" dirty="0"/>
              <a:t>Add N to open list</a:t>
            </a:r>
            <a:endParaRPr lang="en-GB" sz="2400" b="1" dirty="0"/>
          </a:p>
          <a:p>
            <a:pPr lvl="2">
              <a:lnSpc>
                <a:spcPct val="80000"/>
              </a:lnSpc>
              <a:buNone/>
            </a:pPr>
            <a:r>
              <a:rPr lang="en-GB" dirty="0"/>
              <a:t>Add B to Closed List</a:t>
            </a:r>
          </a:p>
        </p:txBody>
      </p:sp>
      <p:sp>
        <p:nvSpPr>
          <p:cNvPr id="4" name="Slide Number Placeholder 3"/>
          <p:cNvSpPr>
            <a:spLocks noGrp="1"/>
          </p:cNvSpPr>
          <p:nvPr>
            <p:ph type="sldNum" sz="quarter" idx="10"/>
          </p:nvPr>
        </p:nvSpPr>
        <p:spPr/>
        <p:txBody>
          <a:bodyPr/>
          <a:lstStyle/>
          <a:p>
            <a:pPr>
              <a:defRPr/>
            </a:pPr>
            <a:fld id="{84C9582D-2E31-434C-A6C1-A926DBB0B909}" type="slidenum">
              <a:rPr lang="en-IE" smtClean="0"/>
              <a:pPr>
                <a:defRPr/>
              </a:pPr>
              <a:t>8</a:t>
            </a:fld>
            <a:endParaRPr lang="en-IE"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AutoShape 2"/>
          <p:cNvSpPr>
            <a:spLocks noGrp="1" noChangeArrowheads="1"/>
          </p:cNvSpPr>
          <p:nvPr>
            <p:ph type="title"/>
          </p:nvPr>
        </p:nvSpPr>
        <p:spPr/>
        <p:txBody>
          <a:bodyPr/>
          <a:lstStyle/>
          <a:p>
            <a:r>
              <a:rPr lang="en-GB" sz="3600" b="1" dirty="0">
                <a:solidFill>
                  <a:schemeClr val="accent5">
                    <a:lumMod val="75000"/>
                  </a:schemeClr>
                </a:solidFill>
                <a:ea typeface="Calibri" pitchFamily="34" charset="0"/>
                <a:cs typeface="Calibri" pitchFamily="34" charset="0"/>
              </a:rPr>
              <a:t>A* Search</a:t>
            </a:r>
          </a:p>
        </p:txBody>
      </p:sp>
      <p:sp>
        <p:nvSpPr>
          <p:cNvPr id="19459" name="Rectangle 3"/>
          <p:cNvSpPr>
            <a:spLocks noGrp="1" noChangeArrowheads="1"/>
          </p:cNvSpPr>
          <p:nvPr>
            <p:ph idx="1"/>
          </p:nvPr>
        </p:nvSpPr>
        <p:spPr/>
        <p:txBody>
          <a:bodyPr>
            <a:normAutofit/>
          </a:bodyPr>
          <a:lstStyle/>
          <a:p>
            <a:r>
              <a:rPr lang="en-GB" sz="2400" dirty="0"/>
              <a:t>Used for path finding in EVERY game</a:t>
            </a:r>
          </a:p>
          <a:p>
            <a:r>
              <a:rPr lang="en-GB" sz="2400" dirty="0"/>
              <a:t>How do we find an appropriate Heuristic?</a:t>
            </a:r>
          </a:p>
          <a:p>
            <a:pPr lvl="1"/>
            <a:r>
              <a:rPr lang="en-GB" sz="2000" dirty="0"/>
              <a:t>Problem Dependent</a:t>
            </a:r>
          </a:p>
          <a:p>
            <a:r>
              <a:rPr lang="en-GB" sz="2400" dirty="0"/>
              <a:t>For Geographical search</a:t>
            </a:r>
          </a:p>
          <a:p>
            <a:pPr lvl="1"/>
            <a:r>
              <a:rPr lang="en-GB" sz="2000" dirty="0"/>
              <a:t>Use straight line distance from current node to goal</a:t>
            </a:r>
          </a:p>
          <a:p>
            <a:pPr lvl="2"/>
            <a:r>
              <a:rPr lang="en-GB" sz="1800" dirty="0"/>
              <a:t>Always less that actual value but sometimes very close!</a:t>
            </a:r>
          </a:p>
          <a:p>
            <a:r>
              <a:rPr lang="en-GB" sz="2400" dirty="0"/>
              <a:t>Edges can have weights attached</a:t>
            </a:r>
          </a:p>
          <a:p>
            <a:pPr lvl="1"/>
            <a:r>
              <a:rPr lang="en-GB" sz="2000" dirty="0"/>
              <a:t>e.g. Paving &lt; Grass &lt; Forest &lt; Swamp &lt; etc.</a:t>
            </a:r>
          </a:p>
        </p:txBody>
      </p:sp>
      <p:sp>
        <p:nvSpPr>
          <p:cNvPr id="4" name="Slide Number Placeholder 3"/>
          <p:cNvSpPr>
            <a:spLocks noGrp="1"/>
          </p:cNvSpPr>
          <p:nvPr>
            <p:ph type="sldNum" sz="quarter" idx="10"/>
          </p:nvPr>
        </p:nvSpPr>
        <p:spPr/>
        <p:txBody>
          <a:bodyPr/>
          <a:lstStyle/>
          <a:p>
            <a:pPr>
              <a:defRPr/>
            </a:pPr>
            <a:fld id="{84C9582D-2E31-434C-A6C1-A926DBB0B909}" type="slidenum">
              <a:rPr lang="en-IE" smtClean="0"/>
              <a:pPr>
                <a:defRPr/>
              </a:pPr>
              <a:t>9</a:t>
            </a:fld>
            <a:endParaRPr lang="en-IE"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8" name="Rectangle 2"/>
          <p:cNvSpPr>
            <a:spLocks noGrp="1" noChangeArrowheads="1"/>
          </p:cNvSpPr>
          <p:nvPr>
            <p:ph type="title"/>
          </p:nvPr>
        </p:nvSpPr>
        <p:spPr/>
        <p:txBody>
          <a:bodyPr/>
          <a:lstStyle/>
          <a:p>
            <a:pPr eaLnBrk="1" hangingPunct="1"/>
            <a:r>
              <a:rPr lang="en-US" altLang="en-US" sz="3600" b="1" dirty="0">
                <a:solidFill>
                  <a:schemeClr val="accent5">
                    <a:lumMod val="75000"/>
                  </a:schemeClr>
                </a:solidFill>
                <a:ea typeface="Calibri" pitchFamily="34" charset="0"/>
                <a:cs typeface="Calibri" pitchFamily="34" charset="0"/>
              </a:rPr>
              <a:t>Pathfinding</a:t>
            </a:r>
          </a:p>
        </p:txBody>
      </p:sp>
      <p:pic>
        <p:nvPicPr>
          <p:cNvPr id="67589" name="Picture 7" descr="dijkstra%20graph"/>
          <p:cNvPicPr>
            <a:picLocks noChangeAspect="1" noChangeArrowheads="1"/>
          </p:cNvPicPr>
          <p:nvPr/>
        </p:nvPicPr>
        <p:blipFill>
          <a:blip r:embed="rId3" cstate="print"/>
          <a:srcRect/>
          <a:stretch>
            <a:fillRect/>
          </a:stretch>
        </p:blipFill>
        <p:spPr bwMode="auto">
          <a:xfrm>
            <a:off x="539750" y="1629569"/>
            <a:ext cx="3887788" cy="3078163"/>
          </a:xfrm>
          <a:prstGeom prst="rect">
            <a:avLst/>
          </a:prstGeom>
          <a:noFill/>
          <a:ln w="9525">
            <a:noFill/>
            <a:miter lim="800000"/>
            <a:headEnd/>
            <a:tailEnd/>
          </a:ln>
        </p:spPr>
      </p:pic>
      <p:pic>
        <p:nvPicPr>
          <p:cNvPr id="67590" name="Picture 8" descr="astar%20graph"/>
          <p:cNvPicPr>
            <a:picLocks noChangeAspect="1" noChangeArrowheads="1"/>
          </p:cNvPicPr>
          <p:nvPr/>
        </p:nvPicPr>
        <p:blipFill>
          <a:blip r:embed="rId4" cstate="print"/>
          <a:srcRect/>
          <a:stretch>
            <a:fillRect/>
          </a:stretch>
        </p:blipFill>
        <p:spPr bwMode="auto">
          <a:xfrm>
            <a:off x="4859338" y="1629569"/>
            <a:ext cx="3889375" cy="3079750"/>
          </a:xfrm>
          <a:prstGeom prst="rect">
            <a:avLst/>
          </a:prstGeom>
          <a:noFill/>
          <a:ln w="9525">
            <a:noFill/>
            <a:miter lim="800000"/>
            <a:headEnd/>
            <a:tailEnd/>
          </a:ln>
        </p:spPr>
      </p:pic>
      <p:sp>
        <p:nvSpPr>
          <p:cNvPr id="67591" name="Text Box 9"/>
          <p:cNvSpPr txBox="1">
            <a:spLocks noChangeArrowheads="1"/>
          </p:cNvSpPr>
          <p:nvPr/>
        </p:nvSpPr>
        <p:spPr bwMode="auto">
          <a:xfrm>
            <a:off x="971550" y="1124744"/>
            <a:ext cx="6034024" cy="369332"/>
          </a:xfrm>
          <a:prstGeom prst="rect">
            <a:avLst/>
          </a:prstGeom>
          <a:solidFill>
            <a:srgbClr val="00FFFF"/>
          </a:solidFill>
          <a:ln w="9525">
            <a:noFill/>
            <a:miter lim="800000"/>
            <a:headEnd/>
            <a:tailEnd/>
          </a:ln>
        </p:spPr>
        <p:txBody>
          <a:bodyPr wrap="none">
            <a:spAutoFit/>
          </a:bodyPr>
          <a:lstStyle/>
          <a:p>
            <a:r>
              <a:rPr lang="en-US" altLang="en-US" dirty="0" err="1">
                <a:latin typeface="+mn-lt"/>
              </a:rPr>
              <a:t>Dijkstra’s</a:t>
            </a:r>
            <a:r>
              <a:rPr lang="en-US" altLang="en-US" dirty="0">
                <a:latin typeface="+mn-lt"/>
              </a:rPr>
              <a:t> Algorithm				A* Algorithm</a:t>
            </a:r>
          </a:p>
        </p:txBody>
      </p:sp>
      <p:sp>
        <p:nvSpPr>
          <p:cNvPr id="67592" name="Text Box 10"/>
          <p:cNvSpPr txBox="1">
            <a:spLocks noChangeArrowheads="1"/>
          </p:cNvSpPr>
          <p:nvPr/>
        </p:nvSpPr>
        <p:spPr bwMode="auto">
          <a:xfrm>
            <a:off x="1023938" y="5028407"/>
            <a:ext cx="5952335" cy="646331"/>
          </a:xfrm>
          <a:prstGeom prst="rect">
            <a:avLst/>
          </a:prstGeom>
          <a:solidFill>
            <a:srgbClr val="00FFFF"/>
          </a:solidFill>
          <a:ln w="9525">
            <a:noFill/>
            <a:miter lim="800000"/>
            <a:headEnd/>
            <a:tailEnd/>
          </a:ln>
        </p:spPr>
        <p:txBody>
          <a:bodyPr wrap="none">
            <a:spAutoFit/>
          </a:bodyPr>
          <a:lstStyle/>
          <a:p>
            <a:r>
              <a:rPr lang="en-US" altLang="en-US" dirty="0">
                <a:latin typeface="+mn-lt"/>
              </a:rPr>
              <a:t>A* is a directed algorithm (</a:t>
            </a:r>
            <a:r>
              <a:rPr lang="en-US" altLang="en-US" dirty="0" err="1">
                <a:latin typeface="+mn-lt"/>
              </a:rPr>
              <a:t>Dijkstra’s</a:t>
            </a:r>
            <a:r>
              <a:rPr lang="en-US" altLang="en-US" dirty="0">
                <a:latin typeface="+mn-lt"/>
              </a:rPr>
              <a:t> is undirected), so </a:t>
            </a:r>
          </a:p>
          <a:p>
            <a:r>
              <a:rPr lang="en-US" altLang="en-US" dirty="0">
                <a:latin typeface="+mn-lt"/>
              </a:rPr>
              <a:t>A* searches much less area and the result is faster searching. </a:t>
            </a:r>
          </a:p>
        </p:txBody>
      </p:sp>
      <p:sp>
        <p:nvSpPr>
          <p:cNvPr id="9" name="Slide Number Placeholder 8"/>
          <p:cNvSpPr>
            <a:spLocks noGrp="1"/>
          </p:cNvSpPr>
          <p:nvPr>
            <p:ph type="sldNum" sz="quarter" idx="10"/>
          </p:nvPr>
        </p:nvSpPr>
        <p:spPr/>
        <p:txBody>
          <a:bodyPr/>
          <a:lstStyle/>
          <a:p>
            <a:pPr>
              <a:defRPr/>
            </a:pPr>
            <a:fld id="{84C9582D-2E31-434C-A6C1-A926DBB0B909}" type="slidenum">
              <a:rPr lang="en-IE" smtClean="0"/>
              <a:pPr>
                <a:defRPr/>
              </a:pPr>
              <a:t>10</a:t>
            </a:fld>
            <a:endParaRPr lang="en-IE" dirty="0"/>
          </a:p>
        </p:txBody>
      </p:sp>
      <p:sp>
        <p:nvSpPr>
          <p:cNvPr id="10" name="Text Box 10"/>
          <p:cNvSpPr txBox="1">
            <a:spLocks noChangeArrowheads="1"/>
          </p:cNvSpPr>
          <p:nvPr/>
        </p:nvSpPr>
        <p:spPr bwMode="auto">
          <a:xfrm>
            <a:off x="995929" y="5807005"/>
            <a:ext cx="4001095" cy="369332"/>
          </a:xfrm>
          <a:prstGeom prst="rect">
            <a:avLst/>
          </a:prstGeom>
          <a:solidFill>
            <a:srgbClr val="00FFFF"/>
          </a:solidFill>
          <a:ln w="9525">
            <a:noFill/>
            <a:miter lim="800000"/>
            <a:headEnd/>
            <a:tailEnd/>
          </a:ln>
        </p:spPr>
        <p:txBody>
          <a:bodyPr wrap="none">
            <a:spAutoFit/>
          </a:bodyPr>
          <a:lstStyle/>
          <a:p>
            <a:r>
              <a:rPr lang="en-US" altLang="en-US" dirty="0">
                <a:latin typeface="+mn-lt"/>
              </a:rPr>
              <a:t>When might </a:t>
            </a:r>
            <a:r>
              <a:rPr lang="en-US" altLang="en-US" dirty="0" err="1">
                <a:latin typeface="+mn-lt"/>
              </a:rPr>
              <a:t>Dijkstra’s</a:t>
            </a:r>
            <a:r>
              <a:rPr lang="en-US" altLang="en-US" dirty="0">
                <a:latin typeface="+mn-lt"/>
              </a:rPr>
              <a:t>  outperform  A*?</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AutoShape 2"/>
          <p:cNvSpPr>
            <a:spLocks noGrp="1" noChangeArrowheads="1"/>
          </p:cNvSpPr>
          <p:nvPr>
            <p:ph type="title"/>
          </p:nvPr>
        </p:nvSpPr>
        <p:spPr>
          <a:xfrm>
            <a:off x="457200" y="274638"/>
            <a:ext cx="7067550" cy="706090"/>
          </a:xfrm>
        </p:spPr>
        <p:txBody>
          <a:bodyPr/>
          <a:lstStyle/>
          <a:p>
            <a:r>
              <a:rPr lang="en-GB" sz="3600" b="1" dirty="0">
                <a:solidFill>
                  <a:schemeClr val="accent5">
                    <a:lumMod val="75000"/>
                  </a:schemeClr>
                </a:solidFill>
                <a:ea typeface="Calibri" pitchFamily="34" charset="0"/>
                <a:cs typeface="Calibri" pitchFamily="34" charset="0"/>
              </a:rPr>
              <a:t>A* Search - Enhancements</a:t>
            </a:r>
          </a:p>
        </p:txBody>
      </p:sp>
      <p:sp>
        <p:nvSpPr>
          <p:cNvPr id="19459" name="Rectangle 3"/>
          <p:cNvSpPr>
            <a:spLocks noGrp="1" noChangeArrowheads="1"/>
          </p:cNvSpPr>
          <p:nvPr>
            <p:ph idx="1"/>
          </p:nvPr>
        </p:nvSpPr>
        <p:spPr/>
        <p:txBody>
          <a:bodyPr>
            <a:normAutofit fontScale="92500" lnSpcReduction="20000"/>
          </a:bodyPr>
          <a:lstStyle/>
          <a:p>
            <a:r>
              <a:rPr lang="en-GB" sz="2400" dirty="0"/>
              <a:t>Typically, Open and Closed lists composed of </a:t>
            </a:r>
            <a:r>
              <a:rPr lang="en-GB" sz="2400" dirty="0" err="1"/>
              <a:t>NodeRecords</a:t>
            </a:r>
            <a:endParaRPr lang="en-GB" sz="2400" dirty="0"/>
          </a:p>
          <a:p>
            <a:pPr>
              <a:buNone/>
            </a:pPr>
            <a:r>
              <a:rPr lang="en-GB" sz="2000" dirty="0"/>
              <a:t>		</a:t>
            </a:r>
            <a:r>
              <a:rPr lang="en-GB" sz="2000" dirty="0" err="1">
                <a:latin typeface="Courier New" pitchFamily="49" charset="0"/>
                <a:cs typeface="Courier New" pitchFamily="49" charset="0"/>
              </a:rPr>
              <a:t>Struct</a:t>
            </a:r>
            <a:r>
              <a:rPr lang="en-GB" sz="2000" dirty="0">
                <a:latin typeface="Courier New" pitchFamily="49" charset="0"/>
                <a:cs typeface="Courier New" pitchFamily="49" charset="0"/>
              </a:rPr>
              <a:t> </a:t>
            </a:r>
            <a:r>
              <a:rPr lang="en-GB" sz="2000" dirty="0" err="1">
                <a:latin typeface="Courier New" pitchFamily="49" charset="0"/>
                <a:cs typeface="Courier New" pitchFamily="49" charset="0"/>
              </a:rPr>
              <a:t>NodeRecord</a:t>
            </a:r>
            <a:r>
              <a:rPr lang="en-GB" sz="2000" dirty="0">
                <a:latin typeface="Courier New" pitchFamily="49" charset="0"/>
                <a:cs typeface="Courier New" pitchFamily="49" charset="0"/>
              </a:rPr>
              <a:t>:</a:t>
            </a:r>
          </a:p>
          <a:p>
            <a:pPr lvl="1">
              <a:buNone/>
            </a:pPr>
            <a:r>
              <a:rPr lang="en-GB" sz="2000" dirty="0">
                <a:latin typeface="Courier New" pitchFamily="49" charset="0"/>
                <a:cs typeface="Courier New" pitchFamily="49" charset="0"/>
              </a:rPr>
              <a:t>		   node</a:t>
            </a:r>
          </a:p>
          <a:p>
            <a:pPr lvl="1">
              <a:buNone/>
            </a:pPr>
            <a:r>
              <a:rPr lang="en-GB" sz="2000" dirty="0">
                <a:latin typeface="Courier New" pitchFamily="49" charset="0"/>
                <a:cs typeface="Courier New" pitchFamily="49" charset="0"/>
              </a:rPr>
              <a:t>		   connection</a:t>
            </a:r>
          </a:p>
          <a:p>
            <a:pPr lvl="1">
              <a:buNone/>
            </a:pPr>
            <a:r>
              <a:rPr lang="en-GB" sz="2000" dirty="0">
                <a:latin typeface="Courier New" pitchFamily="49" charset="0"/>
                <a:cs typeface="Courier New" pitchFamily="49" charset="0"/>
              </a:rPr>
              <a:t>		   </a:t>
            </a:r>
            <a:r>
              <a:rPr lang="en-GB" sz="2000" dirty="0" err="1">
                <a:latin typeface="Courier New" pitchFamily="49" charset="0"/>
                <a:cs typeface="Courier New" pitchFamily="49" charset="0"/>
              </a:rPr>
              <a:t>costSoFar</a:t>
            </a:r>
            <a:endParaRPr lang="en-GB" sz="2000" dirty="0">
              <a:latin typeface="Courier New" pitchFamily="49" charset="0"/>
              <a:cs typeface="Courier New" pitchFamily="49" charset="0"/>
            </a:endParaRPr>
          </a:p>
          <a:p>
            <a:pPr lvl="1">
              <a:buNone/>
            </a:pPr>
            <a:r>
              <a:rPr lang="en-GB" sz="2000" dirty="0">
                <a:latin typeface="Courier New" pitchFamily="49" charset="0"/>
                <a:cs typeface="Courier New" pitchFamily="49" charset="0"/>
              </a:rPr>
              <a:t>		   </a:t>
            </a:r>
            <a:r>
              <a:rPr lang="en-GB" sz="2000" dirty="0" err="1">
                <a:latin typeface="Courier New" pitchFamily="49" charset="0"/>
                <a:cs typeface="Courier New" pitchFamily="49" charset="0"/>
              </a:rPr>
              <a:t>estimatedTotalCost</a:t>
            </a:r>
            <a:endParaRPr lang="en-GB" sz="2000" dirty="0">
              <a:latin typeface="Courier New" pitchFamily="49" charset="0"/>
              <a:cs typeface="Courier New" pitchFamily="49" charset="0"/>
            </a:endParaRPr>
          </a:p>
          <a:p>
            <a:r>
              <a:rPr lang="en-GB" sz="2400" dirty="0"/>
              <a:t>Nodes are then moved between open and closed lists</a:t>
            </a:r>
          </a:p>
          <a:p>
            <a:r>
              <a:rPr lang="en-GB" sz="2400" dirty="0"/>
              <a:t>Algorithm searches for nodes in lists</a:t>
            </a:r>
          </a:p>
          <a:p>
            <a:pPr marL="0" indent="0">
              <a:buNone/>
            </a:pPr>
            <a:endParaRPr lang="en-GB" sz="2400" b="1" dirty="0"/>
          </a:p>
          <a:p>
            <a:pPr marL="0" indent="0">
              <a:buNone/>
            </a:pPr>
            <a:r>
              <a:rPr lang="en-GB" sz="2400" b="1" dirty="0"/>
              <a:t>Node Array A*</a:t>
            </a:r>
            <a:endParaRPr lang="en-GB" sz="2400" dirty="0"/>
          </a:p>
          <a:p>
            <a:r>
              <a:rPr lang="en-GB" sz="2400" dirty="0"/>
              <a:t>Instead all node records put into a “Node array” </a:t>
            </a:r>
          </a:p>
          <a:p>
            <a:pPr lvl="1"/>
            <a:r>
              <a:rPr lang="en-GB" sz="2000" dirty="0"/>
              <a:t>However, some may never be needed (trade-off against memory use)</a:t>
            </a:r>
          </a:p>
          <a:p>
            <a:pPr lvl="1"/>
            <a:r>
              <a:rPr lang="en-GB" sz="2000" dirty="0"/>
              <a:t>Nodes numbered sequentially (direct lookup instead of search)</a:t>
            </a:r>
          </a:p>
          <a:p>
            <a:pPr lvl="1"/>
            <a:r>
              <a:rPr lang="en-GB" sz="2000" dirty="0"/>
              <a:t>Add a </a:t>
            </a:r>
            <a:r>
              <a:rPr lang="en-GB" sz="2000" dirty="0">
                <a:latin typeface="Courier New" pitchFamily="49" charset="0"/>
                <a:cs typeface="Courier New" pitchFamily="49" charset="0"/>
              </a:rPr>
              <a:t>category</a:t>
            </a:r>
            <a:r>
              <a:rPr lang="en-GB" sz="2000" dirty="0"/>
              <a:t> field (“UNVISITED”, “OPEN”, or “CLOSED”)</a:t>
            </a:r>
          </a:p>
          <a:p>
            <a:pPr lvl="1"/>
            <a:r>
              <a:rPr lang="en-GB" sz="2000" dirty="0"/>
              <a:t>Closed list becomes irrelevant</a:t>
            </a:r>
          </a:p>
        </p:txBody>
      </p:sp>
      <p:sp>
        <p:nvSpPr>
          <p:cNvPr id="4" name="Slide Number Placeholder 3"/>
          <p:cNvSpPr>
            <a:spLocks noGrp="1"/>
          </p:cNvSpPr>
          <p:nvPr>
            <p:ph type="sldNum" sz="quarter" idx="10"/>
          </p:nvPr>
        </p:nvSpPr>
        <p:spPr/>
        <p:txBody>
          <a:bodyPr/>
          <a:lstStyle/>
          <a:p>
            <a:pPr>
              <a:defRPr/>
            </a:pPr>
            <a:fld id="{84C9582D-2E31-434C-A6C1-A926DBB0B909}" type="slidenum">
              <a:rPr lang="en-IE" smtClean="0"/>
              <a:pPr>
                <a:defRPr/>
              </a:pPr>
              <a:t>11</a:t>
            </a:fld>
            <a:endParaRPr lang="en-IE"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AutoShape 2"/>
          <p:cNvSpPr>
            <a:spLocks noGrp="1" noChangeArrowheads="1"/>
          </p:cNvSpPr>
          <p:nvPr>
            <p:ph type="title"/>
          </p:nvPr>
        </p:nvSpPr>
        <p:spPr/>
        <p:txBody>
          <a:bodyPr>
            <a:normAutofit/>
          </a:bodyPr>
          <a:lstStyle/>
          <a:p>
            <a:r>
              <a:rPr lang="en-GB" sz="3600" b="1" dirty="0">
                <a:solidFill>
                  <a:schemeClr val="accent5">
                    <a:lumMod val="75000"/>
                  </a:schemeClr>
                </a:solidFill>
                <a:ea typeface="Calibri" pitchFamily="34" charset="0"/>
                <a:cs typeface="Calibri" pitchFamily="34" charset="0"/>
              </a:rPr>
              <a:t>IDA* - Iterative Deepening A*</a:t>
            </a:r>
          </a:p>
        </p:txBody>
      </p:sp>
      <p:sp>
        <p:nvSpPr>
          <p:cNvPr id="22531" name="Rectangle 3"/>
          <p:cNvSpPr>
            <a:spLocks noGrp="1" noChangeArrowheads="1"/>
          </p:cNvSpPr>
          <p:nvPr>
            <p:ph idx="1"/>
          </p:nvPr>
        </p:nvSpPr>
        <p:spPr/>
        <p:txBody>
          <a:bodyPr/>
          <a:lstStyle/>
          <a:p>
            <a:r>
              <a:rPr lang="en-GB" sz="2800" dirty="0"/>
              <a:t>Richard </a:t>
            </a:r>
            <a:r>
              <a:rPr lang="en-GB" sz="2800" dirty="0" err="1"/>
              <a:t>Korf</a:t>
            </a:r>
            <a:r>
              <a:rPr lang="en-GB" sz="2800" dirty="0"/>
              <a:t> (Columbia University - 1985)</a:t>
            </a:r>
          </a:p>
          <a:p>
            <a:r>
              <a:rPr lang="en-GB" sz="2800" dirty="0"/>
              <a:t>Similar to depth first iterative deepening</a:t>
            </a:r>
          </a:p>
          <a:p>
            <a:pPr lvl="1"/>
            <a:r>
              <a:rPr lang="en-GB" sz="2400" dirty="0"/>
              <a:t>With Iterative deepening searches are performed to increasing depth levels</a:t>
            </a:r>
          </a:p>
          <a:p>
            <a:pPr lvl="1"/>
            <a:r>
              <a:rPr lang="en-GB" sz="2400" dirty="0"/>
              <a:t>With IDA* the searches are bound NOT by depth but by a limit on the values of nodes!</a:t>
            </a:r>
          </a:p>
          <a:p>
            <a:pPr lvl="1"/>
            <a:r>
              <a:rPr lang="en-GB" sz="2400"/>
              <a:t>Branches may </a:t>
            </a:r>
            <a:r>
              <a:rPr lang="en-GB" sz="2400" dirty="0"/>
              <a:t>be searched to different depths</a:t>
            </a:r>
          </a:p>
        </p:txBody>
      </p:sp>
      <p:sp>
        <p:nvSpPr>
          <p:cNvPr id="4" name="Slide Number Placeholder 3"/>
          <p:cNvSpPr>
            <a:spLocks noGrp="1"/>
          </p:cNvSpPr>
          <p:nvPr>
            <p:ph type="sldNum" sz="quarter" idx="10"/>
          </p:nvPr>
        </p:nvSpPr>
        <p:spPr/>
        <p:txBody>
          <a:bodyPr/>
          <a:lstStyle/>
          <a:p>
            <a:pPr>
              <a:defRPr/>
            </a:pPr>
            <a:fld id="{84C9582D-2E31-434C-A6C1-A926DBB0B909}" type="slidenum">
              <a:rPr lang="en-IE" smtClean="0"/>
              <a:pPr>
                <a:defRPr/>
              </a:pPr>
              <a:t>12</a:t>
            </a:fld>
            <a:endParaRPr lang="en-IE"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AutoShape 2"/>
          <p:cNvSpPr>
            <a:spLocks noGrp="1" noChangeArrowheads="1"/>
          </p:cNvSpPr>
          <p:nvPr>
            <p:ph type="title"/>
          </p:nvPr>
        </p:nvSpPr>
        <p:spPr/>
        <p:txBody>
          <a:bodyPr/>
          <a:lstStyle/>
          <a:p>
            <a:r>
              <a:rPr lang="en-GB" sz="3600" b="1" dirty="0">
                <a:solidFill>
                  <a:schemeClr val="accent5">
                    <a:lumMod val="75000"/>
                  </a:schemeClr>
                </a:solidFill>
                <a:ea typeface="Calibri" pitchFamily="34" charset="0"/>
                <a:cs typeface="Calibri" pitchFamily="34" charset="0"/>
              </a:rPr>
              <a:t>IDA* Algorithm</a:t>
            </a:r>
          </a:p>
        </p:txBody>
      </p:sp>
      <p:sp>
        <p:nvSpPr>
          <p:cNvPr id="24579" name="Rectangle 3"/>
          <p:cNvSpPr>
            <a:spLocks noGrp="1" noChangeArrowheads="1"/>
          </p:cNvSpPr>
          <p:nvPr>
            <p:ph idx="1"/>
          </p:nvPr>
        </p:nvSpPr>
        <p:spPr/>
        <p:txBody>
          <a:bodyPr>
            <a:normAutofit/>
          </a:bodyPr>
          <a:lstStyle/>
          <a:p>
            <a:pPr>
              <a:lnSpc>
                <a:spcPct val="90000"/>
              </a:lnSpc>
              <a:buFont typeface="Wingdings" charset="2"/>
              <a:buNone/>
            </a:pPr>
            <a:r>
              <a:rPr lang="en-GB" sz="2000" dirty="0"/>
              <a:t>Bound = </a:t>
            </a:r>
            <a:r>
              <a:rPr lang="en-GB" sz="2000" dirty="0" err="1"/>
              <a:t>f(Start</a:t>
            </a:r>
            <a:r>
              <a:rPr lang="en-GB" sz="2000" dirty="0"/>
              <a:t> Node)</a:t>
            </a:r>
          </a:p>
          <a:p>
            <a:pPr>
              <a:lnSpc>
                <a:spcPct val="90000"/>
              </a:lnSpc>
              <a:buFont typeface="Wingdings" charset="2"/>
              <a:buNone/>
            </a:pPr>
            <a:r>
              <a:rPr lang="en-GB" sz="2000" b="1" dirty="0"/>
              <a:t>Repeat</a:t>
            </a:r>
          </a:p>
          <a:p>
            <a:pPr>
              <a:lnSpc>
                <a:spcPct val="90000"/>
              </a:lnSpc>
              <a:buFont typeface="Wingdings" charset="2"/>
              <a:buNone/>
            </a:pPr>
            <a:r>
              <a:rPr lang="en-GB" sz="2000" dirty="0"/>
              <a:t>    Do depth first search until path values exceed bound or goal found</a:t>
            </a:r>
          </a:p>
          <a:p>
            <a:pPr lvl="1">
              <a:lnSpc>
                <a:spcPct val="90000"/>
              </a:lnSpc>
              <a:buFontTx/>
              <a:buNone/>
            </a:pPr>
            <a:r>
              <a:rPr lang="en-GB" sz="1800" dirty="0"/>
              <a:t>//(i.e. find all paths &lt; bound)</a:t>
            </a:r>
          </a:p>
          <a:p>
            <a:pPr>
              <a:lnSpc>
                <a:spcPct val="90000"/>
              </a:lnSpc>
              <a:buFont typeface="Wingdings" charset="2"/>
              <a:buNone/>
            </a:pPr>
            <a:r>
              <a:rPr lang="en-GB" sz="2000" dirty="0"/>
              <a:t>    </a:t>
            </a:r>
            <a:r>
              <a:rPr lang="en-GB" sz="2000" b="1" dirty="0"/>
              <a:t>If</a:t>
            </a:r>
            <a:r>
              <a:rPr lang="en-GB" sz="2000" dirty="0"/>
              <a:t> goal found </a:t>
            </a:r>
            <a:r>
              <a:rPr lang="en-GB" sz="2000" b="1" dirty="0"/>
              <a:t>then</a:t>
            </a:r>
            <a:r>
              <a:rPr lang="en-GB" sz="2000" dirty="0"/>
              <a:t> exit with solution</a:t>
            </a:r>
          </a:p>
          <a:p>
            <a:pPr>
              <a:lnSpc>
                <a:spcPct val="90000"/>
              </a:lnSpc>
              <a:buFont typeface="Wingdings" charset="2"/>
              <a:buNone/>
            </a:pPr>
            <a:r>
              <a:rPr lang="en-GB" sz="2000" dirty="0"/>
              <a:t>    </a:t>
            </a:r>
            <a:r>
              <a:rPr lang="en-GB" sz="2000" b="1" dirty="0"/>
              <a:t>Else</a:t>
            </a:r>
          </a:p>
          <a:p>
            <a:pPr>
              <a:lnSpc>
                <a:spcPct val="90000"/>
              </a:lnSpc>
              <a:buFont typeface="Wingdings" charset="2"/>
              <a:buNone/>
            </a:pPr>
            <a:r>
              <a:rPr lang="en-GB" sz="2000" dirty="0"/>
              <a:t>        Compute new bound as minimum of the f values of nodes that exceeded   </a:t>
            </a:r>
          </a:p>
          <a:p>
            <a:pPr>
              <a:lnSpc>
                <a:spcPct val="90000"/>
              </a:lnSpc>
              <a:buFont typeface="Wingdings" charset="2"/>
              <a:buNone/>
            </a:pPr>
            <a:r>
              <a:rPr lang="en-GB" sz="2000" dirty="0"/>
              <a:t>	  the bound</a:t>
            </a:r>
          </a:p>
          <a:p>
            <a:pPr>
              <a:lnSpc>
                <a:spcPct val="90000"/>
              </a:lnSpc>
              <a:buFont typeface="Wingdings" charset="2"/>
              <a:buNone/>
            </a:pPr>
            <a:r>
              <a:rPr lang="en-GB" sz="2000" dirty="0"/>
              <a:t>        Bound = {min f(n</a:t>
            </a:r>
            <a:r>
              <a:rPr lang="en-GB" sz="2000"/>
              <a:t>)| n </a:t>
            </a:r>
            <a:r>
              <a:rPr lang="en-GB" sz="2000" dirty="0"/>
              <a:t>found by search and </a:t>
            </a:r>
            <a:r>
              <a:rPr lang="en-GB" sz="2000"/>
              <a:t>f(n) </a:t>
            </a:r>
            <a:r>
              <a:rPr lang="en-GB" sz="2000" dirty="0"/>
              <a:t>&gt; Bound}</a:t>
            </a:r>
          </a:p>
          <a:p>
            <a:pPr>
              <a:lnSpc>
                <a:spcPct val="90000"/>
              </a:lnSpc>
              <a:buFont typeface="Wingdings" charset="2"/>
              <a:buNone/>
            </a:pPr>
            <a:r>
              <a:rPr lang="en-GB" sz="2000" dirty="0"/>
              <a:t>    </a:t>
            </a:r>
            <a:r>
              <a:rPr lang="en-GB" sz="2000" b="1" dirty="0"/>
              <a:t>End if</a:t>
            </a:r>
          </a:p>
          <a:p>
            <a:pPr>
              <a:lnSpc>
                <a:spcPct val="90000"/>
              </a:lnSpc>
              <a:buFont typeface="Wingdings" charset="2"/>
              <a:buNone/>
            </a:pPr>
            <a:r>
              <a:rPr lang="en-GB" sz="2000" b="1" dirty="0"/>
              <a:t>End repeat</a:t>
            </a:r>
          </a:p>
          <a:p>
            <a:pPr>
              <a:lnSpc>
                <a:spcPct val="90000"/>
              </a:lnSpc>
            </a:pPr>
            <a:endParaRPr lang="en-US" sz="2000" b="1" dirty="0"/>
          </a:p>
        </p:txBody>
      </p:sp>
      <p:sp>
        <p:nvSpPr>
          <p:cNvPr id="4" name="Slide Number Placeholder 3"/>
          <p:cNvSpPr>
            <a:spLocks noGrp="1"/>
          </p:cNvSpPr>
          <p:nvPr>
            <p:ph type="sldNum" sz="quarter" idx="10"/>
          </p:nvPr>
        </p:nvSpPr>
        <p:spPr/>
        <p:txBody>
          <a:bodyPr/>
          <a:lstStyle/>
          <a:p>
            <a:pPr>
              <a:defRPr/>
            </a:pPr>
            <a:fld id="{84C9582D-2E31-434C-A6C1-A926DBB0B909}" type="slidenum">
              <a:rPr lang="en-IE" smtClean="0"/>
              <a:pPr>
                <a:defRPr/>
              </a:pPr>
              <a:t>13</a:t>
            </a:fld>
            <a:endParaRPr lang="en-IE"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AutoShape 2"/>
          <p:cNvSpPr>
            <a:spLocks noGrp="1" noChangeArrowheads="1"/>
          </p:cNvSpPr>
          <p:nvPr>
            <p:ph type="title"/>
          </p:nvPr>
        </p:nvSpPr>
        <p:spPr/>
        <p:txBody>
          <a:bodyPr>
            <a:normAutofit/>
          </a:bodyPr>
          <a:lstStyle/>
          <a:p>
            <a:r>
              <a:rPr lang="en-GB" sz="3600" b="1" dirty="0">
                <a:solidFill>
                  <a:schemeClr val="accent5">
                    <a:lumMod val="75000"/>
                  </a:schemeClr>
                </a:solidFill>
                <a:ea typeface="Calibri" pitchFamily="34" charset="0"/>
                <a:cs typeface="Calibri" pitchFamily="34" charset="0"/>
              </a:rPr>
              <a:t>IDA* Algorithm</a:t>
            </a:r>
          </a:p>
        </p:txBody>
      </p:sp>
      <p:sp>
        <p:nvSpPr>
          <p:cNvPr id="22531" name="Rectangle 3"/>
          <p:cNvSpPr>
            <a:spLocks noGrp="1" noChangeArrowheads="1"/>
          </p:cNvSpPr>
          <p:nvPr>
            <p:ph idx="1"/>
          </p:nvPr>
        </p:nvSpPr>
        <p:spPr/>
        <p:txBody>
          <a:bodyPr/>
          <a:lstStyle/>
          <a:p>
            <a:r>
              <a:rPr lang="en-GB" sz="2800" dirty="0"/>
              <a:t>May be slightly slower than A*</a:t>
            </a:r>
          </a:p>
          <a:p>
            <a:pPr lvl="1"/>
            <a:r>
              <a:rPr lang="en-GB" sz="2000" dirty="0"/>
              <a:t>Repeats paths</a:t>
            </a:r>
          </a:p>
          <a:p>
            <a:r>
              <a:rPr lang="en-GB" sz="2400" dirty="0"/>
              <a:t>Beneficial when problem is memory constrained</a:t>
            </a:r>
          </a:p>
          <a:p>
            <a:pPr lvl="1"/>
            <a:r>
              <a:rPr lang="en-GB" sz="2000" dirty="0"/>
              <a:t>Doesn’t remember prior work</a:t>
            </a:r>
          </a:p>
          <a:p>
            <a:pPr lvl="1"/>
            <a:r>
              <a:rPr lang="en-GB" sz="2000" dirty="0"/>
              <a:t>For really big searches A* could run out of memory</a:t>
            </a:r>
          </a:p>
          <a:p>
            <a:r>
              <a:rPr lang="en-IE" sz="2400" dirty="0"/>
              <a:t>If the heuristic function is admissible, IDA* finds an optimal solution</a:t>
            </a:r>
            <a:endParaRPr lang="en-GB" sz="2400" dirty="0"/>
          </a:p>
        </p:txBody>
      </p:sp>
      <p:sp>
        <p:nvSpPr>
          <p:cNvPr id="4" name="Slide Number Placeholder 3"/>
          <p:cNvSpPr>
            <a:spLocks noGrp="1"/>
          </p:cNvSpPr>
          <p:nvPr>
            <p:ph type="sldNum" sz="quarter" idx="10"/>
          </p:nvPr>
        </p:nvSpPr>
        <p:spPr/>
        <p:txBody>
          <a:bodyPr/>
          <a:lstStyle/>
          <a:p>
            <a:pPr>
              <a:defRPr/>
            </a:pPr>
            <a:fld id="{84C9582D-2E31-434C-A6C1-A926DBB0B909}" type="slidenum">
              <a:rPr lang="en-IE" smtClean="0"/>
              <a:pPr>
                <a:defRPr/>
              </a:pPr>
              <a:t>14</a:t>
            </a:fld>
            <a:endParaRPr lang="en-IE"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AutoShape 2"/>
          <p:cNvSpPr>
            <a:spLocks noGrp="1" noChangeArrowheads="1"/>
          </p:cNvSpPr>
          <p:nvPr>
            <p:ph type="title"/>
          </p:nvPr>
        </p:nvSpPr>
        <p:spPr/>
        <p:txBody>
          <a:bodyPr>
            <a:normAutofit/>
          </a:bodyPr>
          <a:lstStyle/>
          <a:p>
            <a:r>
              <a:rPr lang="en-GB" sz="3600" b="1" dirty="0">
                <a:solidFill>
                  <a:schemeClr val="accent5">
                    <a:lumMod val="75000"/>
                  </a:schemeClr>
                </a:solidFill>
                <a:ea typeface="Calibri" pitchFamily="34" charset="0"/>
                <a:cs typeface="Calibri" pitchFamily="34" charset="0"/>
              </a:rPr>
              <a:t>Improved IDA*</a:t>
            </a:r>
          </a:p>
        </p:txBody>
      </p:sp>
      <p:sp>
        <p:nvSpPr>
          <p:cNvPr id="22531" name="Rectangle 3"/>
          <p:cNvSpPr>
            <a:spLocks noGrp="1" noChangeArrowheads="1"/>
          </p:cNvSpPr>
          <p:nvPr>
            <p:ph idx="1"/>
          </p:nvPr>
        </p:nvSpPr>
        <p:spPr/>
        <p:txBody>
          <a:bodyPr/>
          <a:lstStyle/>
          <a:p>
            <a:r>
              <a:rPr lang="en-GB" sz="2800" dirty="0"/>
              <a:t>A* + IDA*</a:t>
            </a:r>
          </a:p>
          <a:p>
            <a:pPr lvl="1"/>
            <a:r>
              <a:rPr lang="en-GB" sz="2400" dirty="0"/>
              <a:t>Perform A* to a certain depth</a:t>
            </a:r>
          </a:p>
          <a:p>
            <a:pPr lvl="1"/>
            <a:r>
              <a:rPr lang="en-GB" sz="2400" dirty="0"/>
              <a:t>Then perform IDA*</a:t>
            </a:r>
          </a:p>
          <a:p>
            <a:pPr lvl="1"/>
            <a:endParaRPr lang="en-GB" sz="2400" dirty="0"/>
          </a:p>
          <a:p>
            <a:r>
              <a:rPr lang="en-US" sz="2800" dirty="0"/>
              <a:t>Parallel IDA*</a:t>
            </a:r>
          </a:p>
          <a:p>
            <a:pPr lvl="1"/>
            <a:r>
              <a:rPr lang="en-US" sz="2400" dirty="0"/>
              <a:t>When processing the child nodes use separate threads</a:t>
            </a:r>
          </a:p>
          <a:p>
            <a:pPr lvl="1"/>
            <a:r>
              <a:rPr lang="en-US" sz="2400" dirty="0"/>
              <a:t>Each thread needs to return the min f cost for the next search level</a:t>
            </a:r>
            <a:endParaRPr lang="en-GB" sz="2400" dirty="0"/>
          </a:p>
        </p:txBody>
      </p:sp>
      <p:sp>
        <p:nvSpPr>
          <p:cNvPr id="4" name="Slide Number Placeholder 3"/>
          <p:cNvSpPr>
            <a:spLocks noGrp="1"/>
          </p:cNvSpPr>
          <p:nvPr>
            <p:ph type="sldNum" sz="quarter" idx="10"/>
          </p:nvPr>
        </p:nvSpPr>
        <p:spPr/>
        <p:txBody>
          <a:bodyPr/>
          <a:lstStyle/>
          <a:p>
            <a:pPr>
              <a:defRPr/>
            </a:pPr>
            <a:fld id="{84C9582D-2E31-434C-A6C1-A926DBB0B909}" type="slidenum">
              <a:rPr lang="en-IE" smtClean="0"/>
              <a:pPr>
                <a:defRPr/>
              </a:pPr>
              <a:t>15</a:t>
            </a:fld>
            <a:endParaRPr lang="en-IE" dirty="0"/>
          </a:p>
        </p:txBody>
      </p:sp>
    </p:spTree>
    <p:extLst>
      <p:ext uri="{BB962C8B-B14F-4D97-AF65-F5344CB8AC3E}">
        <p14:creationId xmlns:p14="http://schemas.microsoft.com/office/powerpoint/2010/main" val="28379049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AutoShape 2"/>
          <p:cNvSpPr>
            <a:spLocks noGrp="1" noChangeArrowheads="1"/>
          </p:cNvSpPr>
          <p:nvPr>
            <p:ph type="title"/>
          </p:nvPr>
        </p:nvSpPr>
        <p:spPr/>
        <p:txBody>
          <a:bodyPr>
            <a:normAutofit/>
          </a:bodyPr>
          <a:lstStyle/>
          <a:p>
            <a:r>
              <a:rPr lang="en-GB" sz="3600" b="1" dirty="0">
                <a:solidFill>
                  <a:schemeClr val="accent5">
                    <a:lumMod val="75000"/>
                  </a:schemeClr>
                </a:solidFill>
                <a:ea typeface="Calibri" pitchFamily="34" charset="0"/>
                <a:cs typeface="Calibri" pitchFamily="34" charset="0"/>
              </a:rPr>
              <a:t>A*</a:t>
            </a:r>
            <a:r>
              <a:rPr lang="en-GB" sz="3600" b="1" dirty="0" err="1">
                <a:solidFill>
                  <a:schemeClr val="accent5">
                    <a:lumMod val="75000"/>
                  </a:schemeClr>
                </a:solidFill>
                <a:ea typeface="Calibri" pitchFamily="34" charset="0"/>
                <a:cs typeface="Calibri" pitchFamily="34" charset="0"/>
              </a:rPr>
              <a:t>mbush</a:t>
            </a:r>
            <a:endParaRPr lang="en-GB" sz="3600" b="1" dirty="0">
              <a:solidFill>
                <a:schemeClr val="accent5">
                  <a:lumMod val="75000"/>
                </a:schemeClr>
              </a:solidFill>
              <a:ea typeface="Calibri" pitchFamily="34" charset="0"/>
              <a:cs typeface="Calibri" pitchFamily="34" charset="0"/>
            </a:endParaRPr>
          </a:p>
        </p:txBody>
      </p:sp>
      <p:sp>
        <p:nvSpPr>
          <p:cNvPr id="22531" name="Rectangle 3"/>
          <p:cNvSpPr>
            <a:spLocks noGrp="1" noChangeArrowheads="1"/>
          </p:cNvSpPr>
          <p:nvPr>
            <p:ph idx="1"/>
          </p:nvPr>
        </p:nvSpPr>
        <p:spPr/>
        <p:txBody>
          <a:bodyPr/>
          <a:lstStyle/>
          <a:p>
            <a:r>
              <a:rPr lang="en-GB" sz="2800" dirty="0"/>
              <a:t>Pronounced A* ambush</a:t>
            </a:r>
          </a:p>
          <a:p>
            <a:r>
              <a:rPr lang="en-GB" sz="2800" dirty="0"/>
              <a:t>Extending A* to implement coordination </a:t>
            </a:r>
          </a:p>
          <a:p>
            <a:pPr lvl="1"/>
            <a:r>
              <a:rPr lang="en-GB" sz="2400" dirty="0"/>
              <a:t>Multiple NPCs attacking the same location/character</a:t>
            </a:r>
          </a:p>
          <a:p>
            <a:pPr lvl="1"/>
            <a:r>
              <a:rPr lang="en-GB" sz="2400" dirty="0"/>
              <a:t>Close NPCs will find the same search path</a:t>
            </a:r>
          </a:p>
          <a:p>
            <a:pPr lvl="2"/>
            <a:r>
              <a:rPr lang="en-GB" sz="2000" dirty="0"/>
              <a:t>No route diversity</a:t>
            </a:r>
          </a:p>
          <a:p>
            <a:pPr lvl="2"/>
            <a:r>
              <a:rPr lang="en-GB" sz="2000" dirty="0"/>
              <a:t>Escape paths left open</a:t>
            </a:r>
          </a:p>
          <a:p>
            <a:r>
              <a:rPr lang="en-GB" sz="2800" dirty="0"/>
              <a:t>Aim is to produce an ambush behaviour</a:t>
            </a:r>
          </a:p>
          <a:p>
            <a:pPr lvl="1"/>
            <a:r>
              <a:rPr lang="en-GB" sz="2400" dirty="0"/>
              <a:t>Modify the evaluation function to favour path diversity</a:t>
            </a:r>
          </a:p>
          <a:p>
            <a:pPr lvl="1"/>
            <a:r>
              <a:rPr lang="en-GB" sz="2400" dirty="0"/>
              <a:t>Check what the other NPCs are doing</a:t>
            </a:r>
          </a:p>
          <a:p>
            <a:r>
              <a:rPr lang="en-GB" sz="2800" dirty="0"/>
              <a:t>What about the order in which the NPCs search?</a:t>
            </a:r>
          </a:p>
          <a:p>
            <a:pPr marL="0" indent="0">
              <a:buNone/>
            </a:pPr>
            <a:endParaRPr lang="en-GB" sz="1800" dirty="0"/>
          </a:p>
          <a:p>
            <a:pPr marL="0" indent="0">
              <a:buNone/>
            </a:pPr>
            <a:r>
              <a:rPr lang="en-GB" sz="1800" dirty="0"/>
              <a:t>Check out the paper on blackboard:</a:t>
            </a:r>
          </a:p>
          <a:p>
            <a:pPr marL="0" indent="0">
              <a:buNone/>
            </a:pPr>
            <a:r>
              <a:rPr lang="en-IE" sz="1800" dirty="0"/>
              <a:t>A*</a:t>
            </a:r>
            <a:r>
              <a:rPr lang="en-IE" sz="1800" dirty="0" err="1"/>
              <a:t>mbush</a:t>
            </a:r>
            <a:r>
              <a:rPr lang="en-IE" sz="1800" dirty="0"/>
              <a:t> Family: A* Variations for Ambush </a:t>
            </a:r>
            <a:r>
              <a:rPr lang="en-IE" sz="1800" dirty="0" err="1"/>
              <a:t>Behavior</a:t>
            </a:r>
            <a:r>
              <a:rPr lang="en-IE" sz="1800" dirty="0"/>
              <a:t> And Path Diversity Generation</a:t>
            </a:r>
            <a:endParaRPr lang="en-GB" sz="1800" dirty="0"/>
          </a:p>
          <a:p>
            <a:endParaRPr lang="en-GB" sz="2800" dirty="0"/>
          </a:p>
        </p:txBody>
      </p:sp>
      <p:sp>
        <p:nvSpPr>
          <p:cNvPr id="4" name="Slide Number Placeholder 3"/>
          <p:cNvSpPr>
            <a:spLocks noGrp="1"/>
          </p:cNvSpPr>
          <p:nvPr>
            <p:ph type="sldNum" sz="quarter" idx="10"/>
          </p:nvPr>
        </p:nvSpPr>
        <p:spPr/>
        <p:txBody>
          <a:bodyPr/>
          <a:lstStyle/>
          <a:p>
            <a:pPr>
              <a:defRPr/>
            </a:pPr>
            <a:fld id="{84C9582D-2E31-434C-A6C1-A926DBB0B909}" type="slidenum">
              <a:rPr lang="en-IE" smtClean="0"/>
              <a:pPr>
                <a:defRPr/>
              </a:pPr>
              <a:t>16</a:t>
            </a:fld>
            <a:endParaRPr lang="en-IE" dirty="0"/>
          </a:p>
        </p:txBody>
      </p:sp>
    </p:spTree>
    <p:extLst>
      <p:ext uri="{BB962C8B-B14F-4D97-AF65-F5344CB8AC3E}">
        <p14:creationId xmlns:p14="http://schemas.microsoft.com/office/powerpoint/2010/main" val="7917062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531">
                                            <p:txEl>
                                              <p:pRg st="6" end="6"/>
                                            </p:txEl>
                                          </p:spTgt>
                                        </p:tgtEl>
                                        <p:attrNameLst>
                                          <p:attrName>style.visibility</p:attrName>
                                        </p:attrNameLst>
                                      </p:cBhvr>
                                      <p:to>
                                        <p:strVal val="visible"/>
                                      </p:to>
                                    </p:set>
                                    <p:animEffect transition="in" filter="fade">
                                      <p:cBhvr>
                                        <p:cTn id="7" dur="500"/>
                                        <p:tgtEl>
                                          <p:spTgt spid="22531">
                                            <p:txEl>
                                              <p:pRg st="6" end="6"/>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2531">
                                            <p:txEl>
                                              <p:pRg st="7" end="7"/>
                                            </p:txEl>
                                          </p:spTgt>
                                        </p:tgtEl>
                                        <p:attrNameLst>
                                          <p:attrName>style.visibility</p:attrName>
                                        </p:attrNameLst>
                                      </p:cBhvr>
                                      <p:to>
                                        <p:strVal val="visible"/>
                                      </p:to>
                                    </p:set>
                                    <p:animEffect transition="in" filter="fade">
                                      <p:cBhvr>
                                        <p:cTn id="10" dur="500"/>
                                        <p:tgtEl>
                                          <p:spTgt spid="22531">
                                            <p:txEl>
                                              <p:pRg st="7" end="7"/>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22531">
                                            <p:txEl>
                                              <p:pRg st="8" end="8"/>
                                            </p:txEl>
                                          </p:spTgt>
                                        </p:tgtEl>
                                        <p:attrNameLst>
                                          <p:attrName>style.visibility</p:attrName>
                                        </p:attrNameLst>
                                      </p:cBhvr>
                                      <p:to>
                                        <p:strVal val="visible"/>
                                      </p:to>
                                    </p:set>
                                    <p:animEffect transition="in" filter="fade">
                                      <p:cBhvr>
                                        <p:cTn id="13" dur="500"/>
                                        <p:tgtEl>
                                          <p:spTgt spid="22531">
                                            <p:txEl>
                                              <p:pRg st="8" end="8"/>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22531">
                                            <p:txEl>
                                              <p:pRg st="9" end="9"/>
                                            </p:txEl>
                                          </p:spTgt>
                                        </p:tgtEl>
                                        <p:attrNameLst>
                                          <p:attrName>style.visibility</p:attrName>
                                        </p:attrNameLst>
                                      </p:cBhvr>
                                      <p:to>
                                        <p:strVal val="visible"/>
                                      </p:to>
                                    </p:set>
                                    <p:animEffect transition="in" filter="fade">
                                      <p:cBhvr>
                                        <p:cTn id="16" dur="500"/>
                                        <p:tgtEl>
                                          <p:spTgt spid="22531">
                                            <p:txEl>
                                              <p:pRg st="9" end="9"/>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22531">
                                            <p:txEl>
                                              <p:pRg st="11" end="11"/>
                                            </p:txEl>
                                          </p:spTgt>
                                        </p:tgtEl>
                                        <p:attrNameLst>
                                          <p:attrName>style.visibility</p:attrName>
                                        </p:attrNameLst>
                                      </p:cBhvr>
                                      <p:to>
                                        <p:strVal val="visible"/>
                                      </p:to>
                                    </p:set>
                                    <p:animEffect transition="in" filter="fade">
                                      <p:cBhvr>
                                        <p:cTn id="19" dur="500"/>
                                        <p:tgtEl>
                                          <p:spTgt spid="22531">
                                            <p:txEl>
                                              <p:pRg st="11" end="11"/>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22531">
                                            <p:txEl>
                                              <p:pRg st="12" end="12"/>
                                            </p:txEl>
                                          </p:spTgt>
                                        </p:tgtEl>
                                        <p:attrNameLst>
                                          <p:attrName>style.visibility</p:attrName>
                                        </p:attrNameLst>
                                      </p:cBhvr>
                                      <p:to>
                                        <p:strVal val="visible"/>
                                      </p:to>
                                    </p:set>
                                    <p:animEffect transition="in" filter="fade">
                                      <p:cBhvr>
                                        <p:cTn id="22" dur="500"/>
                                        <p:tgtEl>
                                          <p:spTgt spid="22531">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AutoShape 2"/>
          <p:cNvSpPr>
            <a:spLocks noGrp="1" noChangeArrowheads="1"/>
          </p:cNvSpPr>
          <p:nvPr>
            <p:ph type="title"/>
          </p:nvPr>
        </p:nvSpPr>
        <p:spPr/>
        <p:txBody>
          <a:bodyPr>
            <a:normAutofit/>
          </a:bodyPr>
          <a:lstStyle/>
          <a:p>
            <a:r>
              <a:rPr lang="en-GB" sz="3600" b="1" dirty="0">
                <a:solidFill>
                  <a:schemeClr val="accent5">
                    <a:lumMod val="75000"/>
                  </a:schemeClr>
                </a:solidFill>
                <a:ea typeface="Calibri" pitchFamily="34" charset="0"/>
                <a:cs typeface="Calibri" pitchFamily="34" charset="0"/>
              </a:rPr>
              <a:t>Heuristics in everyday life</a:t>
            </a:r>
          </a:p>
        </p:txBody>
      </p:sp>
      <p:sp>
        <p:nvSpPr>
          <p:cNvPr id="22531" name="Rectangle 3"/>
          <p:cNvSpPr>
            <a:spLocks noGrp="1" noChangeArrowheads="1"/>
          </p:cNvSpPr>
          <p:nvPr>
            <p:ph idx="1"/>
          </p:nvPr>
        </p:nvSpPr>
        <p:spPr>
          <a:xfrm>
            <a:off x="179511" y="1125538"/>
            <a:ext cx="8929563" cy="5327650"/>
          </a:xfrm>
        </p:spPr>
        <p:txBody>
          <a:bodyPr/>
          <a:lstStyle/>
          <a:p>
            <a:pPr marL="0" indent="0">
              <a:buNone/>
            </a:pPr>
            <a:r>
              <a:rPr lang="en-IE" sz="1500" b="1" dirty="0"/>
              <a:t>	</a:t>
            </a:r>
            <a:r>
              <a:rPr lang="en-IE" sz="1500" b="1" dirty="0">
                <a:solidFill>
                  <a:srgbClr val="FF0000"/>
                </a:solidFill>
              </a:rPr>
              <a:t>Disclaimer</a:t>
            </a:r>
            <a:r>
              <a:rPr lang="en-IE" sz="1500" dirty="0"/>
              <a:t>: non academic source but nonetheless food for thought.</a:t>
            </a:r>
          </a:p>
          <a:p>
            <a:pPr marL="92075" indent="-92075">
              <a:buNone/>
            </a:pPr>
            <a:r>
              <a:rPr lang="en-IE" sz="1500" b="1" dirty="0"/>
              <a:t>"Consistency heuristic</a:t>
            </a:r>
            <a:r>
              <a:rPr lang="en-IE" sz="1500" dirty="0"/>
              <a:t>" is a heuristic where a person responds to a situation </a:t>
            </a:r>
            <a:r>
              <a:rPr lang="en-IE" sz="1500"/>
              <a:t>in a way </a:t>
            </a:r>
            <a:r>
              <a:rPr lang="en-IE" sz="1500" dirty="0"/>
              <a:t>that allows them to remain consistent.</a:t>
            </a:r>
          </a:p>
          <a:p>
            <a:pPr marL="92075" indent="-92075">
              <a:buNone/>
            </a:pPr>
            <a:r>
              <a:rPr lang="en-IE" sz="1500" b="1" dirty="0"/>
              <a:t>"Educated guess" </a:t>
            </a:r>
            <a:r>
              <a:rPr lang="en-IE" sz="1500" dirty="0"/>
              <a:t>is a heuristic that allows a person to reach a conclusion without exhaustive research. With an educated guess a person considers what they have observed in the past, and applies that history to a situation where a more definite answer has not yet been decided.</a:t>
            </a:r>
          </a:p>
          <a:p>
            <a:pPr marL="92075" indent="-92075">
              <a:buNone/>
            </a:pPr>
            <a:r>
              <a:rPr lang="en-IE" sz="1500" b="1" dirty="0"/>
              <a:t>"Common sense" </a:t>
            </a:r>
            <a:r>
              <a:rPr lang="en-IE" sz="1500" dirty="0"/>
              <a:t>is a heuristic that is applied to a problem based on an individual’s observation of a situation. It is a practical and prudent approach that is applied to a decision where the right and wrong answers seems relatively clear cut.</a:t>
            </a:r>
          </a:p>
          <a:p>
            <a:pPr marL="92075" indent="-92075">
              <a:buNone/>
            </a:pPr>
            <a:r>
              <a:rPr lang="en-IE" sz="1500" b="1" dirty="0"/>
              <a:t>"Contagion heuristic" </a:t>
            </a:r>
            <a:r>
              <a:rPr lang="en-IE" sz="1500" dirty="0"/>
              <a:t>causes an individual to avoid something that is thought to be bad or contaminated. For example, when eggs are recalled due to a salmonella outbreak, someone might apply this simple solution and decide to avoid eggs altogether to prevent sickness.</a:t>
            </a:r>
          </a:p>
          <a:p>
            <a:pPr marL="92075" indent="-92075">
              <a:buNone/>
            </a:pPr>
            <a:r>
              <a:rPr lang="en-IE" sz="1500" b="1" dirty="0"/>
              <a:t>"Familiarity heuristic" </a:t>
            </a:r>
            <a:r>
              <a:rPr lang="en-IE" sz="1500" dirty="0"/>
              <a:t>allows someone to approach an issue or problem based on the fact that the situation is one with which the individual is familiar, and so one should act the same way they acted in the same situation before.</a:t>
            </a:r>
          </a:p>
          <a:p>
            <a:pPr marL="92075" indent="-92075">
              <a:buNone/>
            </a:pPr>
            <a:r>
              <a:rPr lang="en-IE" sz="1500" b="1" dirty="0"/>
              <a:t>"Scarcity heuristic" </a:t>
            </a:r>
            <a:r>
              <a:rPr lang="en-IE" sz="1500" dirty="0"/>
              <a:t>is used when a particular object becomes rare or scarce. This approach suggests that if something is scarce, then it is more desirable to obtain.</a:t>
            </a:r>
          </a:p>
          <a:p>
            <a:pPr marL="92075" indent="-92075">
              <a:buNone/>
            </a:pPr>
            <a:r>
              <a:rPr lang="en-IE" sz="1500" b="1" dirty="0"/>
              <a:t>"Affect heuristic" </a:t>
            </a:r>
            <a:r>
              <a:rPr lang="en-IE" sz="1500" dirty="0"/>
              <a:t>is when you make a snap judgment based on a quick impression. This heuristic views a situation quickly and decides without further research whether a thing is good or bad.  Naturally, this heuristic can be both helpful and hurtful when applied in the wrong situation.</a:t>
            </a:r>
          </a:p>
          <a:p>
            <a:pPr marL="0" indent="0">
              <a:buNone/>
            </a:pPr>
            <a:endParaRPr lang="en-IE" sz="1400" dirty="0"/>
          </a:p>
          <a:p>
            <a:pPr marL="0" indent="0">
              <a:buNone/>
            </a:pPr>
            <a:r>
              <a:rPr lang="en-IE" sz="1400" dirty="0"/>
              <a:t>Read more at http://examples.yourdictionary.com/examples-of-heuristics.html#oIAhBzb3ui9FeBb7.99</a:t>
            </a:r>
            <a:endParaRPr lang="en-GB" sz="1400" dirty="0"/>
          </a:p>
        </p:txBody>
      </p:sp>
      <p:sp>
        <p:nvSpPr>
          <p:cNvPr id="4" name="Slide Number Placeholder 3"/>
          <p:cNvSpPr>
            <a:spLocks noGrp="1"/>
          </p:cNvSpPr>
          <p:nvPr>
            <p:ph type="sldNum" sz="quarter" idx="10"/>
          </p:nvPr>
        </p:nvSpPr>
        <p:spPr/>
        <p:txBody>
          <a:bodyPr/>
          <a:lstStyle/>
          <a:p>
            <a:pPr>
              <a:defRPr/>
            </a:pPr>
            <a:fld id="{84C9582D-2E31-434C-A6C1-A926DBB0B909}" type="slidenum">
              <a:rPr lang="en-IE" smtClean="0"/>
              <a:pPr>
                <a:defRPr/>
              </a:pPr>
              <a:t>17</a:t>
            </a:fld>
            <a:endParaRPr lang="en-IE" dirty="0"/>
          </a:p>
        </p:txBody>
      </p:sp>
    </p:spTree>
    <p:extLst>
      <p:ext uri="{BB962C8B-B14F-4D97-AF65-F5344CB8AC3E}">
        <p14:creationId xmlns:p14="http://schemas.microsoft.com/office/powerpoint/2010/main" val="13212957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531">
                                            <p:txEl>
                                              <p:pRg st="1" end="1"/>
                                            </p:txEl>
                                          </p:spTgt>
                                        </p:tgtEl>
                                        <p:attrNameLst>
                                          <p:attrName>style.visibility</p:attrName>
                                        </p:attrNameLst>
                                      </p:cBhvr>
                                      <p:to>
                                        <p:strVal val="visible"/>
                                      </p:to>
                                    </p:set>
                                    <p:animEffect transition="in" filter="fade">
                                      <p:cBhvr>
                                        <p:cTn id="7" dur="500"/>
                                        <p:tgtEl>
                                          <p:spTgt spid="22531">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2531">
                                            <p:txEl>
                                              <p:pRg st="2" end="2"/>
                                            </p:txEl>
                                          </p:spTgt>
                                        </p:tgtEl>
                                        <p:attrNameLst>
                                          <p:attrName>style.visibility</p:attrName>
                                        </p:attrNameLst>
                                      </p:cBhvr>
                                      <p:to>
                                        <p:strVal val="visible"/>
                                      </p:to>
                                    </p:set>
                                    <p:animEffect transition="in" filter="fade">
                                      <p:cBhvr>
                                        <p:cTn id="12" dur="500"/>
                                        <p:tgtEl>
                                          <p:spTgt spid="22531">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2531">
                                            <p:txEl>
                                              <p:pRg st="3" end="3"/>
                                            </p:txEl>
                                          </p:spTgt>
                                        </p:tgtEl>
                                        <p:attrNameLst>
                                          <p:attrName>style.visibility</p:attrName>
                                        </p:attrNameLst>
                                      </p:cBhvr>
                                      <p:to>
                                        <p:strVal val="visible"/>
                                      </p:to>
                                    </p:set>
                                    <p:animEffect transition="in" filter="fade">
                                      <p:cBhvr>
                                        <p:cTn id="17" dur="500"/>
                                        <p:tgtEl>
                                          <p:spTgt spid="22531">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2531">
                                            <p:txEl>
                                              <p:pRg st="4" end="4"/>
                                            </p:txEl>
                                          </p:spTgt>
                                        </p:tgtEl>
                                        <p:attrNameLst>
                                          <p:attrName>style.visibility</p:attrName>
                                        </p:attrNameLst>
                                      </p:cBhvr>
                                      <p:to>
                                        <p:strVal val="visible"/>
                                      </p:to>
                                    </p:set>
                                    <p:animEffect transition="in" filter="fade">
                                      <p:cBhvr>
                                        <p:cTn id="22" dur="500"/>
                                        <p:tgtEl>
                                          <p:spTgt spid="22531">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2531">
                                            <p:txEl>
                                              <p:pRg st="5" end="5"/>
                                            </p:txEl>
                                          </p:spTgt>
                                        </p:tgtEl>
                                        <p:attrNameLst>
                                          <p:attrName>style.visibility</p:attrName>
                                        </p:attrNameLst>
                                      </p:cBhvr>
                                      <p:to>
                                        <p:strVal val="visible"/>
                                      </p:to>
                                    </p:set>
                                    <p:animEffect transition="in" filter="fade">
                                      <p:cBhvr>
                                        <p:cTn id="27" dur="500"/>
                                        <p:tgtEl>
                                          <p:spTgt spid="22531">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2531">
                                            <p:txEl>
                                              <p:pRg st="6" end="6"/>
                                            </p:txEl>
                                          </p:spTgt>
                                        </p:tgtEl>
                                        <p:attrNameLst>
                                          <p:attrName>style.visibility</p:attrName>
                                        </p:attrNameLst>
                                      </p:cBhvr>
                                      <p:to>
                                        <p:strVal val="visible"/>
                                      </p:to>
                                    </p:set>
                                    <p:animEffect transition="in" filter="fade">
                                      <p:cBhvr>
                                        <p:cTn id="32" dur="500"/>
                                        <p:tgtEl>
                                          <p:spTgt spid="22531">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2531">
                                            <p:txEl>
                                              <p:pRg st="7" end="7"/>
                                            </p:txEl>
                                          </p:spTgt>
                                        </p:tgtEl>
                                        <p:attrNameLst>
                                          <p:attrName>style.visibility</p:attrName>
                                        </p:attrNameLst>
                                      </p:cBhvr>
                                      <p:to>
                                        <p:strVal val="visible"/>
                                      </p:to>
                                    </p:set>
                                    <p:animEffect transition="in" filter="fade">
                                      <p:cBhvr>
                                        <p:cTn id="37" dur="500"/>
                                        <p:tgtEl>
                                          <p:spTgt spid="22531">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2531">
                                            <p:txEl>
                                              <p:pRg st="9" end="9"/>
                                            </p:txEl>
                                          </p:spTgt>
                                        </p:tgtEl>
                                        <p:attrNameLst>
                                          <p:attrName>style.visibility</p:attrName>
                                        </p:attrNameLst>
                                      </p:cBhvr>
                                      <p:to>
                                        <p:strVal val="visible"/>
                                      </p:to>
                                    </p:set>
                                    <p:animEffect transition="in" filter="fade">
                                      <p:cBhvr>
                                        <p:cTn id="42" dur="500"/>
                                        <p:tgtEl>
                                          <p:spTgt spid="22531">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AutoShape 2"/>
          <p:cNvSpPr>
            <a:spLocks noGrp="1" noChangeArrowheads="1"/>
          </p:cNvSpPr>
          <p:nvPr>
            <p:ph type="title"/>
          </p:nvPr>
        </p:nvSpPr>
        <p:spPr/>
        <p:txBody>
          <a:bodyPr>
            <a:normAutofit/>
          </a:bodyPr>
          <a:lstStyle/>
          <a:p>
            <a:r>
              <a:rPr lang="en-GB" sz="3600" b="1" dirty="0">
                <a:solidFill>
                  <a:schemeClr val="accent5">
                    <a:lumMod val="75000"/>
                  </a:schemeClr>
                </a:solidFill>
                <a:ea typeface="Calibri" pitchFamily="34" charset="0"/>
                <a:cs typeface="Calibri" pitchFamily="34" charset="0"/>
              </a:rPr>
              <a:t>Heuristics in everyday life</a:t>
            </a:r>
          </a:p>
        </p:txBody>
      </p:sp>
      <p:sp>
        <p:nvSpPr>
          <p:cNvPr id="22531" name="Rectangle 3"/>
          <p:cNvSpPr>
            <a:spLocks noGrp="1" noChangeArrowheads="1"/>
          </p:cNvSpPr>
          <p:nvPr>
            <p:ph idx="1"/>
          </p:nvPr>
        </p:nvSpPr>
        <p:spPr>
          <a:xfrm>
            <a:off x="179512" y="1125538"/>
            <a:ext cx="8784976" cy="5327650"/>
          </a:xfrm>
        </p:spPr>
        <p:txBody>
          <a:bodyPr/>
          <a:lstStyle/>
          <a:p>
            <a:pPr marL="0" indent="0">
              <a:buNone/>
            </a:pPr>
            <a:r>
              <a:rPr lang="en-IE" sz="1800" b="1" dirty="0"/>
              <a:t>Comment:</a:t>
            </a:r>
          </a:p>
          <a:p>
            <a:pPr marL="0" indent="0">
              <a:buNone/>
            </a:pPr>
            <a:r>
              <a:rPr lang="en-IE" sz="1800" b="1" dirty="0">
                <a:solidFill>
                  <a:srgbClr val="FF0000"/>
                </a:solidFill>
              </a:rPr>
              <a:t>Educated Guess:</a:t>
            </a:r>
            <a:r>
              <a:rPr lang="en-IE" sz="1800" dirty="0"/>
              <a:t> As you approach a roped-off section of a museum without written instructions and without a clear pathway to walk, you could use the Educated Guess Heuristic to conclude that you should not walk past it (beyond it) and that finding an alternate way would be better.</a:t>
            </a:r>
          </a:p>
          <a:p>
            <a:pPr marL="0" indent="0">
              <a:buNone/>
            </a:pPr>
            <a:r>
              <a:rPr lang="en-IE" sz="1800" b="1" dirty="0"/>
              <a:t>Reply:</a:t>
            </a:r>
          </a:p>
          <a:p>
            <a:pPr marL="0" indent="0">
              <a:buNone/>
            </a:pPr>
            <a:r>
              <a:rPr lang="en-IE" sz="1800" dirty="0"/>
              <a:t>However it may be that you are on the wrong side of the rope and the roof is about to fall on your head. The absence of a clear pathway may have resulted from a museum guide's efforts to move priceless treasures out of harms' way. You may not be well enough educated in emergency procedures nor in structures nor in those priceless treasures to recognize them as such. Heuristics are limited and flawed if data is ignored.</a:t>
            </a:r>
          </a:p>
          <a:p>
            <a:pPr marL="0" indent="0">
              <a:buNone/>
            </a:pPr>
            <a:r>
              <a:rPr lang="en-IE" sz="1800" b="1" dirty="0"/>
              <a:t>Reply:</a:t>
            </a:r>
          </a:p>
          <a:p>
            <a:pPr marL="0" indent="0">
              <a:buNone/>
            </a:pPr>
            <a:r>
              <a:rPr lang="en-IE" sz="1800" dirty="0"/>
              <a:t>If I were on the wrong side of the rope, it seems that I would have unusual access to the area and would be employed and understand the happenings of the museum. Being on the incorrect side of the rope is a silly notion as ropes are often dictated by there applicator. Heuristics doesn't ensure that the 'correct' decision is always reached - it's simply that one is made and learned from. There are plenty of things to learn from an 'incorrect' guess.</a:t>
            </a:r>
            <a:endParaRPr lang="en-GB" sz="1800" dirty="0"/>
          </a:p>
        </p:txBody>
      </p:sp>
      <p:sp>
        <p:nvSpPr>
          <p:cNvPr id="4" name="Slide Number Placeholder 3"/>
          <p:cNvSpPr>
            <a:spLocks noGrp="1"/>
          </p:cNvSpPr>
          <p:nvPr>
            <p:ph type="sldNum" sz="quarter" idx="10"/>
          </p:nvPr>
        </p:nvSpPr>
        <p:spPr/>
        <p:txBody>
          <a:bodyPr/>
          <a:lstStyle/>
          <a:p>
            <a:pPr>
              <a:defRPr/>
            </a:pPr>
            <a:fld id="{84C9582D-2E31-434C-A6C1-A926DBB0B909}" type="slidenum">
              <a:rPr lang="en-IE" smtClean="0"/>
              <a:pPr>
                <a:defRPr/>
              </a:pPr>
              <a:t>18</a:t>
            </a:fld>
            <a:endParaRPr lang="en-IE" dirty="0"/>
          </a:p>
        </p:txBody>
      </p:sp>
    </p:spTree>
    <p:extLst>
      <p:ext uri="{BB962C8B-B14F-4D97-AF65-F5344CB8AC3E}">
        <p14:creationId xmlns:p14="http://schemas.microsoft.com/office/powerpoint/2010/main" val="20338305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531">
                                            <p:txEl>
                                              <p:pRg st="2" end="2"/>
                                            </p:txEl>
                                          </p:spTgt>
                                        </p:tgtEl>
                                        <p:attrNameLst>
                                          <p:attrName>style.visibility</p:attrName>
                                        </p:attrNameLst>
                                      </p:cBhvr>
                                      <p:to>
                                        <p:strVal val="visible"/>
                                      </p:to>
                                    </p:set>
                                    <p:animEffect transition="in" filter="fade">
                                      <p:cBhvr>
                                        <p:cTn id="7" dur="500"/>
                                        <p:tgtEl>
                                          <p:spTgt spid="22531">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2531">
                                            <p:txEl>
                                              <p:pRg st="3" end="3"/>
                                            </p:txEl>
                                          </p:spTgt>
                                        </p:tgtEl>
                                        <p:attrNameLst>
                                          <p:attrName>style.visibility</p:attrName>
                                        </p:attrNameLst>
                                      </p:cBhvr>
                                      <p:to>
                                        <p:strVal val="visible"/>
                                      </p:to>
                                    </p:set>
                                    <p:animEffect transition="in" filter="fade">
                                      <p:cBhvr>
                                        <p:cTn id="10" dur="500"/>
                                        <p:tgtEl>
                                          <p:spTgt spid="22531">
                                            <p:txEl>
                                              <p:pRg st="3" end="3"/>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2531">
                                            <p:txEl>
                                              <p:pRg st="4" end="4"/>
                                            </p:txEl>
                                          </p:spTgt>
                                        </p:tgtEl>
                                        <p:attrNameLst>
                                          <p:attrName>style.visibility</p:attrName>
                                        </p:attrNameLst>
                                      </p:cBhvr>
                                      <p:to>
                                        <p:strVal val="visible"/>
                                      </p:to>
                                    </p:set>
                                    <p:animEffect transition="in" filter="fade">
                                      <p:cBhvr>
                                        <p:cTn id="15" dur="500"/>
                                        <p:tgtEl>
                                          <p:spTgt spid="22531">
                                            <p:txEl>
                                              <p:pRg st="4" end="4"/>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22531">
                                            <p:txEl>
                                              <p:pRg st="5" end="5"/>
                                            </p:txEl>
                                          </p:spTgt>
                                        </p:tgtEl>
                                        <p:attrNameLst>
                                          <p:attrName>style.visibility</p:attrName>
                                        </p:attrNameLst>
                                      </p:cBhvr>
                                      <p:to>
                                        <p:strVal val="visible"/>
                                      </p:to>
                                    </p:set>
                                    <p:animEffect transition="in" filter="fade">
                                      <p:cBhvr>
                                        <p:cTn id="18" dur="500"/>
                                        <p:tgtEl>
                                          <p:spTgt spid="2253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Stack of books design template</Template>
  <TotalTime>5815</TotalTime>
  <Words>1735</Words>
  <Application>Microsoft Office PowerPoint</Application>
  <PresentationFormat>On-screen Show (4:3)</PresentationFormat>
  <Paragraphs>198</Paragraphs>
  <Slides>18</Slides>
  <Notes>5</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18</vt:i4>
      </vt:variant>
    </vt:vector>
  </HeadingPairs>
  <TitlesOfParts>
    <vt:vector size="25" baseType="lpstr">
      <vt:lpstr>Arial</vt:lpstr>
      <vt:lpstr>Calibri</vt:lpstr>
      <vt:lpstr>Courier New</vt:lpstr>
      <vt:lpstr>Tahoma</vt:lpstr>
      <vt:lpstr>Wingdings</vt:lpstr>
      <vt:lpstr>Custom Design</vt:lpstr>
      <vt:lpstr>1_Custom Design</vt:lpstr>
      <vt:lpstr>The Heuristic Function - Recap</vt:lpstr>
      <vt:lpstr>The Heuristic function</vt:lpstr>
      <vt:lpstr>The Heuristic Function</vt:lpstr>
      <vt:lpstr>A* Pathfinder - Recap</vt:lpstr>
      <vt:lpstr>A* Algorithm</vt:lpstr>
      <vt:lpstr>A* Algorithm</vt:lpstr>
      <vt:lpstr>A* Algorithm</vt:lpstr>
      <vt:lpstr>A* Algorithm</vt:lpstr>
      <vt:lpstr>A* Search</vt:lpstr>
      <vt:lpstr>Pathfinding</vt:lpstr>
      <vt:lpstr>A* Search - Enhancements</vt:lpstr>
      <vt:lpstr>IDA* - Iterative Deepening A*</vt:lpstr>
      <vt:lpstr>IDA* Algorithm</vt:lpstr>
      <vt:lpstr>IDA* Algorithm</vt:lpstr>
      <vt:lpstr>Improved IDA*</vt:lpstr>
      <vt:lpstr>A*mbush</vt:lpstr>
      <vt:lpstr>Heuristics in everyday life</vt:lpstr>
      <vt:lpstr>Heuristics in everyday life</vt:lpstr>
    </vt:vector>
  </TitlesOfParts>
  <Company>ModusLink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the 8086 chip set architecture course.</dc:title>
  <dc:creator>oisin_cawley</dc:creator>
  <cp:lastModifiedBy>Oisin Cawley</cp:lastModifiedBy>
  <cp:revision>867</cp:revision>
  <dcterms:created xsi:type="dcterms:W3CDTF">2007-05-08T17:20:09Z</dcterms:created>
  <dcterms:modified xsi:type="dcterms:W3CDTF">2024-10-21T10:22:07Z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TC011594401033</vt:lpwstr>
  </property>
</Properties>
</file>