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21"/>
  </p:notesMasterIdLst>
  <p:sldIdLst>
    <p:sldId id="269" r:id="rId3"/>
    <p:sldId id="270" r:id="rId4"/>
    <p:sldId id="271" r:id="rId5"/>
    <p:sldId id="288" r:id="rId6"/>
    <p:sldId id="272" r:id="rId7"/>
    <p:sldId id="284" r:id="rId8"/>
    <p:sldId id="285" r:id="rId9"/>
    <p:sldId id="286" r:id="rId10"/>
    <p:sldId id="287" r:id="rId11"/>
    <p:sldId id="277" r:id="rId12"/>
    <p:sldId id="273" r:id="rId13"/>
    <p:sldId id="274" r:id="rId14"/>
    <p:sldId id="278" r:id="rId15"/>
    <p:sldId id="275" r:id="rId16"/>
    <p:sldId id="279" r:id="rId17"/>
    <p:sldId id="276" r:id="rId18"/>
    <p:sldId id="280" r:id="rId19"/>
    <p:sldId id="282" r:id="rId20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33" autoAdjust="0"/>
    <p:restoredTop sz="80571" autoAdjust="0"/>
  </p:normalViewPr>
  <p:slideViewPr>
    <p:cSldViewPr>
      <p:cViewPr varScale="1">
        <p:scale>
          <a:sx n="88" d="100"/>
          <a:sy n="88" d="100"/>
        </p:scale>
        <p:origin x="2052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c7ebb277-34aa-421f-b739-032ced270c1a" providerId="ADAL" clId="{0D654578-E863-4D67-A023-4A3096FBDC45}"/>
  </pc:docChgLst>
  <pc:docChgLst>
    <pc:chgData name="Oisin Cawley" userId="6b66d80f-e52a-4eb8-b588-9059f489afa4" providerId="ADAL" clId="{91966D52-EE7E-4C4F-B455-F9E847FE549B}"/>
  </pc:docChgLst>
  <pc:docChgLst>
    <pc:chgData name="Oisin Cawley" userId="6b66d80f-e52a-4eb8-b588-9059f489afa4" providerId="ADAL" clId="{68C13D10-D0E6-47B9-9806-CBCCEB1D1F52}"/>
    <pc:docChg chg="custSel modSld">
      <pc:chgData name="Oisin Cawley" userId="6b66d80f-e52a-4eb8-b588-9059f489afa4" providerId="ADAL" clId="{68C13D10-D0E6-47B9-9806-CBCCEB1D1F52}" dt="2025-10-09T08:06:00.664" v="190" actId="14100"/>
      <pc:docMkLst>
        <pc:docMk/>
      </pc:docMkLst>
      <pc:sldChg chg="modSp">
        <pc:chgData name="Oisin Cawley" userId="6b66d80f-e52a-4eb8-b588-9059f489afa4" providerId="ADAL" clId="{68C13D10-D0E6-47B9-9806-CBCCEB1D1F52}" dt="2025-10-09T07:54:02.209" v="34" actId="6549"/>
        <pc:sldMkLst>
          <pc:docMk/>
          <pc:sldMk cId="0" sldId="271"/>
        </pc:sldMkLst>
        <pc:spChg chg="mod">
          <ac:chgData name="Oisin Cawley" userId="6b66d80f-e52a-4eb8-b588-9059f489afa4" providerId="ADAL" clId="{68C13D10-D0E6-47B9-9806-CBCCEB1D1F52}" dt="2025-10-09T07:54:02.209" v="34" actId="6549"/>
          <ac:spMkLst>
            <pc:docMk/>
            <pc:sldMk cId="0" sldId="271"/>
            <ac:spMk id="3" creationId="{00000000-0000-0000-0000-000000000000}"/>
          </ac:spMkLst>
        </pc:spChg>
      </pc:sldChg>
      <pc:sldChg chg="modAnim">
        <pc:chgData name="Oisin Cawley" userId="6b66d80f-e52a-4eb8-b588-9059f489afa4" providerId="ADAL" clId="{68C13D10-D0E6-47B9-9806-CBCCEB1D1F52}" dt="2025-10-09T07:22:45.035" v="0"/>
        <pc:sldMkLst>
          <pc:docMk/>
          <pc:sldMk cId="0" sldId="273"/>
        </pc:sldMkLst>
      </pc:sldChg>
      <pc:sldChg chg="addSp modSp modAnim">
        <pc:chgData name="Oisin Cawley" userId="6b66d80f-e52a-4eb8-b588-9059f489afa4" providerId="ADAL" clId="{68C13D10-D0E6-47B9-9806-CBCCEB1D1F52}" dt="2025-10-09T07:25:34.109" v="4"/>
        <pc:sldMkLst>
          <pc:docMk/>
          <pc:sldMk cId="0" sldId="274"/>
        </pc:sldMkLst>
        <pc:spChg chg="mod">
          <ac:chgData name="Oisin Cawley" userId="6b66d80f-e52a-4eb8-b588-9059f489afa4" providerId="ADAL" clId="{68C13D10-D0E6-47B9-9806-CBCCEB1D1F52}" dt="2025-10-09T07:25:05.521" v="2" actId="404"/>
          <ac:spMkLst>
            <pc:docMk/>
            <pc:sldMk cId="0" sldId="274"/>
            <ac:spMk id="16387" creationId="{00000000-0000-0000-0000-000000000000}"/>
          </ac:spMkLst>
        </pc:spChg>
        <pc:picChg chg="add mod">
          <ac:chgData name="Oisin Cawley" userId="6b66d80f-e52a-4eb8-b588-9059f489afa4" providerId="ADAL" clId="{68C13D10-D0E6-47B9-9806-CBCCEB1D1F52}" dt="2025-10-09T07:25:11.388" v="3" actId="1076"/>
          <ac:picMkLst>
            <pc:docMk/>
            <pc:sldMk cId="0" sldId="274"/>
            <ac:picMk id="5" creationId="{4251FD29-21C2-4762-8464-038107BCE975}"/>
          </ac:picMkLst>
        </pc:picChg>
      </pc:sldChg>
      <pc:sldChg chg="modSp modAnim">
        <pc:chgData name="Oisin Cawley" userId="6b66d80f-e52a-4eb8-b588-9059f489afa4" providerId="ADAL" clId="{68C13D10-D0E6-47B9-9806-CBCCEB1D1F52}" dt="2025-10-09T07:56:59.496" v="149"/>
        <pc:sldMkLst>
          <pc:docMk/>
          <pc:sldMk cId="0" sldId="277"/>
        </pc:sldMkLst>
        <pc:spChg chg="mod">
          <ac:chgData name="Oisin Cawley" userId="6b66d80f-e52a-4eb8-b588-9059f489afa4" providerId="ADAL" clId="{68C13D10-D0E6-47B9-9806-CBCCEB1D1F52}" dt="2025-10-09T07:55:58.244" v="148" actId="20577"/>
          <ac:spMkLst>
            <pc:docMk/>
            <pc:sldMk cId="0" sldId="277"/>
            <ac:spMk id="10243" creationId="{00000000-0000-0000-0000-000000000000}"/>
          </ac:spMkLst>
        </pc:spChg>
      </pc:sldChg>
      <pc:sldChg chg="modSp">
        <pc:chgData name="Oisin Cawley" userId="6b66d80f-e52a-4eb8-b588-9059f489afa4" providerId="ADAL" clId="{68C13D10-D0E6-47B9-9806-CBCCEB1D1F52}" dt="2025-10-09T07:26:45.811" v="5" actId="113"/>
        <pc:sldMkLst>
          <pc:docMk/>
          <pc:sldMk cId="0" sldId="278"/>
        </pc:sldMkLst>
        <pc:spChg chg="mod">
          <ac:chgData name="Oisin Cawley" userId="6b66d80f-e52a-4eb8-b588-9059f489afa4" providerId="ADAL" clId="{68C13D10-D0E6-47B9-9806-CBCCEB1D1F52}" dt="2025-10-09T07:26:45.811" v="5" actId="113"/>
          <ac:spMkLst>
            <pc:docMk/>
            <pc:sldMk cId="0" sldId="278"/>
            <ac:spMk id="16387" creationId="{00000000-0000-0000-0000-000000000000}"/>
          </ac:spMkLst>
        </pc:spChg>
      </pc:sldChg>
      <pc:sldChg chg="modSp">
        <pc:chgData name="Oisin Cawley" userId="6b66d80f-e52a-4eb8-b588-9059f489afa4" providerId="ADAL" clId="{68C13D10-D0E6-47B9-9806-CBCCEB1D1F52}" dt="2025-10-09T08:06:00.664" v="190" actId="14100"/>
        <pc:sldMkLst>
          <pc:docMk/>
          <pc:sldMk cId="0" sldId="279"/>
        </pc:sldMkLst>
        <pc:spChg chg="mod">
          <ac:chgData name="Oisin Cawley" userId="6b66d80f-e52a-4eb8-b588-9059f489afa4" providerId="ADAL" clId="{68C13D10-D0E6-47B9-9806-CBCCEB1D1F52}" dt="2025-10-09T08:06:00.664" v="190" actId="14100"/>
          <ac:spMkLst>
            <pc:docMk/>
            <pc:sldMk cId="0" sldId="279"/>
            <ac:spMk id="18434" creationId="{00000000-0000-0000-0000-000000000000}"/>
          </ac:spMkLst>
        </pc:spChg>
      </pc:sldChg>
    </pc:docChg>
  </pc:docChgLst>
  <pc:docChgLst>
    <pc:chgData name="Oisin Cawley" userId="6b66d80f-e52a-4eb8-b588-9059f489afa4" providerId="ADAL" clId="{4A9DC142-92F2-45E5-9FE5-EBBCA7A216D4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case the non-greedy approach evaluates both possibilities (3 and 4) to see which might be better. The best is then found one move later.</a:t>
            </a:r>
          </a:p>
          <a:p>
            <a:r>
              <a:rPr lang="en-US" dirty="0"/>
              <a:t>The greedy version would just pick one and continue.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83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a goal state could potentially be pruned, beam search sacrifices completeness (the guarantee that an algorithm will terminate with a solution, if one exists). Beam search is not optimal (that is, there is no guarantee that it will find the best solution). It returns the first solution found.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60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Dykstra might be a good algorithm to calculate all paths once off at startup.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9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3BD058E6-66DD-4917-8651-05DEFEB340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3DBE4643-2DB1-4EC2-859A-9E1BCA6A44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8pmud1Uh0Q" TargetMode="Externa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Heuristic Search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If we can order our search choices in some meaningful way so that more promising paths are searched first then efficiency is much improved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Heuristic is an estimated cost or weighting that we use to judge a path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Generally it is the </a:t>
            </a:r>
            <a:r>
              <a:rPr lang="en-GB" sz="2400" dirty="0">
                <a:solidFill>
                  <a:srgbClr val="FF0000"/>
                </a:solidFill>
              </a:rPr>
              <a:t>estimated cost </a:t>
            </a:r>
            <a:r>
              <a:rPr lang="en-GB" sz="2400" dirty="0"/>
              <a:t>from our current node to the Goal node e.g.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sz="2400" dirty="0"/>
              <a:t>Geographical Path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§"/>
            </a:pPr>
            <a:r>
              <a:rPr lang="en-GB" sz="2000" dirty="0"/>
              <a:t>Straight line distance from here to destination (Euclidean distance)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§"/>
            </a:pPr>
            <a:r>
              <a:rPr lang="en-GB" sz="2000" dirty="0"/>
              <a:t>Number of tiles away (Manhattan distance)</a:t>
            </a:r>
            <a:endParaRPr lang="en-GB" dirty="0"/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sz="2400" dirty="0"/>
              <a:t>Draughts, Chess, etc. ?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§"/>
            </a:pPr>
            <a:r>
              <a:rPr lang="en-GB" sz="2000" dirty="0"/>
              <a:t>Strength of current position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endParaRPr lang="en-GB" sz="2400" dirty="0"/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endParaRPr lang="en-GB" sz="2400" dirty="0"/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Heuristic Search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Space is represented as graph of nodes</a:t>
            </a:r>
          </a:p>
          <a:p>
            <a:pPr lvl="0"/>
            <a:r>
              <a:rPr lang="en-GB" dirty="0"/>
              <a:t>Each</a:t>
            </a:r>
            <a:r>
              <a:rPr lang="en-GB" baseline="0" dirty="0"/>
              <a:t> edge is directed</a:t>
            </a:r>
            <a:endParaRPr lang="en-GB" dirty="0"/>
          </a:p>
          <a:p>
            <a:pPr lvl="0"/>
            <a:r>
              <a:rPr lang="en-GB" dirty="0"/>
              <a:t>Each edge has an associated weight</a:t>
            </a:r>
            <a:r>
              <a:rPr lang="en-GB" baseline="0" dirty="0"/>
              <a:t> or </a:t>
            </a:r>
            <a:r>
              <a:rPr lang="en-GB" dirty="0"/>
              <a:t>cost</a:t>
            </a:r>
          </a:p>
          <a:p>
            <a:pPr lvl="1"/>
            <a:r>
              <a:rPr lang="en-GB" dirty="0"/>
              <a:t>cost</a:t>
            </a:r>
            <a:r>
              <a:rPr lang="en-GB" baseline="0" dirty="0"/>
              <a:t> &gt; </a:t>
            </a:r>
            <a:r>
              <a:rPr lang="en-GB" dirty="0"/>
              <a:t>0 </a:t>
            </a:r>
          </a:p>
          <a:p>
            <a:pPr lvl="1"/>
            <a:r>
              <a:rPr lang="en-GB" dirty="0"/>
              <a:t>Represents distance (usually) </a:t>
            </a:r>
          </a:p>
          <a:p>
            <a:pPr lvl="2"/>
            <a:r>
              <a:rPr lang="en-GB" sz="2000" dirty="0"/>
              <a:t>can represent different terrains etc.</a:t>
            </a:r>
          </a:p>
          <a:p>
            <a:pPr lvl="0"/>
            <a:r>
              <a:rPr lang="en-GB" sz="2400" dirty="0"/>
              <a:t>Given that we know the cost of each step, find path from A to B with lowest overall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 Search</a:t>
            </a:r>
            <a:endParaRPr lang="en-US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3898776" cy="5000625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GB" sz="2400" dirty="0"/>
              <a:t>With this in mind we can turn</a:t>
            </a:r>
          </a:p>
          <a:p>
            <a:pPr>
              <a:lnSpc>
                <a:spcPct val="90000"/>
              </a:lnSpc>
              <a:buNone/>
            </a:pPr>
            <a:r>
              <a:rPr lang="en-GB" sz="2400" dirty="0"/>
              <a:t>Depth First Search into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Hill Climbing</a:t>
            </a:r>
          </a:p>
          <a:p>
            <a:pPr lvl="1">
              <a:lnSpc>
                <a:spcPct val="90000"/>
              </a:lnSpc>
            </a:pPr>
            <a:r>
              <a:rPr lang="en-GB" sz="2000" dirty="0"/>
              <a:t>By changing one line in the algorithm!</a:t>
            </a:r>
          </a:p>
          <a:p>
            <a:pPr>
              <a:lnSpc>
                <a:spcPct val="90000"/>
              </a:lnSpc>
            </a:pPr>
            <a:endParaRPr lang="en-GB" sz="2400" dirty="0"/>
          </a:p>
          <a:p>
            <a:pPr>
              <a:lnSpc>
                <a:spcPct val="90000"/>
              </a:lnSpc>
            </a:pPr>
            <a:r>
              <a:rPr lang="en-GB" sz="2400" dirty="0"/>
              <a:t>When inserting new nodes in queue first sort them by estimated distance from the goal node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Then add new paths to queue!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08033" y="1484784"/>
            <a:ext cx="4935967" cy="39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We always choose the next step that climbs up the gradient</a:t>
            </a:r>
          </a:p>
          <a:p>
            <a:r>
              <a:rPr lang="en-GB" sz="2000" dirty="0"/>
              <a:t>When we cannot go up any more we are at summit</a:t>
            </a:r>
          </a:p>
          <a:p>
            <a:pPr>
              <a:buNone/>
            </a:pPr>
            <a:r>
              <a:rPr lang="en-GB" sz="2000" dirty="0"/>
              <a:t>	Example: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2518" y="2132856"/>
            <a:ext cx="5598964" cy="415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  <p:sp>
        <p:nvSpPr>
          <p:cNvPr id="2" name="Rectangle 1"/>
          <p:cNvSpPr/>
          <p:nvPr/>
        </p:nvSpPr>
        <p:spPr>
          <a:xfrm>
            <a:off x="1772518" y="3140969"/>
            <a:ext cx="5752232" cy="2808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1D8D15-DA2E-4344-A4A1-F55610F9FADA}"/>
              </a:ext>
            </a:extLst>
          </p:cNvPr>
          <p:cNvSpPr/>
          <p:nvPr/>
        </p:nvSpPr>
        <p:spPr>
          <a:xfrm>
            <a:off x="2848133" y="5589240"/>
            <a:ext cx="3601002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6833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We always choose the next step that climbs up the gradient</a:t>
            </a:r>
          </a:p>
          <a:p>
            <a:r>
              <a:rPr lang="en-GB" sz="2000" dirty="0"/>
              <a:t>When we cannot go up any more we are at summit</a:t>
            </a:r>
          </a:p>
          <a:p>
            <a:pPr>
              <a:buNone/>
            </a:pPr>
            <a:r>
              <a:rPr lang="en-GB" sz="2000" dirty="0"/>
              <a:t>	Example: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2518" y="2132856"/>
            <a:ext cx="5598964" cy="415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  <p:sp>
        <p:nvSpPr>
          <p:cNvPr id="2" name="Rectangle 1"/>
          <p:cNvSpPr/>
          <p:nvPr/>
        </p:nvSpPr>
        <p:spPr>
          <a:xfrm>
            <a:off x="1772518" y="3140969"/>
            <a:ext cx="5752232" cy="2808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We always choose the next step that climbs up the gradient</a:t>
            </a:r>
          </a:p>
          <a:p>
            <a:r>
              <a:rPr lang="en-GB" sz="2000" dirty="0"/>
              <a:t>When we cannot go up any more we are at summit</a:t>
            </a:r>
          </a:p>
          <a:p>
            <a:pPr>
              <a:buNone/>
            </a:pPr>
            <a:r>
              <a:rPr lang="en-GB" sz="2000" dirty="0"/>
              <a:t>	Example: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2518" y="2132856"/>
            <a:ext cx="5598964" cy="415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  <p:sp>
        <p:nvSpPr>
          <p:cNvPr id="2" name="Rectangle 1"/>
          <p:cNvSpPr/>
          <p:nvPr/>
        </p:nvSpPr>
        <p:spPr>
          <a:xfrm>
            <a:off x="1772518" y="4437112"/>
            <a:ext cx="3231529" cy="1512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5004047" y="3140968"/>
            <a:ext cx="2592891" cy="2808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763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We always choose the next step that climbs up the gradient</a:t>
            </a:r>
          </a:p>
          <a:p>
            <a:r>
              <a:rPr lang="en-GB" sz="2000" dirty="0"/>
              <a:t>When we cannot go up any more we are at summit</a:t>
            </a:r>
          </a:p>
          <a:p>
            <a:pPr>
              <a:buNone/>
            </a:pPr>
            <a:r>
              <a:rPr lang="en-GB" sz="2000" dirty="0"/>
              <a:t>	Example: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2518" y="2132856"/>
            <a:ext cx="5598964" cy="415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5004047" y="3140968"/>
            <a:ext cx="2592891" cy="2808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3347864" y="4941168"/>
            <a:ext cx="3033322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3136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We always choose the next step that climbs up the gradient</a:t>
            </a:r>
          </a:p>
          <a:p>
            <a:r>
              <a:rPr lang="en-GB" sz="2000" dirty="0"/>
              <a:t>When we cannot go up any more we are at summit</a:t>
            </a:r>
          </a:p>
          <a:p>
            <a:pPr>
              <a:buNone/>
            </a:pPr>
            <a:r>
              <a:rPr lang="en-GB" sz="2000" dirty="0"/>
              <a:t>	Example: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2518" y="2132856"/>
            <a:ext cx="5598964" cy="415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  <p:sp>
        <p:nvSpPr>
          <p:cNvPr id="7" name="Rectangle 6"/>
          <p:cNvSpPr/>
          <p:nvPr/>
        </p:nvSpPr>
        <p:spPr>
          <a:xfrm>
            <a:off x="5004047" y="3140968"/>
            <a:ext cx="2592891" cy="1728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987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We always choose the next step that climbs up the gradient</a:t>
            </a:r>
          </a:p>
          <a:p>
            <a:r>
              <a:rPr lang="en-GB" sz="2000" dirty="0"/>
              <a:t>When we cannot go up any more we are at summit</a:t>
            </a:r>
          </a:p>
          <a:p>
            <a:pPr>
              <a:buNone/>
            </a:pPr>
            <a:r>
              <a:rPr lang="en-GB" sz="2000" dirty="0"/>
              <a:t>	Example: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2518" y="2132856"/>
            <a:ext cx="5598964" cy="4151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76386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Very low memory usage</a:t>
            </a:r>
          </a:p>
          <a:p>
            <a:pPr lvl="1"/>
            <a:r>
              <a:rPr lang="en-GB" dirty="0"/>
              <a:t>Only needs current node and its neighbours</a:t>
            </a:r>
          </a:p>
          <a:p>
            <a:pPr lvl="1"/>
            <a:r>
              <a:rPr lang="en-GB" dirty="0"/>
              <a:t>Everything else is forgotten</a:t>
            </a:r>
          </a:p>
          <a:p>
            <a:pPr lvl="1"/>
            <a:endParaRPr lang="en-GB" dirty="0"/>
          </a:p>
          <a:p>
            <a:r>
              <a:rPr lang="en-GB" dirty="0"/>
              <a:t>What could go wrong?</a:t>
            </a:r>
          </a:p>
          <a:p>
            <a:pPr lvl="1"/>
            <a:r>
              <a:rPr lang="en-GB" dirty="0"/>
              <a:t>No, really that’s a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 Problems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Plateau Problem</a:t>
            </a:r>
          </a:p>
          <a:p>
            <a:pPr lvl="1"/>
            <a:r>
              <a:rPr lang="en-GB" sz="2400" dirty="0"/>
              <a:t>When we are on a plateau how do we choose the next step? (can lead to blind search!)</a:t>
            </a:r>
          </a:p>
          <a:p>
            <a:endParaRPr lang="en-GB" sz="2800" dirty="0"/>
          </a:p>
          <a:p>
            <a:r>
              <a:rPr lang="en-GB" sz="2800" dirty="0"/>
              <a:t>Foothill Problem</a:t>
            </a:r>
          </a:p>
          <a:p>
            <a:pPr lvl="1"/>
            <a:r>
              <a:rPr lang="en-GB" sz="2400" dirty="0"/>
              <a:t>The peak we have found is not the summit but only the top of a neighbouring foothill</a:t>
            </a:r>
          </a:p>
          <a:p>
            <a:pPr lvl="1"/>
            <a:r>
              <a:rPr lang="en-GB" sz="2400" dirty="0"/>
              <a:t>That is, it is a local maximum, not the global one!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 Problems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Ridge Problem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Assume we are on ridge extending NE to SW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If we can move in only four directions (N,S,E,W) then all four steps lead down the gradient!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We need to increase the number of directions we look in to search for successor states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251FD29-21C2-4762-8464-038107BCE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9601" y="3720050"/>
            <a:ext cx="3384798" cy="289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Hill Climbing Problems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2400" dirty="0"/>
              <a:t>When we reach local maximum we could resort to simple non deterministic search to check for other maximums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2400" dirty="0"/>
              <a:t>Try </a:t>
            </a:r>
            <a:r>
              <a:rPr lang="en-GB" sz="2400" b="1" dirty="0"/>
              <a:t>Simulated Annealing 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Allow some bad moves but gradually decrease their frequency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Temperature dictates the likelihood of choosing nodes of the same or lower values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At higher temperatures search could go any direction</a:t>
            </a:r>
            <a:endParaRPr lang="en-GB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3740266"/>
            <a:ext cx="3384798" cy="2895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Best First Search (Greedy Search)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400" dirty="0"/>
              <a:t>Here we combine breath first search with a heuristic measure</a:t>
            </a:r>
          </a:p>
          <a:p>
            <a:pPr lvl="1"/>
            <a:r>
              <a:rPr lang="en-GB" sz="2000" dirty="0"/>
              <a:t>We always choose the best open node (partial path) no matter what the length of the path is</a:t>
            </a:r>
          </a:p>
          <a:p>
            <a:r>
              <a:rPr lang="en-GB" sz="2400" dirty="0"/>
              <a:t>Very similar to breath first with only minor changes</a:t>
            </a:r>
          </a:p>
          <a:p>
            <a:pPr lvl="1"/>
            <a:r>
              <a:rPr lang="en-GB" sz="2000" dirty="0"/>
              <a:t>Change the queue to a sorted list – new paths are inserted in sorted order!</a:t>
            </a:r>
          </a:p>
          <a:p>
            <a:pPr lvl="1"/>
            <a:r>
              <a:rPr lang="en-GB" sz="2000" dirty="0"/>
              <a:t>Paths are ordered by </a:t>
            </a:r>
            <a:r>
              <a:rPr lang="en-GB" sz="2000" b="1" dirty="0"/>
              <a:t>estimated distance </a:t>
            </a:r>
            <a:r>
              <a:rPr lang="en-GB" sz="2000" dirty="0"/>
              <a:t>of terminal node to Goal node</a:t>
            </a:r>
          </a:p>
          <a:p>
            <a:endParaRPr lang="en-GB" sz="2400" dirty="0"/>
          </a:p>
          <a:p>
            <a:r>
              <a:rPr lang="en-GB" sz="2400" dirty="0"/>
              <a:t>Best First Search often used in web crawlers</a:t>
            </a:r>
          </a:p>
          <a:p>
            <a:pPr lvl="1"/>
            <a:r>
              <a:rPr lang="en-GB" sz="2000" dirty="0"/>
              <a:t>Each web page treated as a node</a:t>
            </a:r>
          </a:p>
          <a:p>
            <a:pPr lvl="1"/>
            <a:r>
              <a:rPr lang="en-GB" sz="2000" dirty="0"/>
              <a:t>Hyperlinks treated as successor nodes in the search space</a:t>
            </a:r>
          </a:p>
          <a:p>
            <a:pPr lvl="1"/>
            <a:r>
              <a:rPr lang="en-GB" sz="2000" dirty="0"/>
              <a:t>Evaluation function assigns priority to links based on similarity of content of parent page to search query</a:t>
            </a:r>
          </a:p>
          <a:p>
            <a:pPr lvl="1"/>
            <a:endParaRPr lang="en-GB" sz="2000" dirty="0"/>
          </a:p>
          <a:p>
            <a:r>
              <a:rPr lang="en-GB" sz="2400" dirty="0">
                <a:hlinkClick r:id="rId2"/>
              </a:rPr>
              <a:t>Nice visualisation on YouTube</a:t>
            </a: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 noGrp="1" noChangeArrowheads="1"/>
          </p:cNvSpPr>
          <p:nvPr>
            <p:ph type="title"/>
          </p:nvPr>
        </p:nvSpPr>
        <p:spPr>
          <a:xfrm>
            <a:off x="395536" y="274638"/>
            <a:ext cx="7344816" cy="778098"/>
          </a:xfrm>
        </p:spPr>
        <p:txBody>
          <a:bodyPr/>
          <a:lstStyle/>
          <a:p>
            <a:r>
              <a:rPr lang="en-GB" sz="28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Best First Search (non Greedy) – Sound Familiar?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125538"/>
            <a:ext cx="8229600" cy="50006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000" dirty="0"/>
              <a:t>f(n) = g(n) + h(n)</a:t>
            </a:r>
          </a:p>
          <a:p>
            <a:pPr>
              <a:buNone/>
            </a:pPr>
            <a:r>
              <a:rPr lang="en-GB" sz="2000" dirty="0"/>
              <a:t>g(n) = distance from start state</a:t>
            </a:r>
          </a:p>
          <a:p>
            <a:pPr>
              <a:buNone/>
            </a:pPr>
            <a:r>
              <a:rPr lang="en-GB" sz="2000" dirty="0"/>
              <a:t>h(n) = no. of tiles out of place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1078185"/>
            <a:ext cx="5095875" cy="559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  <p:sp>
        <p:nvSpPr>
          <p:cNvPr id="2" name="Left Brace 1"/>
          <p:cNvSpPr/>
          <p:nvPr/>
        </p:nvSpPr>
        <p:spPr>
          <a:xfrm>
            <a:off x="2843808" y="2996952"/>
            <a:ext cx="504056" cy="158417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Rounded Rectangle 2"/>
          <p:cNvSpPr/>
          <p:nvPr/>
        </p:nvSpPr>
        <p:spPr>
          <a:xfrm>
            <a:off x="1187624" y="3284984"/>
            <a:ext cx="1440160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Non Greedy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Beam Search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Beam Search is an optimisation of the Best-First search</a:t>
            </a:r>
          </a:p>
          <a:p>
            <a:pPr lvl="1"/>
            <a:r>
              <a:rPr lang="en-GB" sz="2000" dirty="0"/>
              <a:t>Only the best </a:t>
            </a:r>
            <a:r>
              <a:rPr lang="en-GB" sz="2000" b="1" dirty="0" err="1"/>
              <a:t>k</a:t>
            </a:r>
            <a:r>
              <a:rPr lang="en-GB" sz="2000" dirty="0"/>
              <a:t> paths are kept!</a:t>
            </a:r>
          </a:p>
          <a:p>
            <a:pPr lvl="1"/>
            <a:r>
              <a:rPr lang="en-GB" sz="2000" dirty="0"/>
              <a:t>The rest are discarded</a:t>
            </a:r>
          </a:p>
          <a:p>
            <a:r>
              <a:rPr lang="en-GB" sz="2400" dirty="0"/>
              <a:t>This ensures that we do not suffer from a combinational explosion of possible paths</a:t>
            </a:r>
          </a:p>
          <a:p>
            <a:r>
              <a:rPr lang="en-GB" sz="2400" dirty="0"/>
              <a:t>We always have a constant number of alternatives</a:t>
            </a:r>
          </a:p>
          <a:p>
            <a:pPr lvl="1"/>
            <a:r>
              <a:rPr lang="en-GB" sz="2000" dirty="0"/>
              <a:t>Memory usage is constant</a:t>
            </a:r>
          </a:p>
          <a:p>
            <a:pPr lvl="1"/>
            <a:r>
              <a:rPr lang="en-GB" sz="2000" dirty="0"/>
              <a:t>Time is related to k</a:t>
            </a:r>
          </a:p>
          <a:p>
            <a:r>
              <a:rPr lang="en-GB" sz="2400" dirty="0"/>
              <a:t>Optimisation:</a:t>
            </a:r>
          </a:p>
          <a:p>
            <a:pPr lvl="1"/>
            <a:r>
              <a:rPr lang="en-GB" sz="2000" dirty="0"/>
              <a:t>Ignore leaf nodes that are not goal nodes</a:t>
            </a:r>
          </a:p>
          <a:p>
            <a:endParaRPr lang="en-GB" sz="2400" dirty="0"/>
          </a:p>
          <a:p>
            <a:r>
              <a:rPr lang="en-GB" sz="2400" dirty="0"/>
              <a:t>Any problems with Beam Search?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16</a:t>
            </a:fld>
            <a:endParaRPr lang="en-IE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Reducing CPU Overhead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000" dirty="0"/>
              <a:t>Need to watch out for load spikes</a:t>
            </a:r>
          </a:p>
          <a:p>
            <a:pPr>
              <a:buFontTx/>
              <a:buChar char="-"/>
            </a:pPr>
            <a:r>
              <a:rPr lang="en-US" sz="2000" dirty="0"/>
              <a:t>Lots of NPCs all requesting searches</a:t>
            </a:r>
          </a:p>
          <a:p>
            <a:pPr>
              <a:buFontTx/>
              <a:buChar char="-"/>
            </a:pPr>
            <a:r>
              <a:rPr lang="en-US" sz="2000" dirty="0"/>
              <a:t>Use pre-calculated paths especially with static maps</a:t>
            </a:r>
          </a:p>
          <a:p>
            <a:pPr lvl="1">
              <a:buFontTx/>
              <a:buChar char="-"/>
            </a:pPr>
            <a:r>
              <a:rPr lang="en-US" sz="1800" dirty="0"/>
              <a:t>Store with maps, or</a:t>
            </a:r>
          </a:p>
          <a:p>
            <a:pPr lvl="1">
              <a:buFontTx/>
              <a:buChar char="-"/>
            </a:pPr>
            <a:r>
              <a:rPr lang="en-US" sz="1800" dirty="0"/>
              <a:t>Once at load time (suitable algorithm for this?)</a:t>
            </a:r>
          </a:p>
          <a:p>
            <a:r>
              <a:rPr lang="en-US" sz="2000" dirty="0"/>
              <a:t>Could also maintain costs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8" y="3379837"/>
            <a:ext cx="204787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67744" y="4797152"/>
            <a:ext cx="1746403" cy="1741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6016" y="4797152"/>
            <a:ext cx="1730776" cy="1728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17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NPC getting stuck?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IE" sz="2800" dirty="0"/>
          </a:p>
          <a:p>
            <a:pPr>
              <a:buNone/>
            </a:pPr>
            <a:r>
              <a:rPr lang="en-IE" sz="2800" dirty="0"/>
              <a:t>Heuristic:</a:t>
            </a:r>
          </a:p>
          <a:p>
            <a:pPr>
              <a:buSzPct val="75000"/>
              <a:buFont typeface="Wingdings" panose="05000000000000000000" pitchFamily="2" charset="2"/>
              <a:buChar char="Ø"/>
            </a:pPr>
            <a:r>
              <a:rPr lang="en-IE" sz="2800" dirty="0"/>
              <a:t>calculate the distance to NPC’s current waypoint each update step</a:t>
            </a:r>
          </a:p>
          <a:p>
            <a:pPr>
              <a:buSzPct val="75000"/>
              <a:buFont typeface="Wingdings" panose="05000000000000000000" pitchFamily="2" charset="2"/>
              <a:buChar char="Ø"/>
            </a:pPr>
            <a:r>
              <a:rPr lang="en-IE" sz="2800" dirty="0"/>
              <a:t>if this value remains about the same or consistently increases then it’s probably stuck</a:t>
            </a:r>
          </a:p>
          <a:p>
            <a:pPr>
              <a:buSzPct val="75000"/>
              <a:buFont typeface="Wingdings" panose="05000000000000000000" pitchFamily="2" charset="2"/>
              <a:buChar char="Ø"/>
            </a:pPr>
            <a:r>
              <a:rPr lang="en-IE" sz="2800" dirty="0"/>
              <a:t>backup and re-plan</a:t>
            </a:r>
            <a:endParaRPr lang="en-US" sz="2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18</a:t>
            </a:fld>
            <a:endParaRPr lang="en-I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6228</TotalTime>
  <Words>996</Words>
  <Application>Microsoft Office PowerPoint</Application>
  <PresentationFormat>On-screen Show (4:3)</PresentationFormat>
  <Paragraphs>143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Wingdings</vt:lpstr>
      <vt:lpstr>Custom Design</vt:lpstr>
      <vt:lpstr>1_Custom Design</vt:lpstr>
      <vt:lpstr>Heuristic Search</vt:lpstr>
      <vt:lpstr>Heuristic Search</vt:lpstr>
      <vt:lpstr>Hill Climbing Search</vt:lpstr>
      <vt:lpstr>Hill Climbing</vt:lpstr>
      <vt:lpstr>Hill Climbing</vt:lpstr>
      <vt:lpstr>Hill Climbing</vt:lpstr>
      <vt:lpstr>Hill Climbing</vt:lpstr>
      <vt:lpstr>Hill Climbing</vt:lpstr>
      <vt:lpstr>Hill Climbing</vt:lpstr>
      <vt:lpstr>Hill Climbing</vt:lpstr>
      <vt:lpstr>Hill Climbing Problems</vt:lpstr>
      <vt:lpstr>Hill Climbing Problems</vt:lpstr>
      <vt:lpstr>Hill Climbing Problems</vt:lpstr>
      <vt:lpstr>Best First Search (Greedy Search)</vt:lpstr>
      <vt:lpstr>Best First Search (non Greedy) – Sound Familiar?</vt:lpstr>
      <vt:lpstr>Beam Search</vt:lpstr>
      <vt:lpstr>Reducing CPU Overhead</vt:lpstr>
      <vt:lpstr>NPC getting stuck?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853</cp:revision>
  <dcterms:created xsi:type="dcterms:W3CDTF">2007-05-08T17:20:09Z</dcterms:created>
  <dcterms:modified xsi:type="dcterms:W3CDTF">2025-10-09T08:06:05Z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