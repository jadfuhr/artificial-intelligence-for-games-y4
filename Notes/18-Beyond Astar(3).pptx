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17"/>
  </p:notesMasterIdLst>
  <p:sldIdLst>
    <p:sldId id="271" r:id="rId3"/>
    <p:sldId id="285" r:id="rId4"/>
    <p:sldId id="273" r:id="rId5"/>
    <p:sldId id="272" r:id="rId6"/>
    <p:sldId id="274" r:id="rId7"/>
    <p:sldId id="275" r:id="rId8"/>
    <p:sldId id="281" r:id="rId9"/>
    <p:sldId id="276" r:id="rId10"/>
    <p:sldId id="277" r:id="rId11"/>
    <p:sldId id="282" r:id="rId12"/>
    <p:sldId id="283" r:id="rId13"/>
    <p:sldId id="278" r:id="rId14"/>
    <p:sldId id="284" r:id="rId15"/>
    <p:sldId id="279" r:id="rId16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AD3A75-7215-4E28-B5A6-4464EBAB2080}" v="1" dt="2024-10-21T10:37:15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71" autoAdjust="0"/>
  </p:normalViewPr>
  <p:slideViewPr>
    <p:cSldViewPr>
      <p:cViewPr varScale="1">
        <p:scale>
          <a:sx n="61" d="100"/>
          <a:sy n="61" d="100"/>
        </p:scale>
        <p:origin x="1517" y="5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6b66d80f-e52a-4eb8-b588-9059f489afa4" providerId="ADAL" clId="{BDAD3A75-7215-4E28-B5A6-4464EBAB2080}"/>
    <pc:docChg chg="modSld">
      <pc:chgData name="Oisin Cawley" userId="6b66d80f-e52a-4eb8-b588-9059f489afa4" providerId="ADAL" clId="{BDAD3A75-7215-4E28-B5A6-4464EBAB2080}" dt="2024-11-04T09:56:51.539" v="10" actId="20577"/>
      <pc:docMkLst>
        <pc:docMk/>
      </pc:docMkLst>
      <pc:sldChg chg="modSp mod">
        <pc:chgData name="Oisin Cawley" userId="6b66d80f-e52a-4eb8-b588-9059f489afa4" providerId="ADAL" clId="{BDAD3A75-7215-4E28-B5A6-4464EBAB2080}" dt="2024-11-04T09:55:27.713" v="8" actId="20577"/>
        <pc:sldMkLst>
          <pc:docMk/>
          <pc:sldMk cId="0" sldId="272"/>
        </pc:sldMkLst>
        <pc:spChg chg="mod">
          <ac:chgData name="Oisin Cawley" userId="6b66d80f-e52a-4eb8-b588-9059f489afa4" providerId="ADAL" clId="{BDAD3A75-7215-4E28-B5A6-4464EBAB2080}" dt="2024-11-04T09:55:27.713" v="8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Oisin Cawley" userId="6b66d80f-e52a-4eb8-b588-9059f489afa4" providerId="ADAL" clId="{BDAD3A75-7215-4E28-B5A6-4464EBAB2080}" dt="2024-11-04T09:56:51.539" v="10" actId="20577"/>
        <pc:sldMkLst>
          <pc:docMk/>
          <pc:sldMk cId="0" sldId="276"/>
        </pc:sldMkLst>
        <pc:spChg chg="mod">
          <ac:chgData name="Oisin Cawley" userId="6b66d80f-e52a-4eb8-b588-9059f489afa4" providerId="ADAL" clId="{BDAD3A75-7215-4E28-B5A6-4464EBAB2080}" dt="2024-11-04T09:56:51.539" v="10" actId="20577"/>
          <ac:spMkLst>
            <pc:docMk/>
            <pc:sldMk cId="0" sldId="276"/>
            <ac:spMk id="3" creationId="{00000000-0000-0000-0000-000000000000}"/>
          </ac:spMkLst>
        </pc:spChg>
      </pc:sldChg>
    </pc:docChg>
  </pc:docChgLst>
  <pc:docChgLst>
    <pc:chgData name="Oisin Cawley" userId="6b66d80f-e52a-4eb8-b588-9059f489afa4" providerId="ADAL" clId="{F4EA88A6-D9CD-4F07-B6DE-C589C5C02F47}"/>
    <pc:docChg chg="custSel delSld modSld modMainMaster">
      <pc:chgData name="Oisin Cawley" userId="6b66d80f-e52a-4eb8-b588-9059f489afa4" providerId="ADAL" clId="{F4EA88A6-D9CD-4F07-B6DE-C589C5C02F47}" dt="2023-11-06T12:41:03.264" v="118" actId="20577"/>
      <pc:docMkLst>
        <pc:docMk/>
      </pc:docMkLst>
      <pc:sldChg chg="modNotesTx">
        <pc:chgData name="Oisin Cawley" userId="6b66d80f-e52a-4eb8-b588-9059f489afa4" providerId="ADAL" clId="{F4EA88A6-D9CD-4F07-B6DE-C589C5C02F47}" dt="2023-11-06T12:41:03.264" v="118" actId="20577"/>
        <pc:sldMkLst>
          <pc:docMk/>
          <pc:sldMk cId="0" sldId="279"/>
        </pc:sldMkLst>
      </pc:sldChg>
      <pc:sldMasterChg chg="addSp delSp">
        <pc:chgData name="Oisin Cawley" userId="6b66d80f-e52a-4eb8-b588-9059f489afa4" providerId="ADAL" clId="{F4EA88A6-D9CD-4F07-B6DE-C589C5C02F47}" dt="2023-10-09T11:28:23.347" v="3"/>
        <pc:sldMasterMkLst>
          <pc:docMk/>
          <pc:sldMasterMk cId="0" sldId="2147483840"/>
        </pc:sldMasterMkLst>
        <pc:picChg chg="add">
          <ac:chgData name="Oisin Cawley" userId="6b66d80f-e52a-4eb8-b588-9059f489afa4" providerId="ADAL" clId="{F4EA88A6-D9CD-4F07-B6DE-C589C5C02F47}" dt="2023-10-09T11:28:23.347" v="3"/>
          <ac:picMkLst>
            <pc:docMk/>
            <pc:sldMasterMk cId="0" sldId="2147483840"/>
            <ac:picMk id="8" creationId="{B99063D6-5FAC-426E-9909-3FAD73DABD03}"/>
          </ac:picMkLst>
        </pc:picChg>
        <pc:picChg chg="del">
          <ac:chgData name="Oisin Cawley" userId="6b66d80f-e52a-4eb8-b588-9059f489afa4" providerId="ADAL" clId="{F4EA88A6-D9CD-4F07-B6DE-C589C5C02F47}" dt="2023-10-09T11:28:22.457" v="2" actId="478"/>
          <ac:picMkLst>
            <pc:docMk/>
            <pc:sldMasterMk cId="0" sldId="2147483840"/>
            <ac:picMk id="1030" creationId="{00000000-0000-0000-0000-000000000000}"/>
          </ac:picMkLst>
        </pc:picChg>
      </pc:sldMasterChg>
      <pc:sldMasterChg chg="addSp delSp">
        <pc:chgData name="Oisin Cawley" userId="6b66d80f-e52a-4eb8-b588-9059f489afa4" providerId="ADAL" clId="{F4EA88A6-D9CD-4F07-B6DE-C589C5C02F47}" dt="2023-10-09T11:28:17.788" v="1"/>
        <pc:sldMasterMkLst>
          <pc:docMk/>
          <pc:sldMasterMk cId="0" sldId="2147483869"/>
        </pc:sldMasterMkLst>
        <pc:picChg chg="del">
          <ac:chgData name="Oisin Cawley" userId="6b66d80f-e52a-4eb8-b588-9059f489afa4" providerId="ADAL" clId="{F4EA88A6-D9CD-4F07-B6DE-C589C5C02F47}" dt="2023-10-09T11:28:17.271" v="0" actId="478"/>
          <ac:picMkLst>
            <pc:docMk/>
            <pc:sldMasterMk cId="0" sldId="2147483869"/>
            <ac:picMk id="8" creationId="{00000000-0000-0000-0000-000000000000}"/>
          </ac:picMkLst>
        </pc:picChg>
        <pc:picChg chg="add">
          <ac:chgData name="Oisin Cawley" userId="6b66d80f-e52a-4eb8-b588-9059f489afa4" providerId="ADAL" clId="{F4EA88A6-D9CD-4F07-B6DE-C589C5C02F47}" dt="2023-10-09T11:28:17.788" v="1"/>
          <ac:picMkLst>
            <pc:docMk/>
            <pc:sldMasterMk cId="0" sldId="2147483869"/>
            <ac:picMk id="9" creationId="{F6739ADE-99B3-4C1C-BE30-27D5ADFDA778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can also check out HAA*: https://web.archive.org/web/20190411040123/http://aigamedev.com/open/article/clearance-based-pathfinding/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Recall the </a:t>
            </a:r>
            <a:r>
              <a:rPr lang="en-IE" dirty="0" err="1"/>
              <a:t>mindcraft</a:t>
            </a:r>
            <a:r>
              <a:rPr lang="en-IE" dirty="0"/>
              <a:t> search example video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06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Check out “Anytime D*” (</a:t>
            </a:r>
            <a:r>
              <a:rPr lang="en-GB" dirty="0" err="1"/>
              <a:t>Likhachev</a:t>
            </a:r>
            <a:r>
              <a:rPr lang="en-GB" dirty="0"/>
              <a:t> et al., 2005) on Blackboard 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25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character may move during this time D* or LPS* can be useful to avoid having to start over.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43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B99063D6-5FAC-426E-9909-3FAD73DABD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F6739ADE-99B3-4C1C-BE30-27D5ADFDA7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Improving on A*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E" sz="2400" dirty="0"/>
              <a:t>Many game environments are huge (massively multi-player games)</a:t>
            </a:r>
          </a:p>
          <a:p>
            <a:r>
              <a:rPr lang="en-IE" sz="2400" dirty="0"/>
              <a:t>Can contain millions of locations</a:t>
            </a:r>
          </a:p>
          <a:p>
            <a:r>
              <a:rPr lang="en-IE" sz="2400" dirty="0"/>
              <a:t>A* would be extremely slow and use a huge amount of memory</a:t>
            </a:r>
          </a:p>
          <a:p>
            <a:r>
              <a:rPr lang="en-IE" sz="2400" dirty="0"/>
              <a:t>Variations of A* dramatically reduce the amount of memory required, but at the cost of performance</a:t>
            </a:r>
          </a:p>
          <a:p>
            <a:endParaRPr lang="en-US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GB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Hierarchical </a:t>
            </a:r>
            <a:r>
              <a:rPr lang="en-GB" sz="32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Pathfinding</a:t>
            </a:r>
            <a:endParaRPr lang="en-GB" sz="32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E" sz="2400" dirty="0"/>
              <a:t>For larger and more complex game environments</a:t>
            </a:r>
          </a:p>
          <a:p>
            <a:pPr>
              <a:buFontTx/>
              <a:buChar char="-"/>
            </a:pPr>
            <a:r>
              <a:rPr lang="en-IE" sz="2400" dirty="0"/>
              <a:t>Similar to how people plan a route</a:t>
            </a:r>
          </a:p>
          <a:p>
            <a:pPr>
              <a:buFontTx/>
              <a:buChar char="-"/>
            </a:pPr>
            <a:r>
              <a:rPr lang="en-IE" sz="2400" dirty="0"/>
              <a:t>Typically two levels but could be more</a:t>
            </a:r>
          </a:p>
          <a:p>
            <a:pPr>
              <a:buFontTx/>
              <a:buChar char="-"/>
            </a:pPr>
            <a:r>
              <a:rPr lang="en-IE" sz="2400" dirty="0"/>
              <a:t>First plan high</a:t>
            </a:r>
          </a:p>
          <a:p>
            <a:pPr>
              <a:buFontTx/>
              <a:buChar char="-"/>
            </a:pPr>
            <a:r>
              <a:rPr lang="en-IE" sz="2400" dirty="0"/>
              <a:t>Then refine at low level when needed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3717032"/>
            <a:ext cx="4447553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63088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Hierarchical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Pathfinding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 nodes in clusters</a:t>
            </a:r>
          </a:p>
          <a:p>
            <a:pPr lvl="0"/>
            <a:r>
              <a:rPr lang="en-US" sz="3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cluster becomes a node in a higher-level graph</a:t>
            </a:r>
          </a:p>
          <a:p>
            <a:pPr lvl="0"/>
            <a:r>
              <a:rPr lang="en-US" sz="3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Repeat as often as needed, for many levels of graph</a:t>
            </a:r>
          </a:p>
          <a:p>
            <a:pPr lvl="0"/>
            <a:r>
              <a:rPr lang="en-US" sz="3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Connections between these higher-level nodes need to be added</a:t>
            </a:r>
          </a:p>
          <a:p>
            <a:pPr lvl="1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an edge exists from any node in one cluster to any node in another then an edge exists between the corresponding cluster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</a:t>
            </a:fld>
            <a:endParaRPr lang="en-I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Hierarchical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Pathfinding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A* (HPA*)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471814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node represents a </a:t>
            </a:r>
            <a:r>
              <a:rPr lang="en-US" sz="2400" dirty="0"/>
              <a:t>collection of nodes</a:t>
            </a:r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have many levels of graph</a:t>
            </a:r>
          </a:p>
          <a:p>
            <a:pPr lvl="0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 from highest level down where start and goal locations are not in the same node</a:t>
            </a:r>
          </a:p>
          <a:p>
            <a:pPr lvl="0"/>
            <a:r>
              <a:rPr lang="en-US" sz="2400" dirty="0"/>
              <a:t>Continue </a:t>
            </a:r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until we are at lowest level and have a full path</a:t>
            </a:r>
          </a:p>
          <a:p>
            <a:pPr lvl="0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plan each subgraph in turn as needed using A*</a:t>
            </a:r>
          </a:p>
          <a:p>
            <a:pPr lvl="0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Split full path planning over time</a:t>
            </a:r>
          </a:p>
          <a:p>
            <a:pPr lvl="0"/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endParaRPr lang="en-US" sz="2400" dirty="0"/>
          </a:p>
          <a:p>
            <a:pPr lvl="0"/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endParaRPr lang="en-US" sz="2400" dirty="0"/>
          </a:p>
          <a:p>
            <a:pPr lvl="0"/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>
              <a:buNone/>
            </a:pPr>
            <a:r>
              <a:rPr lang="en-US" sz="1700" dirty="0"/>
              <a:t>Image source: https://skatgame.net/mburo/ps/path.pdf</a:t>
            </a:r>
            <a:endParaRPr lang="en-US" sz="17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1985" y="3717032"/>
            <a:ext cx="6100030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4</a:t>
            </a:fld>
            <a:endParaRPr lang="en-I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Edge Costs in HPA*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cost do we attach to these edges?</a:t>
            </a:r>
          </a:p>
          <a:p>
            <a:pPr lvl="0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 of moving from one cluster to another depends on where in the cluster we start!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Implies different costs</a:t>
            </a:r>
          </a:p>
          <a:p>
            <a:pPr lvl="0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do we pick correct cost?</a:t>
            </a:r>
          </a:p>
          <a:p>
            <a:pPr lvl="0"/>
            <a:r>
              <a:rPr lang="en-US" sz="2800" dirty="0"/>
              <a:t>We use a heuristic:</a:t>
            </a:r>
            <a:endParaRPr lang="en-US" sz="28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 distance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“Maximin” distance (multiple entry points)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 minimum distance</a:t>
            </a:r>
          </a:p>
          <a:p>
            <a:pPr lvl="0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 depends on circumstances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5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Instanced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>
            <a:normAutofit/>
          </a:bodyPr>
          <a:lstStyle/>
          <a:p>
            <a:pPr lvl="0"/>
            <a:r>
              <a:rPr lang="en-US" sz="3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Single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player or level-based games</a:t>
            </a:r>
          </a:p>
          <a:p>
            <a:pPr lvl="1"/>
            <a:r>
              <a:rPr lang="en-US" sz="2600" baseline="0" dirty="0"/>
              <a:t>All level detail typically unique</a:t>
            </a:r>
          </a:p>
          <a:p>
            <a:pPr lvl="1"/>
            <a:r>
              <a:rPr lang="en-US" sz="2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Pathfinding</a:t>
            </a:r>
            <a:r>
              <a:rPr lang="en-US" sz="2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graph is unique</a:t>
            </a:r>
            <a:endParaRPr lang="en-US" sz="26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3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 game has a very large level (e.g. RPG, MMOG) </a:t>
            </a:r>
          </a:p>
          <a:p>
            <a:pPr lvl="1"/>
            <a:r>
              <a:rPr lang="en-US" sz="2600" dirty="0"/>
              <a:t>Can’t have the same detailed, unique modeling</a:t>
            </a:r>
          </a:p>
          <a:p>
            <a:pPr lvl="1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Normally one large definition</a:t>
            </a:r>
            <a:r>
              <a:rPr lang="en-US" sz="2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topology</a:t>
            </a:r>
          </a:p>
          <a:p>
            <a:pPr lvl="1"/>
            <a:r>
              <a:rPr lang="en-US" sz="2600" baseline="0" dirty="0"/>
              <a:t>But</a:t>
            </a:r>
            <a:r>
              <a:rPr lang="en-US" sz="2600" dirty="0"/>
              <a:t> use generic structures for common objects</a:t>
            </a:r>
          </a:p>
          <a:p>
            <a:pPr lvl="2"/>
            <a:r>
              <a:rPr lang="en-US" sz="2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may also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 unique</a:t>
            </a:r>
          </a:p>
          <a:p>
            <a:pPr lvl="1"/>
            <a:r>
              <a:rPr lang="en-US" sz="2600" baseline="0" dirty="0"/>
              <a:t>Only maintain one copy of a</a:t>
            </a:r>
            <a:r>
              <a:rPr lang="en-US" sz="2600" dirty="0"/>
              <a:t> structure’s </a:t>
            </a:r>
            <a:r>
              <a:rPr lang="en-US" sz="2600" dirty="0" err="1"/>
              <a:t>pathfinding</a:t>
            </a:r>
            <a:r>
              <a:rPr lang="en-US" sz="2600" dirty="0"/>
              <a:t> graph, and reuse</a:t>
            </a:r>
            <a:endParaRPr lang="en-US" sz="26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6</a:t>
            </a:fld>
            <a:endParaRPr lang="en-I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Instanced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sz="3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Maybe ten different types of building but 100's of actual instances of these buildings</a:t>
            </a:r>
          </a:p>
          <a:p>
            <a:pPr lvl="1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keep track of the </a:t>
            </a:r>
            <a:r>
              <a:rPr lang="en-US" sz="2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instance</a:t>
            </a:r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building type</a:t>
            </a:r>
          </a:p>
          <a:p>
            <a:pPr lvl="1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hold an instance graph for each building instance</a:t>
            </a:r>
          </a:p>
          <a:p>
            <a:pPr lvl="1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 map this onto a building type graph as required</a:t>
            </a:r>
          </a:p>
          <a:p>
            <a:pPr lvl="1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building instance acts like a translator</a:t>
            </a:r>
          </a:p>
          <a:p>
            <a:pPr lvl="2"/>
            <a:r>
              <a:rPr lang="en-US" sz="2200" dirty="0"/>
              <a:t>Instance nodes &lt;-&gt; Building Type nodes</a:t>
            </a:r>
          </a:p>
          <a:p>
            <a:pPr lvl="1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Instance </a:t>
            </a:r>
            <a:r>
              <a:rPr lang="en-US" sz="26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delegates</a:t>
            </a:r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pathfinding to the Building Type</a:t>
            </a:r>
          </a:p>
          <a:p>
            <a:endParaRPr lang="en-US" sz="3000" dirty="0"/>
          </a:p>
          <a:p>
            <a:r>
              <a:rPr lang="en-US" sz="3000" dirty="0"/>
              <a:t>Adds complexity to the pathfinding loop</a:t>
            </a:r>
          </a:p>
          <a:p>
            <a:r>
              <a:rPr lang="en-US" sz="3000" dirty="0"/>
              <a:t>Can be sensitive to inefficiencies in the graph data structure</a:t>
            </a:r>
          </a:p>
          <a:p>
            <a:pPr lvl="1"/>
            <a:r>
              <a:rPr lang="en-US" sz="2600" dirty="0"/>
              <a:t>May not be worth the time lag if you can get away with a single master graph.</a:t>
            </a:r>
            <a:endParaRPr lang="en-US" sz="26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7</a:t>
            </a:fld>
            <a:endParaRPr lang="en-I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Open Goal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Pathfinding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if there is more than one goal node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e.g. </a:t>
            </a:r>
            <a:r>
              <a:rPr lang="en-US" sz="24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fire exit, of which there are 2 or more</a:t>
            </a:r>
          </a:p>
          <a:p>
            <a:pPr lvl="1"/>
            <a:r>
              <a:rPr lang="en-US" sz="2400" dirty="0"/>
              <a:t>What if one is blocked?</a:t>
            </a:r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Rarely used because of issues with moving to correct goal node (especially with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large search spaces)</a:t>
            </a:r>
            <a:endParaRPr lang="en-US" sz="28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Generally have a </a:t>
            </a:r>
            <a:r>
              <a:rPr lang="en-US"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separate decision-making </a:t>
            </a:r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procedure that picks one particular goal node first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find path to that node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8</a:t>
            </a:fld>
            <a:endParaRPr lang="en-I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Dynamic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Pathfinding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D*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600" dirty="0"/>
              <a:t>A* assumes static environment and complete world knowledge</a:t>
            </a:r>
          </a:p>
          <a:p>
            <a:pPr lvl="0"/>
            <a:endParaRPr lang="en-US" sz="2600" dirty="0"/>
          </a:p>
          <a:p>
            <a:pPr lvl="0"/>
            <a:r>
              <a:rPr lang="en-IE" sz="2600" dirty="0"/>
              <a:t>Dynamic A* capable of planning paths in unknown, partially known and changing environments efficiently.</a:t>
            </a:r>
          </a:p>
          <a:p>
            <a:pPr lvl="0"/>
            <a:r>
              <a:rPr lang="en-IE" sz="2600" dirty="0"/>
              <a:t>When the map changes or an unknown obstacle cuts the way, the algorithm </a:t>
            </a:r>
            <a:r>
              <a:rPr lang="en-IE" sz="2600" dirty="0" err="1"/>
              <a:t>replans</a:t>
            </a:r>
            <a:r>
              <a:rPr lang="en-IE" sz="2600" dirty="0"/>
              <a:t> another path efficiently.</a:t>
            </a:r>
          </a:p>
          <a:p>
            <a:r>
              <a:rPr lang="en-GB" sz="2800" dirty="0"/>
              <a:t>First run is the same as A*. </a:t>
            </a:r>
          </a:p>
          <a:p>
            <a:pPr lvl="1"/>
            <a:r>
              <a:rPr lang="en-GB" sz="2400" dirty="0"/>
              <a:t>D* finds the same path using A*.</a:t>
            </a:r>
          </a:p>
          <a:p>
            <a:pPr lvl="0"/>
            <a:endParaRPr lang="en-US" sz="26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9</a:t>
            </a:fld>
            <a:endParaRPr lang="en-I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Dynamic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Pathfinding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D*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time we get new information that does not match existing information we </a:t>
            </a:r>
            <a:r>
              <a:rPr lang="en-US" sz="30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replan</a:t>
            </a:r>
            <a:r>
              <a:rPr lang="en-US" sz="3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path</a:t>
            </a:r>
          </a:p>
          <a:p>
            <a:pPr lvl="1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e.g. level with destructible scenery</a:t>
            </a:r>
          </a:p>
          <a:p>
            <a:pPr>
              <a:lnSpc>
                <a:spcPct val="93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GB" dirty="0"/>
          </a:p>
          <a:p>
            <a:pPr>
              <a:lnSpc>
                <a:spcPct val="93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sz="3000" dirty="0"/>
              <a:t>When a node changes, D* just </a:t>
            </a:r>
            <a:r>
              <a:rPr lang="en-GB" sz="3000" dirty="0" err="1"/>
              <a:t>recomputes</a:t>
            </a:r>
            <a:r>
              <a:rPr lang="en-GB" sz="3000" dirty="0"/>
              <a:t> the values of the inconsistent nodes, which are necessary to compute</a:t>
            </a:r>
          </a:p>
          <a:p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10</a:t>
            </a:fld>
            <a:endParaRPr lang="en-I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Dynamic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Pathfinding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D*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Works as long as the level does not change too often</a:t>
            </a:r>
          </a:p>
          <a:p>
            <a:pPr lvl="0"/>
            <a:r>
              <a:rPr lang="en-US" sz="3000" dirty="0"/>
              <a:t>Reduces </a:t>
            </a:r>
            <a:r>
              <a:rPr lang="en-US" sz="3000" dirty="0" err="1"/>
              <a:t>pathfinding</a:t>
            </a:r>
            <a:r>
              <a:rPr lang="en-US" sz="3000" dirty="0"/>
              <a:t> time in uncertain environments</a:t>
            </a:r>
          </a:p>
          <a:p>
            <a:pPr lvl="0"/>
            <a:r>
              <a:rPr lang="en-US" sz="3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Requires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lot of storage space</a:t>
            </a:r>
          </a:p>
          <a:p>
            <a:pPr lvl="1"/>
            <a:r>
              <a:rPr lang="en-US" sz="2600" baseline="0" dirty="0"/>
              <a:t>Need to keep intermediate data:</a:t>
            </a:r>
          </a:p>
          <a:p>
            <a:pPr lvl="2"/>
            <a:r>
              <a:rPr lang="en-IE" sz="2200" dirty="0"/>
              <a:t>OPEN/CLOSED sets, path tree, g values</a:t>
            </a:r>
            <a:endParaRPr lang="en-US" sz="2200" baseline="0" dirty="0"/>
          </a:p>
          <a:p>
            <a:r>
              <a:rPr lang="en-US" sz="3000" dirty="0"/>
              <a:t>Popular in the robotics domain</a:t>
            </a:r>
          </a:p>
          <a:p>
            <a:pPr lvl="1"/>
            <a:r>
              <a:rPr lang="en-US" sz="2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Including Mars rovers</a:t>
            </a:r>
            <a:r>
              <a:rPr lang="en-US" sz="2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“Spirit” and “Opportunity”</a:t>
            </a:r>
            <a:endParaRPr lang="en-US" sz="26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11</a:t>
            </a:fld>
            <a:endParaRPr lang="en-IE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Lifelong Planning A* (LPA*)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800" dirty="0"/>
              <a:t>Like D*, use intermediate data gained in previous </a:t>
            </a:r>
            <a:r>
              <a:rPr lang="en-US" sz="2800" dirty="0" err="1"/>
              <a:t>pathfinding</a:t>
            </a:r>
            <a:r>
              <a:rPr lang="en-US" sz="2800" dirty="0"/>
              <a:t> runs:</a:t>
            </a:r>
          </a:p>
          <a:p>
            <a:pPr lvl="1"/>
            <a:r>
              <a:rPr lang="en-US" sz="2400" dirty="0"/>
              <a:t>Path estimates, parents of nodes etc.</a:t>
            </a:r>
          </a:p>
          <a:p>
            <a:pPr lvl="1"/>
            <a:r>
              <a:rPr lang="en-US" sz="2400" dirty="0"/>
              <a:t>e.g. path from A -&gt; D = A -&gt; B -&gt; C -&gt; D then we can reuse this the next time.</a:t>
            </a:r>
          </a:p>
          <a:p>
            <a:pPr lvl="1"/>
            <a:r>
              <a:rPr lang="en-US" sz="2400" dirty="0"/>
              <a:t>But we also now know the shortest path from B -&gt; D if we ever need it</a:t>
            </a:r>
          </a:p>
          <a:p>
            <a:r>
              <a:rPr lang="en-US" sz="2800" dirty="0"/>
              <a:t>LPA* keeps information about small sections of a plan</a:t>
            </a:r>
          </a:p>
          <a:p>
            <a:pPr lvl="1"/>
            <a:r>
              <a:rPr lang="en-US" sz="2400" dirty="0"/>
              <a:t>Much more likely to be reused</a:t>
            </a:r>
          </a:p>
          <a:p>
            <a:pPr lvl="1"/>
            <a:r>
              <a:rPr lang="en-US" sz="2400" dirty="0"/>
              <a:t>Storage requirements are large</a:t>
            </a:r>
          </a:p>
          <a:p>
            <a:pPr lvl="1"/>
            <a:r>
              <a:rPr lang="en-US" sz="2400" dirty="0"/>
              <a:t>Good for small </a:t>
            </a:r>
            <a:r>
              <a:rPr lang="en-US" sz="2400" dirty="0" err="1"/>
              <a:t>pathfinding</a:t>
            </a:r>
            <a:r>
              <a:rPr lang="en-US" sz="2400" dirty="0"/>
              <a:t> graphs but not large open air levels</a:t>
            </a:r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12</a:t>
            </a:fld>
            <a:endParaRPr lang="en-I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Low Memory Variants of A*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dirty="0"/>
              <a:t>Solving the storage problem</a:t>
            </a:r>
          </a:p>
          <a:p>
            <a:pPr>
              <a:buNone/>
            </a:pPr>
            <a:r>
              <a:rPr lang="en-US" sz="2800" dirty="0"/>
              <a:t>Low memory Pathfinding (</a:t>
            </a:r>
            <a:r>
              <a:rPr lang="en-US" sz="2800"/>
              <a:t>e.g. handheld </a:t>
            </a:r>
            <a:r>
              <a:rPr lang="en-US" sz="2800" dirty="0"/>
              <a:t>devices)</a:t>
            </a:r>
          </a:p>
          <a:p>
            <a:pPr>
              <a:buNone/>
            </a:pPr>
            <a:endParaRPr lang="en-US" sz="2800" dirty="0"/>
          </a:p>
          <a:p>
            <a:pPr lvl="0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IDA*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Iterative Deepening A*</a:t>
            </a:r>
          </a:p>
          <a:p>
            <a:pPr lvl="0"/>
            <a:endParaRPr lang="en-US" sz="28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Simplified Memory-Bounded A* (SMA*)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Fixed limit on size of open queue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queue is full and we need to add new node</a:t>
            </a:r>
          </a:p>
          <a:p>
            <a:pPr lvl="1">
              <a:buNone/>
            </a:pPr>
            <a:r>
              <a:rPr lang="en-US" sz="2400" dirty="0"/>
              <a:t>	</a:t>
            </a:r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-&gt; remove worst (largest path length) node from list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more efficient than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IDA*</a:t>
            </a:r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24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lossy</a:t>
            </a:r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 algorithm that may not give optimal path</a:t>
            </a:r>
          </a:p>
          <a:p>
            <a:pPr lvl="1"/>
            <a:r>
              <a:rPr lang="en-US" sz="2400" dirty="0"/>
              <a:t>Setting the size of the bound has consequences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13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pPr lvl="0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Other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Interruptible </a:t>
            </a:r>
            <a:r>
              <a:rPr lang="en-US" sz="28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Pathfinding</a:t>
            </a:r>
            <a:endParaRPr lang="en-US" sz="28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en-US" sz="2400" dirty="0"/>
              <a:t>Large searches may not finish in time for rendering (tens of milliseconds)</a:t>
            </a:r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 path search over multiple frames</a:t>
            </a:r>
          </a:p>
          <a:p>
            <a:pPr lvl="1"/>
            <a:r>
              <a:rPr lang="en-US" sz="2400" dirty="0"/>
              <a:t>Saving intermediate results between frames</a:t>
            </a:r>
          </a:p>
          <a:p>
            <a:pPr lvl="2">
              <a:buNone/>
            </a:pPr>
            <a:r>
              <a:rPr lang="en-US" sz="2000" dirty="0"/>
              <a:t>e.g. A* </a:t>
            </a:r>
            <a:r>
              <a:rPr lang="en-US" sz="2000" dirty="0" err="1"/>
              <a:t>struct</a:t>
            </a:r>
            <a:r>
              <a:rPr lang="en-US" sz="2000" dirty="0"/>
              <a:t> with open and closed lists</a:t>
            </a:r>
            <a:endParaRPr lang="en-US" sz="2400" dirty="0"/>
          </a:p>
          <a:p>
            <a:pPr lvl="1"/>
            <a:r>
              <a:rPr lang="en-US" sz="2400" dirty="0"/>
              <a:t>Issues with A*?</a:t>
            </a:r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endParaRPr lang="en-US" sz="20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2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Pooling Planners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we may need to do a large number of </a:t>
            </a:r>
            <a:r>
              <a:rPr lang="en-US" sz="24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pathfinding</a:t>
            </a:r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simultaneously e.g. RPG</a:t>
            </a:r>
          </a:p>
          <a:p>
            <a:pPr lvl="2"/>
            <a:r>
              <a:rPr lang="en-US" sz="2000" dirty="0"/>
              <a:t>Could just do one after another</a:t>
            </a:r>
          </a:p>
          <a:p>
            <a:pPr lvl="2"/>
            <a:r>
              <a:rPr lang="en-US" sz="2000" dirty="0"/>
              <a:t>Or have separate </a:t>
            </a:r>
            <a:r>
              <a:rPr lang="en-US" sz="2000" dirty="0" err="1"/>
              <a:t>pathfinding</a:t>
            </a:r>
            <a:r>
              <a:rPr lang="en-US" sz="2000" dirty="0"/>
              <a:t> instances per character</a:t>
            </a:r>
          </a:p>
          <a:p>
            <a:pPr lvl="2"/>
            <a:r>
              <a:rPr lang="en-US" sz="2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Would likely run into memory issues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Maintain a pool of pathfinders with a pathfinding queue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Requests added to queue and dealt with on FIFO basis</a:t>
            </a:r>
          </a:p>
          <a:p>
            <a:pPr lvl="1"/>
            <a:r>
              <a:rPr lang="en-US" sz="2400" dirty="0"/>
              <a:t>LPA* can be particularly useful here</a:t>
            </a:r>
            <a:endParaRPr lang="en-US" sz="24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14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7024</TotalTime>
  <Words>1092</Words>
  <Application>Microsoft Office PowerPoint</Application>
  <PresentationFormat>On-screen Show (4:3)</PresentationFormat>
  <Paragraphs>152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Custom Design</vt:lpstr>
      <vt:lpstr>1_Custom Design</vt:lpstr>
      <vt:lpstr>Improving on A*</vt:lpstr>
      <vt:lpstr>Hierarchical Pathfinding</vt:lpstr>
      <vt:lpstr>Hierarchical Pathfinding</vt:lpstr>
      <vt:lpstr>Hierarchical Pathfinding A* (HPA*)</vt:lpstr>
      <vt:lpstr>Edge Costs in HPA*</vt:lpstr>
      <vt:lpstr>Instanced Geometry</vt:lpstr>
      <vt:lpstr>Instanced Geometry</vt:lpstr>
      <vt:lpstr>Open Goal Pathfinding</vt:lpstr>
      <vt:lpstr>Dynamic Pathfinding D*</vt:lpstr>
      <vt:lpstr>Dynamic Pathfinding D*</vt:lpstr>
      <vt:lpstr>Dynamic Pathfinding D*</vt:lpstr>
      <vt:lpstr>Lifelong Planning A* (LPA*)</vt:lpstr>
      <vt:lpstr>Low Memory Variants of A*</vt:lpstr>
      <vt:lpstr>Other Approaches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916</cp:revision>
  <dcterms:created xsi:type="dcterms:W3CDTF">2007-05-08T17:20:09Z</dcterms:created>
  <dcterms:modified xsi:type="dcterms:W3CDTF">2024-11-04T09:56:59Z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