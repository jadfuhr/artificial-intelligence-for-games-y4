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21"/>
  </p:notesMasterIdLst>
  <p:sldIdLst>
    <p:sldId id="265" r:id="rId3"/>
    <p:sldId id="283" r:id="rId4"/>
    <p:sldId id="266" r:id="rId5"/>
    <p:sldId id="267" r:id="rId6"/>
    <p:sldId id="268" r:id="rId7"/>
    <p:sldId id="269" r:id="rId8"/>
    <p:sldId id="278" r:id="rId9"/>
    <p:sldId id="279" r:id="rId10"/>
    <p:sldId id="270" r:id="rId11"/>
    <p:sldId id="271" r:id="rId12"/>
    <p:sldId id="272" r:id="rId13"/>
    <p:sldId id="273" r:id="rId14"/>
    <p:sldId id="274" r:id="rId15"/>
    <p:sldId id="276" r:id="rId16"/>
    <p:sldId id="281" r:id="rId17"/>
    <p:sldId id="280" r:id="rId18"/>
    <p:sldId id="277" r:id="rId19"/>
    <p:sldId id="282" r:id="rId20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6b66d80f-e52a-4eb8-b588-9059f489afa4" providerId="ADAL" clId="{D62B4269-85DA-4676-8739-8B0E271BB9CA}"/>
    <pc:docChg chg="custSel modSld modMainMaster">
      <pc:chgData name="Oisin Cawley" userId="6b66d80f-e52a-4eb8-b588-9059f489afa4" providerId="ADAL" clId="{D62B4269-85DA-4676-8739-8B0E271BB9CA}" dt="2023-10-09T11:07:30.713" v="103" actId="20577"/>
      <pc:docMkLst>
        <pc:docMk/>
      </pc:docMkLst>
      <pc:sldChg chg="modSp">
        <pc:chgData name="Oisin Cawley" userId="6b66d80f-e52a-4eb8-b588-9059f489afa4" providerId="ADAL" clId="{D62B4269-85DA-4676-8739-8B0E271BB9CA}" dt="2023-10-09T10:44:41.073" v="63" actId="6549"/>
        <pc:sldMkLst>
          <pc:docMk/>
          <pc:sldMk cId="3460143987" sldId="272"/>
        </pc:sldMkLst>
        <pc:spChg chg="mod">
          <ac:chgData name="Oisin Cawley" userId="6b66d80f-e52a-4eb8-b588-9059f489afa4" providerId="ADAL" clId="{D62B4269-85DA-4676-8739-8B0E271BB9CA}" dt="2023-10-09T10:44:41.073" v="63" actId="6549"/>
          <ac:spMkLst>
            <pc:docMk/>
            <pc:sldMk cId="3460143987" sldId="272"/>
            <ac:spMk id="19459" creationId="{00000000-0000-0000-0000-000000000000}"/>
          </ac:spMkLst>
        </pc:spChg>
      </pc:sldChg>
      <pc:sldChg chg="modSp">
        <pc:chgData name="Oisin Cawley" userId="6b66d80f-e52a-4eb8-b588-9059f489afa4" providerId="ADAL" clId="{D62B4269-85DA-4676-8739-8B0E271BB9CA}" dt="2023-10-09T11:07:30.713" v="103" actId="20577"/>
        <pc:sldMkLst>
          <pc:docMk/>
          <pc:sldMk cId="2265256145" sldId="277"/>
        </pc:sldMkLst>
        <pc:spChg chg="mod">
          <ac:chgData name="Oisin Cawley" userId="6b66d80f-e52a-4eb8-b588-9059f489afa4" providerId="ADAL" clId="{D62B4269-85DA-4676-8739-8B0E271BB9CA}" dt="2023-10-09T11:07:30.713" v="103" actId="20577"/>
          <ac:spMkLst>
            <pc:docMk/>
            <pc:sldMk cId="2265256145" sldId="277"/>
            <ac:spMk id="11267" creationId="{00000000-0000-0000-0000-000000000000}"/>
          </ac:spMkLst>
        </pc:spChg>
      </pc:sldChg>
      <pc:sldChg chg="modNotesTx">
        <pc:chgData name="Oisin Cawley" userId="6b66d80f-e52a-4eb8-b588-9059f489afa4" providerId="ADAL" clId="{D62B4269-85DA-4676-8739-8B0E271BB9CA}" dt="2023-10-09T11:04:28.801" v="93" actId="20577"/>
        <pc:sldMkLst>
          <pc:docMk/>
          <pc:sldMk cId="2265256145" sldId="280"/>
        </pc:sldMkLst>
      </pc:sldChg>
      <pc:sldMasterChg chg="addSp delSp">
        <pc:chgData name="Oisin Cawley" userId="6b66d80f-e52a-4eb8-b588-9059f489afa4" providerId="ADAL" clId="{D62B4269-85DA-4676-8739-8B0E271BB9CA}" dt="2023-10-09T09:51:46.848" v="3"/>
        <pc:sldMasterMkLst>
          <pc:docMk/>
          <pc:sldMasterMk cId="0" sldId="2147483840"/>
        </pc:sldMasterMkLst>
        <pc:picChg chg="add">
          <ac:chgData name="Oisin Cawley" userId="6b66d80f-e52a-4eb8-b588-9059f489afa4" providerId="ADAL" clId="{D62B4269-85DA-4676-8739-8B0E271BB9CA}" dt="2023-10-09T09:51:46.848" v="3"/>
          <ac:picMkLst>
            <pc:docMk/>
            <pc:sldMasterMk cId="0" sldId="2147483840"/>
            <ac:picMk id="8" creationId="{75E23B1F-1F41-452A-8AAF-42D09F9A649A}"/>
          </ac:picMkLst>
        </pc:picChg>
        <pc:picChg chg="del">
          <ac:chgData name="Oisin Cawley" userId="6b66d80f-e52a-4eb8-b588-9059f489afa4" providerId="ADAL" clId="{D62B4269-85DA-4676-8739-8B0E271BB9CA}" dt="2023-10-09T09:51:46.276" v="2" actId="478"/>
          <ac:picMkLst>
            <pc:docMk/>
            <pc:sldMasterMk cId="0" sldId="2147483840"/>
            <ac:picMk id="1030" creationId="{00000000-0000-0000-0000-000000000000}"/>
          </ac:picMkLst>
        </pc:picChg>
      </pc:sldMasterChg>
      <pc:sldMasterChg chg="addSp delSp">
        <pc:chgData name="Oisin Cawley" userId="6b66d80f-e52a-4eb8-b588-9059f489afa4" providerId="ADAL" clId="{D62B4269-85DA-4676-8739-8B0E271BB9CA}" dt="2023-10-09T09:51:39.998" v="1"/>
        <pc:sldMasterMkLst>
          <pc:docMk/>
          <pc:sldMasterMk cId="0" sldId="2147483869"/>
        </pc:sldMasterMkLst>
        <pc:picChg chg="del">
          <ac:chgData name="Oisin Cawley" userId="6b66d80f-e52a-4eb8-b588-9059f489afa4" providerId="ADAL" clId="{D62B4269-85DA-4676-8739-8B0E271BB9CA}" dt="2023-10-09T09:51:39.352" v="0" actId="478"/>
          <ac:picMkLst>
            <pc:docMk/>
            <pc:sldMasterMk cId="0" sldId="2147483869"/>
            <ac:picMk id="8" creationId="{00000000-0000-0000-0000-000000000000}"/>
          </ac:picMkLst>
        </pc:picChg>
        <pc:picChg chg="add">
          <ac:chgData name="Oisin Cawley" userId="6b66d80f-e52a-4eb8-b588-9059f489afa4" providerId="ADAL" clId="{D62B4269-85DA-4676-8739-8B0E271BB9CA}" dt="2023-10-09T09:51:39.998" v="1"/>
          <ac:picMkLst>
            <pc:docMk/>
            <pc:sldMasterMk cId="0" sldId="2147483869"/>
            <ac:picMk id="9" creationId="{BB934F40-A652-42F2-8984-6B8D85A8E552}"/>
          </ac:picMkLst>
        </pc:picChg>
      </pc:sldMasterChg>
    </pc:docChg>
  </pc:docChgLst>
  <pc:docChgLst>
    <pc:chgData name="Oisin Cawley" userId="c7ebb277-34aa-421f-b739-032ced270c1a" providerId="ADAL" clId="{D2C1C195-0985-4841-8950-C943D479411B}"/>
  </pc:docChgLst>
  <pc:docChgLst>
    <pc:chgData name="Oisin Cawley" userId="c7ebb277-34aa-421f-b739-032ced270c1a" providerId="ADAL" clId="{61038B39-16DA-425C-A813-B63348098AEF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29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 err="1"/>
              <a:t>Bresenham's</a:t>
            </a:r>
            <a:r>
              <a:rPr lang="en-IE" dirty="0"/>
              <a:t> line algorithm is an algorithm that determines the points of an n-dimensional raster that should be selected in order to form a close approximation to a straight line between two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54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Buckland Page 338 (</a:t>
            </a:r>
            <a:r>
              <a:rPr lang="en-US" dirty="0" err="1"/>
              <a:t>blindspots</a:t>
            </a:r>
            <a:r>
              <a:rPr lang="en-US" dirty="0"/>
              <a:t>)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0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75E23B1F-1F41-452A-8AAF-42D09F9A64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BB934F40-A652-42F2-8984-6B8D85A8E5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Characters typically are on the move.</a:t>
            </a:r>
          </a:p>
          <a:p>
            <a:r>
              <a:rPr lang="en-GB" sz="2400" dirty="0"/>
              <a:t>Using some behaviour.</a:t>
            </a:r>
          </a:p>
          <a:p>
            <a:pPr lvl="1"/>
            <a:r>
              <a:rPr lang="en-GB" sz="2000" dirty="0"/>
              <a:t>What have we used so far?</a:t>
            </a:r>
          </a:p>
          <a:p>
            <a:endParaRPr lang="en-GB" sz="2400" dirty="0"/>
          </a:p>
          <a:p>
            <a:r>
              <a:rPr lang="en-GB" sz="2400" dirty="0"/>
              <a:t>But what are the difficulties?</a:t>
            </a:r>
          </a:p>
          <a:p>
            <a:pPr lvl="1"/>
            <a:r>
              <a:rPr lang="en-GB" sz="2000" dirty="0"/>
              <a:t>Maybe we don’t have a target</a:t>
            </a:r>
          </a:p>
          <a:p>
            <a:pPr lvl="1"/>
            <a:r>
              <a:rPr lang="en-GB" sz="2000" dirty="0"/>
              <a:t>Is the destination moving or stationary?</a:t>
            </a:r>
          </a:p>
          <a:p>
            <a:pPr lvl="1"/>
            <a:r>
              <a:rPr lang="en-GB" sz="2000" dirty="0"/>
              <a:t>Are there any obstacles?</a:t>
            </a:r>
          </a:p>
          <a:p>
            <a:pPr lvl="1"/>
            <a:r>
              <a:rPr lang="en-GB" sz="2000" dirty="0"/>
              <a:t>Are the obstacles moving?</a:t>
            </a:r>
          </a:p>
          <a:p>
            <a:pPr lvl="1"/>
            <a:r>
              <a:rPr lang="en-GB" sz="2000" dirty="0"/>
              <a:t>What is the terrain like?</a:t>
            </a:r>
          </a:p>
          <a:p>
            <a:pPr lvl="1"/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0904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Simple </a:t>
            </a:r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endParaRPr lang="en-GB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Line of Sight (</a:t>
            </a:r>
            <a:r>
              <a:rPr lang="en-GB" sz="2400" dirty="0" err="1"/>
              <a:t>LoS</a:t>
            </a:r>
            <a:r>
              <a:rPr lang="en-GB" sz="2400" dirty="0"/>
              <a:t>) and </a:t>
            </a:r>
            <a:r>
              <a:rPr lang="en-GB" sz="2400" dirty="0" err="1"/>
              <a:t>Bresenham</a:t>
            </a:r>
            <a:r>
              <a:rPr lang="en-GB" sz="2400" dirty="0"/>
              <a:t> algorithms are good</a:t>
            </a:r>
          </a:p>
          <a:p>
            <a:r>
              <a:rPr lang="en-GB" sz="2400" dirty="0"/>
              <a:t>But how do we deal with obstacles?</a:t>
            </a:r>
          </a:p>
          <a:p>
            <a:r>
              <a:rPr lang="en-GB" sz="2400" dirty="0"/>
              <a:t>If obstacle density is low then</a:t>
            </a:r>
          </a:p>
          <a:p>
            <a:pPr lvl="1"/>
            <a:r>
              <a:rPr lang="en-GB" sz="2000" dirty="0"/>
              <a:t>If target is in Line of Sight then use </a:t>
            </a:r>
            <a:r>
              <a:rPr lang="en-GB" sz="2000" dirty="0" err="1"/>
              <a:t>LoS</a:t>
            </a:r>
            <a:r>
              <a:rPr lang="en-GB" sz="2000" dirty="0"/>
              <a:t> to compute move</a:t>
            </a:r>
          </a:p>
          <a:p>
            <a:pPr lvl="1"/>
            <a:r>
              <a:rPr lang="en-GB" sz="2000" dirty="0"/>
              <a:t>Otherwise move in a random direction</a:t>
            </a:r>
          </a:p>
          <a:p>
            <a:r>
              <a:rPr lang="en-GB" sz="2400" dirty="0"/>
              <a:t>Because  obstacles are few, random moves will quickly place entity  back in unblocked Line of Sight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6500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Smarter </a:t>
            </a:r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endParaRPr lang="en-GB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4744"/>
            <a:ext cx="8229600" cy="5000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Use </a:t>
            </a:r>
            <a:r>
              <a:rPr lang="en-GB" sz="2800" dirty="0" err="1"/>
              <a:t>LoS</a:t>
            </a:r>
            <a:r>
              <a:rPr lang="en-GB" sz="2800" dirty="0"/>
              <a:t> or </a:t>
            </a:r>
            <a:r>
              <a:rPr lang="en-GB" sz="2800" dirty="0" err="1"/>
              <a:t>Bresenham</a:t>
            </a:r>
            <a:r>
              <a:rPr lang="en-GB" sz="2800" dirty="0"/>
              <a:t> to compute path to target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Follow path until obstacle is met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Then trace path around obstacle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(see later for how)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When do we stop tracing?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We stop tracing when either:</a:t>
            </a:r>
          </a:p>
          <a:p>
            <a:pPr lvl="1">
              <a:lnSpc>
                <a:spcPct val="90000"/>
              </a:lnSpc>
            </a:pPr>
            <a:r>
              <a:rPr lang="en-GB" sz="2400" dirty="0" err="1"/>
              <a:t>LoS</a:t>
            </a:r>
            <a:r>
              <a:rPr lang="en-GB" sz="2400" dirty="0"/>
              <a:t> is re-established with target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We intersect original </a:t>
            </a:r>
            <a:r>
              <a:rPr lang="en-GB" sz="2400" dirty="0" err="1"/>
              <a:t>LoS</a:t>
            </a:r>
            <a:r>
              <a:rPr lang="en-GB" sz="2400" dirty="0"/>
              <a:t> path</a:t>
            </a:r>
          </a:p>
          <a:p>
            <a:pPr lvl="1">
              <a:lnSpc>
                <a:spcPct val="90000"/>
              </a:lnSpc>
            </a:pPr>
            <a:endParaRPr lang="en-GB" sz="2400" dirty="0"/>
          </a:p>
          <a:p>
            <a:pPr lvl="1">
              <a:lnSpc>
                <a:spcPct val="90000"/>
              </a:lnSpc>
            </a:pPr>
            <a:endParaRPr lang="en-GB" sz="2400" dirty="0"/>
          </a:p>
          <a:p>
            <a:pPr marL="0" lvl="1" indent="0">
              <a:lnSpc>
                <a:spcPct val="90000"/>
              </a:lnSpc>
              <a:buNone/>
            </a:pPr>
            <a:r>
              <a:rPr lang="en-GB" sz="2400" dirty="0"/>
              <a:t>Manhattan versus Euclidian distance anyone?</a:t>
            </a:r>
          </a:p>
        </p:txBody>
      </p:sp>
      <p:pic>
        <p:nvPicPr>
          <p:cNvPr id="2" name="Picture 2" descr="ManhattanDistan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3940746"/>
            <a:ext cx="2448272" cy="2448272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6012160" y="2171309"/>
            <a:ext cx="3024336" cy="1152128"/>
          </a:xfrm>
          <a:prstGeom prst="wedgeRoundRectCallout">
            <a:avLst>
              <a:gd name="adj1" fmla="val -92552"/>
              <a:gd name="adj2" fmla="val 560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Finite State Machine perhaps?</a:t>
            </a:r>
          </a:p>
        </p:txBody>
      </p:sp>
    </p:spTree>
    <p:extLst>
      <p:ext uri="{BB962C8B-B14F-4D97-AF65-F5344CB8AC3E}">
        <p14:creationId xmlns:p14="http://schemas.microsoft.com/office/powerpoint/2010/main" val="414525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Breadcrumb </a:t>
            </a:r>
            <a:r>
              <a:rPr lang="en-GB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Pathfinding</a:t>
            </a:r>
            <a:endParaRPr lang="en-GB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Hansel &amp; Gretel, Scent trail, footprints, ion trail, etc.</a:t>
            </a:r>
          </a:p>
          <a:p>
            <a:r>
              <a:rPr lang="en-GB" sz="2800" dirty="0"/>
              <a:t>Target leaves an (</a:t>
            </a:r>
            <a:r>
              <a:rPr lang="en-GB" sz="2800" dirty="0" err="1"/>
              <a:t>in)visible</a:t>
            </a:r>
            <a:r>
              <a:rPr lang="en-GB" sz="2800" dirty="0"/>
              <a:t> trail behind</a:t>
            </a:r>
          </a:p>
          <a:p>
            <a:r>
              <a:rPr lang="en-GB" sz="2800" dirty="0"/>
              <a:t>If we cross trail we follow it</a:t>
            </a:r>
          </a:p>
          <a:p>
            <a:r>
              <a:rPr lang="en-GB" sz="2800" dirty="0"/>
              <a:t>Complexity of trail is irrelevant</a:t>
            </a:r>
          </a:p>
          <a:p>
            <a:r>
              <a:rPr lang="en-GB" sz="2800" dirty="0"/>
              <a:t>We store trail of entity in simple data structure</a:t>
            </a:r>
          </a:p>
          <a:p>
            <a:pPr lvl="1"/>
            <a:r>
              <a:rPr lang="en-GB" sz="2400" dirty="0"/>
              <a:t>Array is prob. best</a:t>
            </a:r>
          </a:p>
          <a:p>
            <a:pPr lvl="2"/>
            <a:r>
              <a:rPr lang="en-GB" sz="2000" dirty="0"/>
              <a:t>Fixed size, low overhead, low complexity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4707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Breadcrumb Algorithm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indent="-388938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Point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[MAX]; //MAX = Desired Trail length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Array is sorted </a:t>
            </a:r>
            <a:r>
              <a:rPr lang="en-GB" sz="2400" baseline="0" dirty="0"/>
              <a:t> </a:t>
            </a:r>
            <a:r>
              <a:rPr lang="en-GB" sz="2400" dirty="0"/>
              <a:t> </a:t>
            </a:r>
          </a:p>
          <a:p>
            <a:pPr lvl="1" indent="-388938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theTrail[MAX-1]</a:t>
            </a:r>
            <a:r>
              <a:rPr lang="en-GB" sz="2000" b="1" dirty="0"/>
              <a:t>  is</a:t>
            </a:r>
            <a:r>
              <a:rPr lang="en-GB" sz="2000" b="1" baseline="0" dirty="0"/>
              <a:t> </a:t>
            </a:r>
            <a:r>
              <a:rPr lang="en-GB" sz="2000" b="1" dirty="0"/>
              <a:t>oldest</a:t>
            </a:r>
          </a:p>
          <a:p>
            <a:pPr>
              <a:lnSpc>
                <a:spcPct val="90000"/>
              </a:lnSpc>
            </a:pPr>
            <a:endParaRPr lang="en-GB" sz="2400" dirty="0"/>
          </a:p>
          <a:p>
            <a:pPr>
              <a:lnSpc>
                <a:spcPct val="90000"/>
              </a:lnSpc>
            </a:pPr>
            <a:r>
              <a:rPr lang="en-GB" sz="2400" dirty="0"/>
              <a:t>Initialise to empty</a:t>
            </a:r>
          </a:p>
          <a:p>
            <a:pPr lvl="1" indent="-388938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&lt;MAX;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 indent="-388938">
              <a:lnSpc>
                <a:spcPct val="90000"/>
              </a:lnSpc>
              <a:buFontTx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Point(-1,-1);</a:t>
            </a:r>
          </a:p>
          <a:p>
            <a:pPr marL="354013" lvl="1" indent="0">
              <a:lnSpc>
                <a:spcPct val="90000"/>
              </a:lnSpc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//Assume (-1,-1) does not exist in game geometry</a:t>
            </a:r>
          </a:p>
          <a:p>
            <a:endParaRPr lang="en-GB" sz="2400" dirty="0"/>
          </a:p>
          <a:p>
            <a:r>
              <a:rPr lang="en-GB" sz="2400" dirty="0"/>
              <a:t>Record Target’s/Player’s moves</a:t>
            </a:r>
          </a:p>
          <a:p>
            <a:pPr lvl="1" indent="-388938">
              <a:buFontTx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&lt;MAX-1;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lvl="1" indent="-388938">
              <a:buFontTx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[i+1]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1" indent="-388938">
              <a:buFontTx/>
              <a:buNone/>
            </a:pP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Target.Location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8021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Breadcrumb Algorithm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charset="2"/>
              <a:buNone/>
            </a:pP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Found = -1;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&lt;MAX;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(Adjacent(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unit.Location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== true)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found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(found &gt;= 0)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unit.Location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[found];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   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Do-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charset="2"/>
              <a:buNone/>
            </a:pP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Font typeface="Wingdings" charset="2"/>
              <a:buNone/>
            </a:pPr>
            <a:r>
              <a:rPr lang="en-GB" sz="2000" dirty="0">
                <a:cs typeface="Courier New" panose="02070309020205020404" pitchFamily="49" charset="0"/>
              </a:rPr>
              <a:t>Ordering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theTrail</a:t>
            </a:r>
            <a:r>
              <a:rPr lang="en-GB" sz="2000" dirty="0">
                <a:cs typeface="Courier New" panose="02070309020205020404" pitchFamily="49" charset="0"/>
              </a:rPr>
              <a:t> by newest to oldest position avoids unnatural movement when player back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6516638" y="2492896"/>
            <a:ext cx="2016224" cy="753635"/>
          </a:xfrm>
          <a:prstGeom prst="wedgeRoundRectCallout">
            <a:avLst>
              <a:gd name="adj1" fmla="val -205405"/>
              <a:gd name="adj2" fmla="val -370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Any issues here?</a:t>
            </a:r>
          </a:p>
        </p:txBody>
      </p:sp>
    </p:spTree>
    <p:extLst>
      <p:ext uri="{BB962C8B-B14F-4D97-AF65-F5344CB8AC3E}">
        <p14:creationId xmlns:p14="http://schemas.microsoft.com/office/powerpoint/2010/main" val="10370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 Following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charset="2"/>
              <a:buNone/>
            </a:pPr>
            <a:r>
              <a:rPr lang="en-GB" sz="2400" dirty="0">
                <a:cs typeface="Courier New" panose="02070309020205020404" pitchFamily="49" charset="0"/>
              </a:rPr>
              <a:t>Often we want to move in a realistic way even if we don’t have an actual destination</a:t>
            </a:r>
          </a:p>
          <a:p>
            <a:pPr marL="720725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Could just wander() </a:t>
            </a:r>
          </a:p>
          <a:p>
            <a:pPr marL="720725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Or follow some predefined path</a:t>
            </a:r>
          </a:p>
          <a:p>
            <a:pPr marL="720725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e.g. Sentry guard /ship on patrol</a:t>
            </a:r>
          </a:p>
          <a:p>
            <a:pPr marL="277813" indent="-277813">
              <a:lnSpc>
                <a:spcPct val="80000"/>
              </a:lnSpc>
              <a:buNone/>
            </a:pPr>
            <a:endParaRPr lang="en-GB" sz="2400" dirty="0">
              <a:cs typeface="Courier New" panose="02070309020205020404" pitchFamily="49" charset="0"/>
            </a:endParaRPr>
          </a:p>
          <a:p>
            <a:pPr marL="277813" indent="-277813">
              <a:lnSpc>
                <a:spcPct val="80000"/>
              </a:lnSpc>
              <a:buFontTx/>
              <a:buChar char="-"/>
            </a:pPr>
            <a:r>
              <a:rPr lang="en-GB" sz="2400" dirty="0">
                <a:cs typeface="Courier New" panose="02070309020205020404" pitchFamily="49" charset="0"/>
              </a:rPr>
              <a:t>Label points on the map which are part of the path</a:t>
            </a:r>
          </a:p>
          <a:p>
            <a:pPr marL="677863" lvl="1" indent="-277813">
              <a:lnSpc>
                <a:spcPct val="80000"/>
              </a:lnSpc>
              <a:buFont typeface="Wingdings" pitchFamily="2" charset="2"/>
              <a:buChar char="§"/>
            </a:pPr>
            <a:r>
              <a:rPr lang="en-GB" sz="2000" dirty="0">
                <a:cs typeface="Courier New" panose="02070309020205020404" pitchFamily="49" charset="0"/>
              </a:rPr>
              <a:t>Path can be wide e.g. a road</a:t>
            </a:r>
          </a:p>
          <a:p>
            <a:pPr marL="277813" indent="-277813">
              <a:lnSpc>
                <a:spcPct val="80000"/>
              </a:lnSpc>
              <a:buFontTx/>
              <a:buChar char="-"/>
            </a:pPr>
            <a:r>
              <a:rPr lang="en-GB" sz="2400" dirty="0">
                <a:cs typeface="Courier New" panose="02070309020205020404" pitchFamily="49" charset="0"/>
              </a:rPr>
              <a:t>All other points are considered out of bounds</a:t>
            </a:r>
          </a:p>
          <a:p>
            <a:pPr marL="277813" indent="-277813">
              <a:lnSpc>
                <a:spcPct val="80000"/>
              </a:lnSpc>
              <a:buFontTx/>
              <a:buChar char="-"/>
            </a:pPr>
            <a:endParaRPr lang="en-GB" sz="2400" dirty="0">
              <a:cs typeface="Courier New" panose="02070309020205020404" pitchFamily="49" charset="0"/>
            </a:endParaRPr>
          </a:p>
          <a:p>
            <a:pPr marL="277813" indent="-277813">
              <a:lnSpc>
                <a:spcPct val="80000"/>
              </a:lnSpc>
              <a:buFontTx/>
              <a:buChar char="-"/>
            </a:pPr>
            <a:r>
              <a:rPr lang="en-GB" sz="2400" dirty="0">
                <a:cs typeface="Courier New" panose="02070309020205020404" pitchFamily="49" charset="0"/>
              </a:rPr>
              <a:t>Movement becomes a matter of containment</a:t>
            </a:r>
          </a:p>
          <a:p>
            <a:pPr marL="677863" lvl="1" indent="-277813">
              <a:lnSpc>
                <a:spcPct val="80000"/>
              </a:lnSpc>
              <a:buFontTx/>
              <a:buChar char="-"/>
            </a:pPr>
            <a:r>
              <a:rPr lang="en-GB" sz="2000" dirty="0">
                <a:cs typeface="Courier New" panose="02070309020205020404" pitchFamily="49" charset="0"/>
              </a:rPr>
              <a:t>However, don’t want just random movement</a:t>
            </a:r>
          </a:p>
          <a:p>
            <a:pPr marL="677863" lvl="1" indent="-277813">
              <a:lnSpc>
                <a:spcPct val="80000"/>
              </a:lnSpc>
              <a:buFontTx/>
              <a:buChar char="-"/>
            </a:pPr>
            <a:r>
              <a:rPr lang="en-GB" sz="2000" dirty="0">
                <a:cs typeface="Courier New" panose="02070309020205020404" pitchFamily="49" charset="0"/>
              </a:rPr>
              <a:t>Analyse surrounding terrain and decide on best move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370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Path Following - Algorithm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5770984" cy="5000625"/>
          </a:xfrm>
        </p:spPr>
        <p:txBody>
          <a:bodyPr>
            <a:normAutofit/>
          </a:bodyPr>
          <a:lstStyle/>
          <a:p>
            <a:pPr marL="277813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From 8 possible directions to move, eliminate those that are not part of the road. Then decide on which of the remaining directions to take.</a:t>
            </a:r>
          </a:p>
          <a:p>
            <a:pPr marL="277813" indent="-277813">
              <a:lnSpc>
                <a:spcPct val="8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 marL="277813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Keep track of direction of movement (we want to move  in the same general direction)</a:t>
            </a:r>
          </a:p>
          <a:p>
            <a:pPr marL="277813" indent="-277813">
              <a:lnSpc>
                <a:spcPct val="8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 marL="277813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Assign a weighting to each direction of movement</a:t>
            </a:r>
          </a:p>
          <a:p>
            <a:pPr marL="277813" indent="-277813">
              <a:lnSpc>
                <a:spcPct val="8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 marL="277813" indent="-277813">
              <a:lnSpc>
                <a:spcPct val="80000"/>
              </a:lnSpc>
            </a:pPr>
            <a:r>
              <a:rPr lang="en-GB" sz="2400" dirty="0">
                <a:cs typeface="Courier New" panose="02070309020205020404" pitchFamily="49" charset="0"/>
              </a:rPr>
              <a:t>Traverse the direction array in search of most highly weighted direction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484784"/>
            <a:ext cx="2271911" cy="208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70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Wall Tracing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Rationale</a:t>
            </a:r>
          </a:p>
          <a:p>
            <a:pPr lvl="1"/>
            <a:r>
              <a:rPr lang="en-GB" sz="2400" dirty="0"/>
              <a:t>An Exploration Technique instead of targeted movement</a:t>
            </a:r>
          </a:p>
          <a:p>
            <a:pPr lvl="1"/>
            <a:r>
              <a:rPr lang="en-GB" sz="2400" dirty="0"/>
              <a:t>No End Point or destination</a:t>
            </a:r>
          </a:p>
          <a:p>
            <a:r>
              <a:rPr lang="en-GB" sz="2800" dirty="0"/>
              <a:t>Examples</a:t>
            </a:r>
          </a:p>
          <a:p>
            <a:pPr lvl="1"/>
            <a:r>
              <a:rPr lang="en-GB" sz="2400" dirty="0"/>
              <a:t>Maze Navigation</a:t>
            </a:r>
          </a:p>
          <a:p>
            <a:pPr lvl="1"/>
            <a:r>
              <a:rPr lang="en-GB" sz="2400" dirty="0"/>
              <a:t>Random Movement</a:t>
            </a:r>
          </a:p>
          <a:p>
            <a:r>
              <a:rPr lang="en-GB" sz="2800" dirty="0"/>
              <a:t>Allows NPC’s to explore environment in search of power ups, treasure, weapons, players, doors etc.</a:t>
            </a:r>
          </a:p>
          <a:p>
            <a:r>
              <a:rPr lang="en-GB" sz="2800" dirty="0"/>
              <a:t>Entities interact with environment in a semi-random/predictable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3561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Algorithm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Entity always moves to the left</a:t>
            </a:r>
          </a:p>
          <a:p>
            <a:pPr lvl="1"/>
            <a:r>
              <a:rPr lang="en-GB" sz="2400" dirty="0"/>
              <a:t>Whenever it is possible to do so!</a:t>
            </a:r>
          </a:p>
          <a:p>
            <a:r>
              <a:rPr lang="en-GB" sz="2800" dirty="0"/>
              <a:t>Otherwise move straight ahead</a:t>
            </a:r>
          </a:p>
          <a:p>
            <a:pPr lvl="1"/>
            <a:r>
              <a:rPr lang="en-GB" sz="2400" dirty="0"/>
              <a:t>Ye </a:t>
            </a:r>
            <a:r>
              <a:rPr lang="en-GB" sz="2400" dirty="0" err="1"/>
              <a:t>olde</a:t>
            </a:r>
            <a:r>
              <a:rPr lang="en-GB" sz="2400" dirty="0"/>
              <a:t> Left hand maze navigation technique</a:t>
            </a:r>
          </a:p>
          <a:p>
            <a:r>
              <a:rPr lang="en-GB" sz="2800" dirty="0"/>
              <a:t>Try all four directions in order</a:t>
            </a:r>
          </a:p>
          <a:p>
            <a:pPr lvl="1"/>
            <a:r>
              <a:rPr lang="en-GB" sz="2400" dirty="0"/>
              <a:t>Left, straight ahead, right, back</a:t>
            </a:r>
          </a:p>
          <a:p>
            <a:r>
              <a:rPr lang="en-GB" sz="2800" dirty="0"/>
              <a:t>Until we find a way that is unblocked</a:t>
            </a:r>
          </a:p>
          <a:p>
            <a:r>
              <a:rPr lang="en-GB" sz="2800" dirty="0"/>
              <a:t>Remember Left depends on which way you are facing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730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Algorithm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078435"/>
            <a:ext cx="8229600" cy="3590925"/>
          </a:xfrm>
        </p:spPr>
        <p:txBody>
          <a:bodyPr/>
          <a:lstStyle/>
          <a:p>
            <a:r>
              <a:rPr lang="en-GB" dirty="0"/>
              <a:t>In most cases the algorithm works perfectly</a:t>
            </a:r>
          </a:p>
          <a:p>
            <a:pPr lvl="1"/>
            <a:r>
              <a:rPr lang="en-GB" dirty="0"/>
              <a:t>But it is dependent  on the layout of obstacles</a:t>
            </a:r>
          </a:p>
          <a:p>
            <a:r>
              <a:rPr lang="en-GB" dirty="0"/>
              <a:t>In some cases not all areas will be visited</a:t>
            </a:r>
          </a:p>
          <a:p>
            <a:pPr lvl="1"/>
            <a:r>
              <a:rPr lang="en-GB" dirty="0"/>
              <a:t>Can you design a map with such an area?</a:t>
            </a:r>
          </a:p>
        </p:txBody>
      </p:sp>
      <p:pic>
        <p:nvPicPr>
          <p:cNvPr id="1026" name="Picture 2" descr="http://www.family-getaways-melbourne.com/images/Maze-gardens-0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081" y="1125538"/>
            <a:ext cx="3363838" cy="184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60143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Waypoint Navigation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399806"/>
          </a:xfrm>
        </p:spPr>
        <p:txBody>
          <a:bodyPr>
            <a:normAutofit/>
          </a:bodyPr>
          <a:lstStyle/>
          <a:p>
            <a:r>
              <a:rPr lang="en-GB" sz="2400" dirty="0"/>
              <a:t>Pathfinding can be time-consuming and CPU-intensive</a:t>
            </a:r>
          </a:p>
          <a:p>
            <a:r>
              <a:rPr lang="en-GB" sz="2400" dirty="0"/>
              <a:t>Reduce this overhead by:</a:t>
            </a:r>
          </a:p>
          <a:p>
            <a:pPr lvl="1"/>
            <a:r>
              <a:rPr lang="en-GB" sz="2000" dirty="0"/>
              <a:t>Placing (by hand) nodes in the game environment (POVs)</a:t>
            </a:r>
          </a:p>
          <a:p>
            <a:pPr lvl="2"/>
            <a:r>
              <a:rPr lang="en-GB" sz="1600" dirty="0"/>
              <a:t>Every </a:t>
            </a:r>
            <a:r>
              <a:rPr lang="en-GB" sz="1600" b="1" dirty="0"/>
              <a:t>point</a:t>
            </a:r>
            <a:r>
              <a:rPr lang="en-GB" sz="1600" dirty="0"/>
              <a:t> in LOS of at least one node</a:t>
            </a:r>
          </a:p>
          <a:p>
            <a:pPr lvl="2"/>
            <a:r>
              <a:rPr lang="en-GB" sz="1600" dirty="0"/>
              <a:t>Every </a:t>
            </a:r>
            <a:r>
              <a:rPr lang="en-GB" sz="1600" b="1" dirty="0"/>
              <a:t>node</a:t>
            </a:r>
            <a:r>
              <a:rPr lang="en-GB" sz="1600" dirty="0"/>
              <a:t> in LOS of at least one other node</a:t>
            </a:r>
          </a:p>
          <a:p>
            <a:pPr lvl="1"/>
            <a:r>
              <a:rPr lang="en-GB" sz="2000" dirty="0"/>
              <a:t>Use </a:t>
            </a:r>
          </a:p>
          <a:p>
            <a:pPr lvl="2"/>
            <a:r>
              <a:rPr lang="en-GB" sz="1600" dirty="0"/>
              <a:t>Pre-calculated paths</a:t>
            </a:r>
          </a:p>
          <a:p>
            <a:pPr lvl="2"/>
            <a:r>
              <a:rPr lang="en-GB" sz="1600" dirty="0"/>
              <a:t>Inexpensive pathfinding methods</a:t>
            </a:r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4077072"/>
            <a:ext cx="2736304" cy="2348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25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Algorithm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79296" cy="5399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startNode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closest node to NPC and in LOS (node A)</a:t>
            </a:r>
          </a:p>
          <a:p>
            <a:pPr marL="0" indent="0">
              <a:buNone/>
            </a:pP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endNode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closest node to target and in target’s LOS (node b)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path from NPC to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startNode</a:t>
            </a:r>
            <a:endParaRPr lang="en-GB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Move NPC to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startNode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along path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Calculate least cost path from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startNode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-GB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endNode</a:t>
            </a: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via node table</a:t>
            </a:r>
          </a:p>
          <a:p>
            <a:pPr marL="0" indent="0">
              <a:buNone/>
            </a:pPr>
            <a:r>
              <a:rPr lang="en-GB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Move NPC from node to node along path</a:t>
            </a: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2456" y="3501008"/>
            <a:ext cx="3459088" cy="298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5452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Waypoint Navigation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399806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AI function simply needs to know where nodes are and how they are connected</a:t>
            </a:r>
          </a:p>
          <a:p>
            <a:pPr lvl="1"/>
            <a:r>
              <a:rPr lang="en-GB" sz="2000"/>
              <a:t>Can use </a:t>
            </a:r>
            <a:r>
              <a:rPr lang="en-GB" sz="2000" dirty="0"/>
              <a:t>a node table to map shortest routes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1825" y="3140968"/>
            <a:ext cx="280035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256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Waypoint Navigation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399806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Example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" y="2204864"/>
            <a:ext cx="84201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256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Waypoint Navigation - drawbacks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399806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GB" sz="2400" dirty="0"/>
              <a:t>Watch out for blind spots</a:t>
            </a:r>
          </a:p>
          <a:p>
            <a:endParaRPr lang="en-GB" sz="2400" dirty="0"/>
          </a:p>
          <a:p>
            <a:r>
              <a:rPr lang="en-GB" sz="2400" dirty="0"/>
              <a:t>Automated map generation can be problematic</a:t>
            </a:r>
          </a:p>
          <a:p>
            <a:pPr lvl="1"/>
            <a:r>
              <a:rPr lang="en-GB" sz="2000" dirty="0"/>
              <a:t>Could use expanded geometry</a:t>
            </a:r>
          </a:p>
          <a:p>
            <a:pPr lvl="2"/>
            <a:r>
              <a:rPr lang="en-GB" sz="1600" dirty="0"/>
              <a:t>Expand object dimensions</a:t>
            </a:r>
          </a:p>
          <a:p>
            <a:pPr lvl="2"/>
            <a:r>
              <a:rPr lang="en-GB" sz="1600" dirty="0"/>
              <a:t>Add vertices and edges</a:t>
            </a:r>
          </a:p>
          <a:p>
            <a:pPr lvl="2"/>
            <a:r>
              <a:rPr lang="en-GB" sz="1600" dirty="0"/>
              <a:t>Prune non LOS edges</a:t>
            </a:r>
          </a:p>
          <a:p>
            <a:pPr lvl="1"/>
            <a:r>
              <a:rPr lang="en-GB" sz="2000" dirty="0" err="1"/>
              <a:t>Navmeshes</a:t>
            </a:r>
            <a:r>
              <a:rPr lang="en-GB" sz="2000" dirty="0"/>
              <a:t> (convex polygons)	</a:t>
            </a:r>
            <a:r>
              <a:rPr lang="en-GB" sz="2000" dirty="0">
                <a:solidFill>
                  <a:srgbClr val="FF0000"/>
                </a:solidFill>
              </a:rPr>
              <a:t>(More on these later)</a:t>
            </a:r>
          </a:p>
          <a:p>
            <a:pPr lvl="2"/>
            <a:r>
              <a:rPr lang="en-GB" sz="1600" dirty="0"/>
              <a:t>Very popular</a:t>
            </a:r>
          </a:p>
          <a:p>
            <a:pPr lvl="2"/>
            <a:r>
              <a:rPr lang="en-GB" sz="1600" dirty="0"/>
              <a:t>Efficient to search</a:t>
            </a:r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65256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Waypoint Navigation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3998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/>
              <a:t>Finely grained graphs</a:t>
            </a:r>
          </a:p>
          <a:p>
            <a:r>
              <a:rPr lang="en-GB" sz="2400" dirty="0"/>
              <a:t>Improves blind spots and path smoothness</a:t>
            </a:r>
          </a:p>
          <a:p>
            <a:r>
              <a:rPr lang="en-GB" sz="2400" dirty="0"/>
              <a:t>Can be generated using “flood fill”</a:t>
            </a:r>
          </a:p>
          <a:p>
            <a:r>
              <a:rPr lang="en-GB" sz="2400" dirty="0"/>
              <a:t>Need to take NPC’s size into consideration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627" y="3229724"/>
            <a:ext cx="3000747" cy="2575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5256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Waypoint Navigation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5399806"/>
          </a:xfrm>
        </p:spPr>
        <p:txBody>
          <a:bodyPr>
            <a:normAutofit/>
          </a:bodyPr>
          <a:lstStyle/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dirty="0"/>
              <a:t>Paths as nodes or paths as edges</a:t>
            </a:r>
          </a:p>
          <a:p>
            <a:r>
              <a:rPr lang="en-GB" sz="2400" dirty="0"/>
              <a:t>How would you associate a type of behaviour/movement with a particular path segment?</a:t>
            </a:r>
          </a:p>
          <a:p>
            <a:r>
              <a:rPr lang="en-GB" sz="2400" dirty="0"/>
              <a:t>Could that </a:t>
            </a:r>
            <a:r>
              <a:rPr lang="en-GB" sz="2400"/>
              <a:t>behaviour requirement change</a:t>
            </a:r>
            <a:r>
              <a:rPr lang="en-GB" sz="2400" dirty="0"/>
              <a:t>?</a:t>
            </a:r>
          </a:p>
          <a:p>
            <a:pPr>
              <a:buNone/>
            </a:pPr>
            <a:r>
              <a:rPr lang="en-GB" sz="2400" dirty="0"/>
              <a:t> 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710945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5894</TotalTime>
  <Words>1023</Words>
  <Application>Microsoft Office PowerPoint</Application>
  <PresentationFormat>On-screen Show (4:3)</PresentationFormat>
  <Paragraphs>182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Wingdings</vt:lpstr>
      <vt:lpstr>Custom Design</vt:lpstr>
      <vt:lpstr>1_Custom Design</vt:lpstr>
      <vt:lpstr>Pathfinding</vt:lpstr>
      <vt:lpstr>Simple Pathfinding</vt:lpstr>
      <vt:lpstr>Smarter Pathfinding</vt:lpstr>
      <vt:lpstr>Breadcrumb Pathfinding</vt:lpstr>
      <vt:lpstr>Breadcrumb Algorithm</vt:lpstr>
      <vt:lpstr>Breadcrumb Algorithm</vt:lpstr>
      <vt:lpstr>Path Following</vt:lpstr>
      <vt:lpstr>Path Following - Algorithm</vt:lpstr>
      <vt:lpstr>Wall Tracing</vt:lpstr>
      <vt:lpstr>Algorithm</vt:lpstr>
      <vt:lpstr>Algorithm</vt:lpstr>
      <vt:lpstr>Waypoint Navigation</vt:lpstr>
      <vt:lpstr>Algorithm</vt:lpstr>
      <vt:lpstr>Waypoint Navigation</vt:lpstr>
      <vt:lpstr>Waypoint Navigation</vt:lpstr>
      <vt:lpstr>Waypoint Navigation - drawbacks</vt:lpstr>
      <vt:lpstr>Waypoint Navigation</vt:lpstr>
      <vt:lpstr>Waypoint Navigation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815</cp:revision>
  <dcterms:created xsi:type="dcterms:W3CDTF">2007-05-08T17:20:09Z</dcterms:created>
  <dcterms:modified xsi:type="dcterms:W3CDTF">2023-10-09T11:07:33Z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