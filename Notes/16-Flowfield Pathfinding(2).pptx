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  <p:sldMasterId id="2147483869" r:id="rId2"/>
  </p:sldMasterIdLst>
  <p:notesMasterIdLst>
    <p:notesMasterId r:id="rId8"/>
  </p:notesMasterIdLst>
  <p:sldIdLst>
    <p:sldId id="280" r:id="rId3"/>
    <p:sldId id="287" r:id="rId4"/>
    <p:sldId id="289" r:id="rId5"/>
    <p:sldId id="286" r:id="rId6"/>
    <p:sldId id="288" r:id="rId7"/>
  </p:sldIdLst>
  <p:sldSz cx="9144000" cy="6858000" type="screen4x3"/>
  <p:notesSz cx="6884988" cy="100885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EA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571" autoAdjust="0"/>
  </p:normalViewPr>
  <p:slideViewPr>
    <p:cSldViewPr>
      <p:cViewPr varScale="1">
        <p:scale>
          <a:sx n="88" d="100"/>
          <a:sy n="88" d="100"/>
        </p:scale>
        <p:origin x="2196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isin Cawley" userId="c7ebb277-34aa-421f-b739-032ced270c1a" providerId="ADAL" clId="{1918B131-20FD-4CB3-880C-0CDC7DFEA0EC}"/>
  </pc:docChgLst>
  <pc:docChgLst>
    <pc:chgData name="Oisin Cawley" userId="6b66d80f-e52a-4eb8-b588-9059f489afa4" providerId="ADAL" clId="{23F8DAE2-6B79-435D-9EF9-C498880AB9F5}"/>
  </pc:docChgLst>
  <pc:docChgLst>
    <pc:chgData name="Oisin Cawley" userId="6b66d80f-e52a-4eb8-b588-9059f489afa4" providerId="ADAL" clId="{9575E1A9-62A0-491D-805F-5A6FA030D9E4}"/>
    <pc:docChg chg="modSld">
      <pc:chgData name="Oisin Cawley" userId="6b66d80f-e52a-4eb8-b588-9059f489afa4" providerId="ADAL" clId="{9575E1A9-62A0-491D-805F-5A6FA030D9E4}" dt="2024-10-14T09:24:51.179" v="317" actId="20577"/>
      <pc:docMkLst>
        <pc:docMk/>
      </pc:docMkLst>
      <pc:sldChg chg="modSp modAnim">
        <pc:chgData name="Oisin Cawley" userId="6b66d80f-e52a-4eb8-b588-9059f489afa4" providerId="ADAL" clId="{9575E1A9-62A0-491D-805F-5A6FA030D9E4}" dt="2024-10-14T08:51:21.975" v="140" actId="6549"/>
        <pc:sldMkLst>
          <pc:docMk/>
          <pc:sldMk cId="0" sldId="280"/>
        </pc:sldMkLst>
        <pc:spChg chg="mod">
          <ac:chgData name="Oisin Cawley" userId="6b66d80f-e52a-4eb8-b588-9059f489afa4" providerId="ADAL" clId="{9575E1A9-62A0-491D-805F-5A6FA030D9E4}" dt="2024-10-14T08:51:13.669" v="136" actId="20577"/>
          <ac:spMkLst>
            <pc:docMk/>
            <pc:sldMk cId="0" sldId="280"/>
            <ac:spMk id="20483" creationId="{00000000-0000-0000-0000-000000000000}"/>
          </ac:spMkLst>
        </pc:spChg>
        <pc:picChg chg="mod">
          <ac:chgData name="Oisin Cawley" userId="6b66d80f-e52a-4eb8-b588-9059f489afa4" providerId="ADAL" clId="{9575E1A9-62A0-491D-805F-5A6FA030D9E4}" dt="2024-10-10T09:54:43.564" v="97" actId="1037"/>
          <ac:picMkLst>
            <pc:docMk/>
            <pc:sldMk cId="0" sldId="280"/>
            <ac:picMk id="1026" creationId="{00000000-0000-0000-0000-000000000000}"/>
          </ac:picMkLst>
        </pc:picChg>
      </pc:sldChg>
      <pc:sldChg chg="modSp">
        <pc:chgData name="Oisin Cawley" userId="6b66d80f-e52a-4eb8-b588-9059f489afa4" providerId="ADAL" clId="{9575E1A9-62A0-491D-805F-5A6FA030D9E4}" dt="2024-10-01T13:25:02.319" v="27" actId="6549"/>
        <pc:sldMkLst>
          <pc:docMk/>
          <pc:sldMk cId="872535343" sldId="286"/>
        </pc:sldMkLst>
        <pc:spChg chg="mod">
          <ac:chgData name="Oisin Cawley" userId="6b66d80f-e52a-4eb8-b588-9059f489afa4" providerId="ADAL" clId="{9575E1A9-62A0-491D-805F-5A6FA030D9E4}" dt="2024-10-01T13:25:02.319" v="27" actId="6549"/>
          <ac:spMkLst>
            <pc:docMk/>
            <pc:sldMk cId="872535343" sldId="286"/>
            <ac:spMk id="9" creationId="{00000000-0000-0000-0000-000000000000}"/>
          </ac:spMkLst>
        </pc:spChg>
      </pc:sldChg>
      <pc:sldChg chg="modSp modNotesTx">
        <pc:chgData name="Oisin Cawley" userId="6b66d80f-e52a-4eb8-b588-9059f489afa4" providerId="ADAL" clId="{9575E1A9-62A0-491D-805F-5A6FA030D9E4}" dt="2024-10-14T09:24:51.179" v="317" actId="20577"/>
        <pc:sldMkLst>
          <pc:docMk/>
          <pc:sldMk cId="3171574145" sldId="287"/>
        </pc:sldMkLst>
        <pc:spChg chg="mod">
          <ac:chgData name="Oisin Cawley" userId="6b66d80f-e52a-4eb8-b588-9059f489afa4" providerId="ADAL" clId="{9575E1A9-62A0-491D-805F-5A6FA030D9E4}" dt="2024-10-14T09:24:51.179" v="317" actId="20577"/>
          <ac:spMkLst>
            <pc:docMk/>
            <pc:sldMk cId="3171574145" sldId="287"/>
            <ac:spMk id="10" creationId="{00000000-0000-0000-0000-000000000000}"/>
          </ac:spMkLst>
        </pc:spChg>
      </pc:sldChg>
    </pc:docChg>
  </pc:docChgLst>
  <pc:docChgLst>
    <pc:chgData name="Oisin Cawley" userId="c7ebb277-34aa-421f-b739-032ced270c1a" providerId="ADAL" clId="{7E4C8C8F-6BEF-465B-A8DE-8BBE0B4E22D2}"/>
  </pc:docChgLst>
  <pc:docChgLst>
    <pc:chgData name="Oisin Cawley" userId="c7ebb277-34aa-421f-b739-032ced270c1a" providerId="ADAL" clId="{99A02D11-9BCC-40E8-82C5-27666B7F3E2B}"/>
  </pc:docChgLst>
  <pc:docChgLst>
    <pc:chgData name="Oisin Cawley" userId="6b66d80f-e52a-4eb8-b588-9059f489afa4" providerId="ADAL" clId="{F4EA88A6-D9CD-4F07-B6DE-C589C5C02F47}"/>
  </pc:docChgLst>
  <pc:docChgLst>
    <pc:chgData name="Oisin Cawley" userId="c7ebb277-34aa-421f-b739-032ced270c1a" providerId="ADAL" clId="{6FD43A75-FABD-4C99-8AB5-87CF119047C3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8900" y="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2338" y="757238"/>
            <a:ext cx="5041900" cy="37830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7388" y="4792663"/>
            <a:ext cx="5510212" cy="4538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8215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900" y="958215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05ACD5CE-1CB6-4E94-A92C-124437B24A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546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This is also know as a Brushfire algorithm or </a:t>
            </a:r>
            <a:r>
              <a:rPr lang="en-IE" dirty="0" err="1"/>
              <a:t>Wavefront</a:t>
            </a:r>
            <a:r>
              <a:rPr lang="en-IE" dirty="0"/>
              <a:t>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639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83FCE8-4119-48FF-966B-7E5136F9C4B7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75475" y="6453188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E978DDB-8E96-4DB2-8C14-28FF9F7399E6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37B5FB-2642-48F7-BDAC-64F1768F7B1F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81E1D-31C8-4BDE-8ED6-CD407A12904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3B10E-0F2D-456E-A6C5-ABEC760B5FEE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2B34AF-0A0C-4B06-AF07-DCF028B85987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CED97-0F19-4EA5-951E-9254A908A87C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1C59A-8D6D-445A-8651-08EDD062102A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1BCED-8D94-45EF-A610-3A53DC3D39DB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CC426-4027-45AA-AA9D-874E74495604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D66E8D-4372-4450-AF9F-1F3F69E871FC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F7FFA-D0E4-4688-B2F9-1175C1B7E3CC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75475" y="6453188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4C9582D-2E31-434C-A6C1-A926DBB0B909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3DDA3-2712-46ED-A771-5399145A3D01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2DE8F-7AAD-415A-8ED8-734D637B39D2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10BDE4-987C-4FBC-B9CB-4D6602561EC5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15138E-20E5-4AEE-9593-4CED1FF3B4A2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ED188-593D-4E5A-8309-224710DF2B50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25A37-78AD-4AC2-8CFD-83FEBCE05026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633C3-D837-4105-940D-252BA81F6873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A78F10-B8B1-474C-971B-7BA47E4F6CE2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A31C60-EE3E-42C6-80FB-27B190A0464E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0675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88" y="6519863"/>
            <a:ext cx="2133600" cy="338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2E1222C4-AD1C-443F-91C8-5935F67D99D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1484313"/>
            <a:ext cx="9144000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0" y="6519863"/>
            <a:ext cx="4211638" cy="338137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en-IE" sz="1200" dirty="0">
                <a:solidFill>
                  <a:schemeClr val="tx1">
                    <a:tint val="75000"/>
                  </a:schemeClr>
                </a:solidFill>
                <a:latin typeface="Arial" charset="0"/>
              </a:rPr>
              <a:t>AI for Games</a:t>
            </a:r>
          </a:p>
        </p:txBody>
      </p:sp>
      <p:pic>
        <p:nvPicPr>
          <p:cNvPr id="8" name="Picture 6" descr="SETU logo">
            <a:extLst>
              <a:ext uri="{FF2B5EF4-FFF2-40B4-BE49-F238E27FC236}">
                <a16:creationId xmlns:a16="http://schemas.microsoft.com/office/drawing/2014/main" id="{B99063D6-5FAC-426E-9909-3FAD73DABD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041" y="93003"/>
            <a:ext cx="1342293" cy="75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31" r:id="rId4"/>
    <p:sldLayoutId id="2147484132" r:id="rId5"/>
    <p:sldLayoutId id="2147484133" r:id="rId6"/>
    <p:sldLayoutId id="2147484134" r:id="rId7"/>
    <p:sldLayoutId id="2147484135" r:id="rId8"/>
    <p:sldLayoutId id="2147484144" r:id="rId9"/>
    <p:sldLayoutId id="2147484145" r:id="rId10"/>
    <p:sldLayoutId id="214748414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067550" cy="63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88" y="6519863"/>
            <a:ext cx="2133600" cy="338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798A2B5B-F3F1-46D4-B91B-268967D35FC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981075"/>
            <a:ext cx="9144000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0" y="6519863"/>
            <a:ext cx="4211638" cy="338137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en-IE" sz="1200" dirty="0">
                <a:solidFill>
                  <a:schemeClr val="tx1">
                    <a:tint val="75000"/>
                  </a:schemeClr>
                </a:solidFill>
                <a:latin typeface="Arial" charset="0"/>
              </a:rPr>
              <a:t>AI for Games</a:t>
            </a:r>
          </a:p>
        </p:txBody>
      </p:sp>
      <p:pic>
        <p:nvPicPr>
          <p:cNvPr id="9" name="Picture 6" descr="SETU logo">
            <a:extLst>
              <a:ext uri="{FF2B5EF4-FFF2-40B4-BE49-F238E27FC236}">
                <a16:creationId xmlns:a16="http://schemas.microsoft.com/office/drawing/2014/main" id="{F6739ADE-99B3-4C1C-BE30-27D5ADFDA7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041" y="93003"/>
            <a:ext cx="1342293" cy="75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48" r:id="rId2"/>
    <p:sldLayoutId id="2147484149" r:id="rId3"/>
    <p:sldLayoutId id="2147484136" r:id="rId4"/>
    <p:sldLayoutId id="2147484137" r:id="rId5"/>
    <p:sldLayoutId id="2147484138" r:id="rId6"/>
    <p:sldLayoutId id="2147484139" r:id="rId7"/>
    <p:sldLayoutId id="2147484140" r:id="rId8"/>
    <p:sldLayoutId id="2147484150" r:id="rId9"/>
    <p:sldLayoutId id="2147484151" r:id="rId10"/>
    <p:sldLayoutId id="214748415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spb9g9nTto" TargetMode="External"/><Relationship Id="rId2" Type="http://schemas.openxmlformats.org/officeDocument/2006/relationships/hyperlink" Target="https://howtorts.github.io/examples/4-basic-flow-fields/index.html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GB" sz="32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Goal-Based Vector Field Pathfinding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6275040" cy="5000625"/>
          </a:xfrm>
        </p:spPr>
        <p:txBody>
          <a:bodyPr/>
          <a:lstStyle/>
          <a:p>
            <a:pPr>
              <a:buNone/>
            </a:pPr>
            <a:r>
              <a:rPr lang="en-IE" sz="2000" dirty="0"/>
              <a:t>Also known as Flow Field Pathfinding</a:t>
            </a:r>
          </a:p>
          <a:p>
            <a:pPr>
              <a:buFontTx/>
              <a:buChar char="-"/>
            </a:pPr>
            <a:r>
              <a:rPr lang="en-IE" sz="2000" dirty="0"/>
              <a:t>Originated in fluid dynamics simulations</a:t>
            </a:r>
          </a:p>
          <a:p>
            <a:pPr>
              <a:buFontTx/>
              <a:buChar char="-"/>
            </a:pPr>
            <a:r>
              <a:rPr lang="en-US" sz="2000" dirty="0"/>
              <a:t>A collection of arrows with a given magnitude and direction, each attached to a point in the plane</a:t>
            </a:r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We can make use of this within a tile based Game environment.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Three steps in creating a flow field pathfinder</a:t>
            </a:r>
          </a:p>
          <a:p>
            <a:pPr marL="457200" indent="-457200">
              <a:buAutoNum type="arabicPeriod"/>
            </a:pPr>
            <a:r>
              <a:rPr lang="en-US" sz="2000" dirty="0"/>
              <a:t>Create a cost field</a:t>
            </a:r>
          </a:p>
          <a:p>
            <a:pPr marL="457200" indent="-457200">
              <a:buAutoNum type="arabicPeriod"/>
            </a:pPr>
            <a:r>
              <a:rPr lang="en-US" sz="2000" dirty="0"/>
              <a:t>Generate the integration field</a:t>
            </a:r>
          </a:p>
          <a:p>
            <a:pPr marL="457200" indent="-457200">
              <a:buAutoNum type="arabicPeriod"/>
            </a:pPr>
            <a:r>
              <a:rPr lang="en-US" sz="2000" dirty="0"/>
              <a:t>Generate a flow field</a:t>
            </a:r>
          </a:p>
          <a:p>
            <a:pPr marL="0" indent="0">
              <a:buNone/>
            </a:pPr>
            <a:endParaRPr lang="en-IE" sz="2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</a:t>
            </a:fld>
            <a:endParaRPr lang="en-IE" dirty="0"/>
          </a:p>
        </p:txBody>
      </p:sp>
      <p:pic>
        <p:nvPicPr>
          <p:cNvPr id="1026" name="Picture 2" descr="Image result for a vector fie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1202916"/>
            <a:ext cx="2443294" cy="2422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GB" sz="32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Goal-Based Vector Field Pathfinding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457199" y="1125539"/>
            <a:ext cx="7427169" cy="503262"/>
          </a:xfrm>
        </p:spPr>
        <p:txBody>
          <a:bodyPr/>
          <a:lstStyle/>
          <a:p>
            <a:pPr marL="0" indent="0">
              <a:buNone/>
            </a:pPr>
            <a:r>
              <a:rPr lang="en-IE" sz="2000" b="1" dirty="0"/>
              <a:t>1. Create a cost field (sometimes called a </a:t>
            </a:r>
            <a:r>
              <a:rPr lang="en-IE" sz="2000" b="1" dirty="0" err="1"/>
              <a:t>heatmap</a:t>
            </a:r>
            <a:r>
              <a:rPr lang="en-IE" sz="2000" b="1" dirty="0"/>
              <a:t>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</a:t>
            </a:fld>
            <a:endParaRPr lang="en-IE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57199" y="1635125"/>
            <a:ext cx="4258817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IE" sz="2000" dirty="0"/>
              <a:t>Store the path distance (not Euclidian) from the goal to every tile on the map</a:t>
            </a:r>
          </a:p>
          <a:p>
            <a:pPr>
              <a:buFontTx/>
              <a:buChar char="-"/>
            </a:pPr>
            <a:r>
              <a:rPr lang="en-IE" sz="2000" dirty="0"/>
              <a:t>First, the algorithm begins at the goal, and marks it with a path distance of 0.</a:t>
            </a:r>
          </a:p>
          <a:p>
            <a:pPr>
              <a:buFontTx/>
              <a:buChar char="-"/>
            </a:pPr>
            <a:r>
              <a:rPr lang="en-IE" sz="2000" dirty="0"/>
              <a:t>Then, it gets each tile's unmarked neighbours, and marks them with the previous tile's path distance + 1.</a:t>
            </a:r>
          </a:p>
          <a:p>
            <a:pPr>
              <a:buFontTx/>
              <a:buChar char="-"/>
            </a:pPr>
            <a:r>
              <a:rPr lang="en-IE" sz="2000" dirty="0"/>
              <a:t>This continues until the entire reachable map has been marked.</a:t>
            </a:r>
          </a:p>
          <a:p>
            <a:pPr>
              <a:buFontTx/>
              <a:buChar char="-"/>
            </a:pPr>
            <a:endParaRPr lang="en-IE" sz="2000"/>
          </a:p>
          <a:p>
            <a:pPr>
              <a:buFontTx/>
              <a:buChar char="-"/>
            </a:pPr>
            <a:r>
              <a:rPr lang="en-IE" sz="2000"/>
              <a:t>It is useful </a:t>
            </a:r>
            <a:r>
              <a:rPr lang="en-IE" sz="2000" dirty="0"/>
              <a:t>to have some way to identify obstacles in the game.</a:t>
            </a:r>
          </a:p>
          <a:p>
            <a:pPr>
              <a:buFontTx/>
              <a:buChar char="-"/>
            </a:pPr>
            <a:endParaRPr lang="en-IE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1753293"/>
            <a:ext cx="4393059" cy="471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574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GB" sz="32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Goal-Based Vector Field Pathfinding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457199" y="1125538"/>
            <a:ext cx="8507289" cy="5000625"/>
          </a:xfrm>
        </p:spPr>
        <p:txBody>
          <a:bodyPr/>
          <a:lstStyle/>
          <a:p>
            <a:pPr marL="0" indent="0">
              <a:buNone/>
            </a:pPr>
            <a:r>
              <a:rPr lang="en-IE" sz="2000" b="1" dirty="0"/>
              <a:t>2. Generate the integration field</a:t>
            </a:r>
          </a:p>
          <a:p>
            <a:pPr>
              <a:buFontTx/>
              <a:buChar char="-"/>
            </a:pPr>
            <a:r>
              <a:rPr lang="en-IE" sz="2000" dirty="0"/>
              <a:t>First, begin at the goal, and set it’s integration field to 0.</a:t>
            </a:r>
          </a:p>
          <a:p>
            <a:pPr>
              <a:buFontTx/>
              <a:buChar char="-"/>
            </a:pPr>
            <a:r>
              <a:rPr lang="en-IE" sz="2000" dirty="0"/>
              <a:t>Then, for each tile's unprocessed neighbours, t</a:t>
            </a:r>
            <a:r>
              <a:rPr lang="en-US" sz="2000" dirty="0"/>
              <a:t>heir integration field is calculated by adding the direct distance to the goal tile to it’s cost field.</a:t>
            </a:r>
          </a:p>
          <a:p>
            <a:pPr>
              <a:buFontTx/>
              <a:buChar char="-"/>
            </a:pPr>
            <a:r>
              <a:rPr lang="en-IE" sz="2000" dirty="0"/>
              <a:t>This continues until the entire reachable map has been marked.</a:t>
            </a:r>
          </a:p>
          <a:p>
            <a:pPr>
              <a:buFontTx/>
              <a:buChar char="-"/>
            </a:pPr>
            <a:endParaRPr lang="en-IE" sz="2000" dirty="0"/>
          </a:p>
          <a:p>
            <a:pPr>
              <a:buFontTx/>
              <a:buChar char="-"/>
            </a:pPr>
            <a:r>
              <a:rPr lang="en-IE" sz="2000" dirty="0"/>
              <a:t>Caveat:</a:t>
            </a:r>
          </a:p>
          <a:p>
            <a:pPr lvl="1">
              <a:buFontTx/>
              <a:buChar char="-"/>
            </a:pPr>
            <a:r>
              <a:rPr lang="en-IE" sz="1800" dirty="0"/>
              <a:t>In theory the neighbour tile with the lowest integration field is the one we would  follow on a path to the goal.</a:t>
            </a:r>
          </a:p>
          <a:p>
            <a:pPr lvl="1">
              <a:buFontTx/>
              <a:buChar char="-"/>
            </a:pPr>
            <a:r>
              <a:rPr lang="en-IE" sz="1800" dirty="0"/>
              <a:t>Is this always the case?</a:t>
            </a:r>
          </a:p>
          <a:p>
            <a:pPr>
              <a:buFontTx/>
              <a:buChar char="-"/>
            </a:pPr>
            <a:endParaRPr lang="en-IE" sz="2000" dirty="0"/>
          </a:p>
          <a:p>
            <a:pPr>
              <a:buFontTx/>
              <a:buChar char="-"/>
            </a:pPr>
            <a:endParaRPr lang="en-IE" sz="2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3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943494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GB" sz="32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Goal-Based Vector Field Pathfinding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457199" y="1125539"/>
            <a:ext cx="8507289" cy="505854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3. Create the flow field (sometimes called a vector field)</a:t>
            </a:r>
            <a:endParaRPr lang="en-US" sz="2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4</a:t>
            </a:fld>
            <a:endParaRPr lang="en-IE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436084" y="1524719"/>
            <a:ext cx="3449788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sz="2000" dirty="0"/>
              <a:t>The vector field simply stores a vector that points down the gradient of the distance function (towards the goal) at every tile</a:t>
            </a:r>
          </a:p>
          <a:p>
            <a:pPr>
              <a:buFontTx/>
              <a:buChar char="-"/>
            </a:pPr>
            <a:r>
              <a:rPr lang="en-US" sz="2000" dirty="0"/>
              <a:t>Vectors point along the shortest path to the goal (in red)</a:t>
            </a:r>
          </a:p>
          <a:p>
            <a:pPr>
              <a:buFontTx/>
              <a:buChar char="-"/>
            </a:pPr>
            <a:r>
              <a:rPr lang="en-US" sz="2000" dirty="0"/>
              <a:t>This vector field is generated one tile at a time by looking at the integration fields of its </a:t>
            </a:r>
            <a:r>
              <a:rPr lang="en-IE" sz="2000" dirty="0"/>
              <a:t>neighbouring</a:t>
            </a:r>
            <a:r>
              <a:rPr lang="en-US" sz="2000" dirty="0"/>
              <a:t> cells and identifying the lowest value.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952" y="1631393"/>
            <a:ext cx="4590409" cy="493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535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/>
          <a:lstStyle/>
          <a:p>
            <a:r>
              <a:rPr lang="en-GB" sz="32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Goal-Based Vector Field Pathfinding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457199" y="1125538"/>
            <a:ext cx="3428885" cy="5000625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Pathfinder Movement</a:t>
            </a:r>
          </a:p>
          <a:p>
            <a:pPr>
              <a:buFontTx/>
              <a:buChar char="-"/>
            </a:pPr>
            <a:r>
              <a:rPr lang="en-US" sz="2000" dirty="0"/>
              <a:t>The NPC simply needs to start moving in the direction indicated by the vector calculated above.</a:t>
            </a:r>
          </a:p>
          <a:p>
            <a:pPr>
              <a:buFontTx/>
              <a:buChar char="-"/>
            </a:pPr>
            <a:r>
              <a:rPr lang="en-US" sz="2000" dirty="0"/>
              <a:t>Watch out for local optima</a:t>
            </a:r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r>
              <a:rPr lang="en-US" sz="2000" dirty="0">
                <a:hlinkClick r:id="rId2"/>
              </a:rPr>
              <a:t>Example</a:t>
            </a:r>
            <a:r>
              <a:rPr lang="en-US" sz="2000" dirty="0"/>
              <a:t>1</a:t>
            </a:r>
          </a:p>
          <a:p>
            <a:pPr>
              <a:buFontTx/>
              <a:buChar char="-"/>
            </a:pPr>
            <a:r>
              <a:rPr lang="en-US" sz="2000">
                <a:hlinkClick r:id="rId3"/>
              </a:rPr>
              <a:t>Example</a:t>
            </a:r>
            <a:r>
              <a:rPr lang="en-US" sz="2000"/>
              <a:t>2</a:t>
            </a:r>
            <a:endParaRPr lang="en-US" sz="2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5</a:t>
            </a:fld>
            <a:endParaRPr lang="en-IE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084" y="1412776"/>
            <a:ext cx="4790372" cy="520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2017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Stack of books design template</Template>
  <TotalTime>6998</TotalTime>
  <Words>387</Words>
  <Application>Microsoft Office PowerPoint</Application>
  <PresentationFormat>On-screen Show (4:3)</PresentationFormat>
  <Paragraphs>53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Custom Design</vt:lpstr>
      <vt:lpstr>1_Custom Design</vt:lpstr>
      <vt:lpstr>Goal-Based Vector Field Pathfinding</vt:lpstr>
      <vt:lpstr>Goal-Based Vector Field Pathfinding</vt:lpstr>
      <vt:lpstr>Goal-Based Vector Field Pathfinding</vt:lpstr>
      <vt:lpstr>Goal-Based Vector Field Pathfinding</vt:lpstr>
      <vt:lpstr>Goal-Based Vector Field Pathfinding</vt:lpstr>
    </vt:vector>
  </TitlesOfParts>
  <Company>ModusLink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8086 chip set architecture course.</dc:title>
  <dc:creator>oisin_cawley</dc:creator>
  <cp:lastModifiedBy>Oisin Cawley</cp:lastModifiedBy>
  <cp:revision>917</cp:revision>
  <dcterms:created xsi:type="dcterms:W3CDTF">2007-05-08T17:20:09Z</dcterms:created>
  <dcterms:modified xsi:type="dcterms:W3CDTF">2024-10-14T09:24:52Z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TC011594401033</vt:lpwstr>
  </property>
</Properties>
</file>